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3888F-26DA-47C9-8E16-41A931AB500F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4EF8-FEF1-4271-98BF-DB31B25AE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9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3888F-26DA-47C9-8E16-41A931AB500F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4EF8-FEF1-4271-98BF-DB31B25AE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79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3888F-26DA-47C9-8E16-41A931AB500F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4EF8-FEF1-4271-98BF-DB31B25AE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4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3888F-26DA-47C9-8E16-41A931AB500F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4EF8-FEF1-4271-98BF-DB31B25AE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94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3888F-26DA-47C9-8E16-41A931AB500F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4EF8-FEF1-4271-98BF-DB31B25AE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06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3888F-26DA-47C9-8E16-41A931AB500F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4EF8-FEF1-4271-98BF-DB31B25AE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383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3888F-26DA-47C9-8E16-41A931AB500F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4EF8-FEF1-4271-98BF-DB31B25AE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6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3888F-26DA-47C9-8E16-41A931AB500F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4EF8-FEF1-4271-98BF-DB31B25AE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28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3888F-26DA-47C9-8E16-41A931AB500F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4EF8-FEF1-4271-98BF-DB31B25AE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905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3888F-26DA-47C9-8E16-41A931AB500F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4EF8-FEF1-4271-98BF-DB31B25AE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85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3888F-26DA-47C9-8E16-41A931AB500F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4EF8-FEF1-4271-98BF-DB31B25AE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00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3888F-26DA-47C9-8E16-41A931AB500F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B4EF8-FEF1-4271-98BF-DB31B25AE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47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Insertion Sort Analysis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Analysis </a:t>
            </a:r>
            <a:r>
              <a:rPr lang="en-US"/>
              <a:t>of Algorithms</a:t>
            </a:r>
            <a:endParaRPr lang="en-US" dirty="0"/>
          </a:p>
          <a:p>
            <a:r>
              <a:rPr lang="en-US" dirty="0" err="1"/>
              <a:t>Mariha</a:t>
            </a:r>
            <a:r>
              <a:rPr lang="en-US" dirty="0"/>
              <a:t> </a:t>
            </a:r>
            <a:r>
              <a:rPr lang="en-US" dirty="0" err="1"/>
              <a:t>Asad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32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Insertion Sort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for(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=1; </a:t>
            </a:r>
            <a:r>
              <a:rPr lang="en-US" b="1" dirty="0" err="1"/>
              <a:t>i</a:t>
            </a:r>
            <a:r>
              <a:rPr lang="en-US" b="1" dirty="0"/>
              <a:t>&lt;=n-1 ; </a:t>
            </a:r>
            <a:r>
              <a:rPr lang="en-US" b="1" dirty="0" err="1"/>
              <a:t>i</a:t>
            </a:r>
            <a:r>
              <a:rPr lang="en-US" b="1" dirty="0"/>
              <a:t>++)</a:t>
            </a:r>
          </a:p>
          <a:p>
            <a:pPr marL="0" indent="0">
              <a:buNone/>
            </a:pPr>
            <a:r>
              <a:rPr lang="en-US" b="1" dirty="0"/>
              <a:t>{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err="1"/>
              <a:t>int</a:t>
            </a:r>
            <a:r>
              <a:rPr lang="en-US" b="1" dirty="0"/>
              <a:t> temp = a[</a:t>
            </a:r>
            <a:r>
              <a:rPr lang="en-US" b="1" dirty="0" err="1"/>
              <a:t>i</a:t>
            </a:r>
            <a:r>
              <a:rPr lang="en-US" b="1" dirty="0"/>
              <a:t>];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err="1"/>
              <a:t>int</a:t>
            </a:r>
            <a:r>
              <a:rPr lang="en-US" b="1" dirty="0"/>
              <a:t> j = i-1;</a:t>
            </a:r>
          </a:p>
          <a:p>
            <a:pPr marL="0" indent="0">
              <a:buNone/>
            </a:pPr>
            <a:r>
              <a:rPr lang="en-US" b="1" dirty="0"/>
              <a:t>	while(j&gt;=0 &amp;&amp; temp &lt; a[j])</a:t>
            </a:r>
          </a:p>
          <a:p>
            <a:pPr marL="0" indent="0">
              <a:buNone/>
            </a:pPr>
            <a:r>
              <a:rPr lang="en-US" b="1" dirty="0"/>
              <a:t>	{</a:t>
            </a:r>
          </a:p>
          <a:p>
            <a:pPr marL="0" indent="0">
              <a:buNone/>
            </a:pPr>
            <a:r>
              <a:rPr lang="en-US" b="1" dirty="0"/>
              <a:t>		a[j+1] = a[j];</a:t>
            </a:r>
          </a:p>
          <a:p>
            <a:pPr marL="0" indent="0">
              <a:buNone/>
            </a:pPr>
            <a:r>
              <a:rPr lang="en-US" b="1" dirty="0"/>
              <a:t>		j--;</a:t>
            </a:r>
          </a:p>
          <a:p>
            <a:pPr marL="0" indent="0">
              <a:buNone/>
            </a:pPr>
            <a:r>
              <a:rPr lang="en-US" b="1" dirty="0"/>
              <a:t>	}</a:t>
            </a:r>
          </a:p>
          <a:p>
            <a:pPr marL="0" indent="0">
              <a:buNone/>
            </a:pPr>
            <a:r>
              <a:rPr lang="en-US" b="1" dirty="0"/>
              <a:t>	a[j+1] = temp;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6191794" y="2508069"/>
            <a:ext cx="4898572" cy="28346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Array is virtually </a:t>
            </a:r>
            <a:r>
              <a:rPr lang="en-US" dirty="0" err="1"/>
              <a:t>splited</a:t>
            </a:r>
            <a:r>
              <a:rPr lang="en-US" dirty="0"/>
              <a:t> into </a:t>
            </a:r>
            <a:r>
              <a:rPr lang="en-US" dirty="0" err="1"/>
              <a:t>orted</a:t>
            </a:r>
            <a:r>
              <a:rPr lang="en-US" dirty="0"/>
              <a:t> or </a:t>
            </a:r>
            <a:r>
              <a:rPr lang="en-US" dirty="0" err="1"/>
              <a:t>iunsorted</a:t>
            </a:r>
            <a:r>
              <a:rPr lang="en-US" dirty="0"/>
              <a:t> part.</a:t>
            </a:r>
          </a:p>
          <a:p>
            <a:pPr algn="ctr"/>
            <a:r>
              <a:rPr lang="en-US" dirty="0"/>
              <a:t>Values from unsorted part are picked and place at correct position in sorted part.</a:t>
            </a:r>
          </a:p>
        </p:txBody>
      </p:sp>
    </p:spTree>
    <p:extLst>
      <p:ext uri="{BB962C8B-B14F-4D97-AF65-F5344CB8AC3E}">
        <p14:creationId xmlns:p14="http://schemas.microsoft.com/office/powerpoint/2010/main" val="3350787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Insertion Sort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3508495"/>
              </p:ext>
            </p:extLst>
          </p:nvPr>
        </p:nvGraphicFramePr>
        <p:xfrm>
          <a:off x="838200" y="1690688"/>
          <a:ext cx="5500255" cy="24554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0051">
                  <a:extLst>
                    <a:ext uri="{9D8B030D-6E8A-4147-A177-3AD203B41FA5}">
                      <a16:colId xmlns:a16="http://schemas.microsoft.com/office/drawing/2014/main" val="608289390"/>
                    </a:ext>
                  </a:extLst>
                </a:gridCol>
                <a:gridCol w="1100051">
                  <a:extLst>
                    <a:ext uri="{9D8B030D-6E8A-4147-A177-3AD203B41FA5}">
                      <a16:colId xmlns:a16="http://schemas.microsoft.com/office/drawing/2014/main" val="3037466841"/>
                    </a:ext>
                  </a:extLst>
                </a:gridCol>
                <a:gridCol w="1100051">
                  <a:extLst>
                    <a:ext uri="{9D8B030D-6E8A-4147-A177-3AD203B41FA5}">
                      <a16:colId xmlns:a16="http://schemas.microsoft.com/office/drawing/2014/main" val="818198251"/>
                    </a:ext>
                  </a:extLst>
                </a:gridCol>
                <a:gridCol w="1100051">
                  <a:extLst>
                    <a:ext uri="{9D8B030D-6E8A-4147-A177-3AD203B41FA5}">
                      <a16:colId xmlns:a16="http://schemas.microsoft.com/office/drawing/2014/main" val="2814082407"/>
                    </a:ext>
                  </a:extLst>
                </a:gridCol>
                <a:gridCol w="1100051">
                  <a:extLst>
                    <a:ext uri="{9D8B030D-6E8A-4147-A177-3AD203B41FA5}">
                      <a16:colId xmlns:a16="http://schemas.microsoft.com/office/drawing/2014/main" val="42067126"/>
                    </a:ext>
                  </a:extLst>
                </a:gridCol>
              </a:tblGrid>
              <a:tr h="4910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345293"/>
                  </a:ext>
                </a:extLst>
              </a:tr>
              <a:tr h="49108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765303"/>
                  </a:ext>
                </a:extLst>
              </a:tr>
              <a:tr h="49108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916236"/>
                  </a:ext>
                </a:extLst>
              </a:tr>
              <a:tr h="4910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53593"/>
                  </a:ext>
                </a:extLst>
              </a:tr>
              <a:tr h="49108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47852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8094517" y="334746"/>
            <a:ext cx="3844637" cy="65232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Outer loop</a:t>
            </a:r>
          </a:p>
          <a:p>
            <a:pPr algn="ctr"/>
            <a:r>
              <a:rPr lang="en-US" b="1" dirty="0" err="1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FF0000"/>
                </a:solidFill>
              </a:rPr>
              <a:t>=1</a:t>
            </a:r>
          </a:p>
          <a:p>
            <a:pPr algn="ctr"/>
            <a:r>
              <a:rPr lang="en-US" dirty="0"/>
              <a:t>Temp = 18</a:t>
            </a:r>
          </a:p>
          <a:p>
            <a:pPr algn="ctr"/>
            <a:r>
              <a:rPr lang="en-US" dirty="0"/>
              <a:t>j= 0</a:t>
            </a:r>
          </a:p>
          <a:p>
            <a:pPr algn="ctr"/>
            <a:r>
              <a:rPr lang="en-US" dirty="0"/>
              <a:t>A[j] = 35 (18&lt;35)</a:t>
            </a:r>
          </a:p>
          <a:p>
            <a:pPr algn="ctr"/>
            <a:r>
              <a:rPr lang="en-US" b="1" dirty="0" err="1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FF0000"/>
                </a:solidFill>
              </a:rPr>
              <a:t>=2</a:t>
            </a:r>
          </a:p>
          <a:p>
            <a:pPr algn="ctr"/>
            <a:r>
              <a:rPr lang="en-US" dirty="0"/>
              <a:t>Temp = 73</a:t>
            </a:r>
          </a:p>
          <a:p>
            <a:pPr algn="ctr"/>
            <a:r>
              <a:rPr lang="en-US" dirty="0"/>
              <a:t>j=1</a:t>
            </a:r>
          </a:p>
          <a:p>
            <a:pPr algn="ctr"/>
            <a:r>
              <a:rPr lang="en-US" dirty="0"/>
              <a:t>A[j] = 35 (73 &lt; 35) false</a:t>
            </a:r>
          </a:p>
          <a:p>
            <a:pPr algn="ctr"/>
            <a:r>
              <a:rPr lang="en-US" b="1" dirty="0" err="1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FF0000"/>
                </a:solidFill>
              </a:rPr>
              <a:t>=3</a:t>
            </a:r>
          </a:p>
          <a:p>
            <a:pPr algn="ctr"/>
            <a:r>
              <a:rPr lang="en-US" dirty="0"/>
              <a:t>Temp = 40</a:t>
            </a:r>
          </a:p>
          <a:p>
            <a:pPr algn="ctr"/>
            <a:r>
              <a:rPr lang="en-US" dirty="0"/>
              <a:t>j=2</a:t>
            </a:r>
          </a:p>
          <a:p>
            <a:pPr algn="ctr"/>
            <a:r>
              <a:rPr lang="en-US" dirty="0"/>
              <a:t>A[j] = 73 (40&lt; 73) true</a:t>
            </a:r>
          </a:p>
          <a:p>
            <a:pPr algn="ctr"/>
            <a:r>
              <a:rPr lang="en-US" dirty="0"/>
              <a:t>j= 1</a:t>
            </a:r>
          </a:p>
          <a:p>
            <a:pPr algn="ctr"/>
            <a:r>
              <a:rPr lang="en-US" dirty="0"/>
              <a:t>A[j] = 35 (40&lt; 35) false</a:t>
            </a:r>
          </a:p>
          <a:p>
            <a:pPr algn="ctr"/>
            <a:r>
              <a:rPr lang="en-US" b="1" dirty="0" err="1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FF0000"/>
                </a:solidFill>
              </a:rPr>
              <a:t>=4</a:t>
            </a:r>
          </a:p>
          <a:p>
            <a:pPr algn="ctr"/>
            <a:r>
              <a:rPr lang="en-US" dirty="0"/>
              <a:t>Temp  = 20</a:t>
            </a:r>
          </a:p>
          <a:p>
            <a:pPr algn="ctr"/>
            <a:r>
              <a:rPr lang="en-US" dirty="0"/>
              <a:t>j=3</a:t>
            </a:r>
          </a:p>
          <a:p>
            <a:pPr algn="ctr"/>
            <a:r>
              <a:rPr lang="en-US" dirty="0"/>
              <a:t>A[j] = 73 (20&lt; 73) true</a:t>
            </a:r>
          </a:p>
          <a:p>
            <a:pPr algn="ctr"/>
            <a:r>
              <a:rPr lang="en-US" dirty="0"/>
              <a:t>J=2</a:t>
            </a:r>
          </a:p>
          <a:p>
            <a:pPr algn="ctr"/>
            <a:r>
              <a:rPr lang="en-US" dirty="0"/>
              <a:t>A[j] = 40 (20&lt; 40) true</a:t>
            </a:r>
          </a:p>
          <a:p>
            <a:pPr algn="ctr"/>
            <a:r>
              <a:rPr lang="en-US" dirty="0"/>
              <a:t>J=1</a:t>
            </a:r>
          </a:p>
          <a:p>
            <a:pPr algn="ctr"/>
            <a:r>
              <a:rPr lang="en-US" dirty="0"/>
              <a:t>A[j] = 35 (20&lt; 35) true</a:t>
            </a:r>
          </a:p>
          <a:p>
            <a:pPr algn="ctr"/>
            <a:r>
              <a:rPr lang="en-US" dirty="0"/>
              <a:t>J=0</a:t>
            </a:r>
          </a:p>
          <a:p>
            <a:pPr algn="ctr"/>
            <a:r>
              <a:rPr lang="en-US" dirty="0"/>
              <a:t>A[j] = 18 (20&lt; 18) false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941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Insertion Sort Analysis for Worst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for(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=1; </a:t>
            </a:r>
            <a:r>
              <a:rPr lang="en-US" b="1" dirty="0" err="1"/>
              <a:t>i</a:t>
            </a:r>
            <a:r>
              <a:rPr lang="en-US" b="1" dirty="0"/>
              <a:t>&lt;=n-1 ; </a:t>
            </a:r>
            <a:r>
              <a:rPr lang="en-US" b="1" dirty="0" err="1"/>
              <a:t>i</a:t>
            </a:r>
            <a:r>
              <a:rPr lang="en-US" b="1" dirty="0"/>
              <a:t>++)		n</a:t>
            </a:r>
          </a:p>
          <a:p>
            <a:pPr marL="0" indent="0">
              <a:buNone/>
            </a:pPr>
            <a:r>
              <a:rPr lang="en-US" b="1" dirty="0"/>
              <a:t>{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err="1"/>
              <a:t>int</a:t>
            </a:r>
            <a:r>
              <a:rPr lang="en-US" b="1" dirty="0"/>
              <a:t> temp = a[</a:t>
            </a:r>
            <a:r>
              <a:rPr lang="en-US" b="1" dirty="0" err="1"/>
              <a:t>i</a:t>
            </a:r>
            <a:r>
              <a:rPr lang="en-US" b="1" dirty="0"/>
              <a:t>];		n-1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err="1"/>
              <a:t>int</a:t>
            </a:r>
            <a:r>
              <a:rPr lang="en-US" b="1" dirty="0"/>
              <a:t> j = i-1;			 n-1</a:t>
            </a:r>
          </a:p>
          <a:p>
            <a:pPr marL="0" indent="0">
              <a:buNone/>
            </a:pPr>
            <a:r>
              <a:rPr lang="en-US" b="1" dirty="0"/>
              <a:t>	while(j&gt;=0 &amp;&amp; temp &lt; a[j])		   (n(n+1)/2) -1</a:t>
            </a:r>
          </a:p>
          <a:p>
            <a:pPr marL="0" indent="0">
              <a:buNone/>
            </a:pPr>
            <a:r>
              <a:rPr lang="en-US" b="1" dirty="0"/>
              <a:t>	{</a:t>
            </a:r>
          </a:p>
          <a:p>
            <a:pPr marL="0" indent="0">
              <a:buNone/>
            </a:pPr>
            <a:r>
              <a:rPr lang="en-US" b="1" dirty="0"/>
              <a:t>		a[j+1] = a[j];			n(n-1)/2</a:t>
            </a:r>
          </a:p>
          <a:p>
            <a:pPr marL="0" indent="0">
              <a:buNone/>
            </a:pPr>
            <a:r>
              <a:rPr lang="en-US" b="1" dirty="0"/>
              <a:t>		j--;				n(n-1)/2</a:t>
            </a:r>
          </a:p>
          <a:p>
            <a:pPr marL="0" indent="0">
              <a:buNone/>
            </a:pPr>
            <a:r>
              <a:rPr lang="en-US" b="1" dirty="0"/>
              <a:t>	}</a:t>
            </a:r>
          </a:p>
          <a:p>
            <a:pPr marL="0" indent="0">
              <a:buNone/>
            </a:pPr>
            <a:r>
              <a:rPr lang="en-US" b="1" dirty="0"/>
              <a:t>	a[j+1] = temp;			 n-1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934691" y="1967345"/>
            <a:ext cx="13854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281055" y="4281054"/>
            <a:ext cx="13854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726873" y="4765963"/>
            <a:ext cx="13854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726873" y="5472545"/>
            <a:ext cx="13854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948546" y="2757054"/>
            <a:ext cx="13854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588328" y="3117272"/>
            <a:ext cx="13854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209309" y="3519055"/>
            <a:ext cx="13854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001000" y="4010890"/>
            <a:ext cx="3338946" cy="15101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f(n) = n+ n-1 + n-1 + (n(n+1)/2) -1 +</a:t>
            </a:r>
            <a:r>
              <a:rPr lang="en-US" dirty="0"/>
              <a:t> </a:t>
            </a:r>
            <a:r>
              <a:rPr lang="en-US" b="1" dirty="0"/>
              <a:t>n(n-1)/2 + n(n-1)/2 + n-1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244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Helping Slide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2455125"/>
              </p:ext>
            </p:extLst>
          </p:nvPr>
        </p:nvGraphicFramePr>
        <p:xfrm>
          <a:off x="461817" y="1690688"/>
          <a:ext cx="5964382" cy="3383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82191">
                  <a:extLst>
                    <a:ext uri="{9D8B030D-6E8A-4147-A177-3AD203B41FA5}">
                      <a16:colId xmlns:a16="http://schemas.microsoft.com/office/drawing/2014/main" val="3041024782"/>
                    </a:ext>
                  </a:extLst>
                </a:gridCol>
                <a:gridCol w="2982191">
                  <a:extLst>
                    <a:ext uri="{9D8B030D-6E8A-4147-A177-3AD203B41FA5}">
                      <a16:colId xmlns:a16="http://schemas.microsoft.com/office/drawing/2014/main" val="553340259"/>
                    </a:ext>
                  </a:extLst>
                </a:gridCol>
              </a:tblGrid>
              <a:tr h="33662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b="1" dirty="0"/>
                        <a:t>for(</a:t>
                      </a:r>
                      <a:r>
                        <a:rPr lang="en-US" b="1" dirty="0" err="1"/>
                        <a:t>int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i</a:t>
                      </a:r>
                      <a:r>
                        <a:rPr lang="en-US" b="1" dirty="0"/>
                        <a:t>=1; </a:t>
                      </a:r>
                      <a:r>
                        <a:rPr lang="en-US" b="1" dirty="0" err="1"/>
                        <a:t>i</a:t>
                      </a:r>
                      <a:r>
                        <a:rPr lang="en-US" b="1" dirty="0"/>
                        <a:t>&lt;=n-1 ; </a:t>
                      </a:r>
                      <a:r>
                        <a:rPr lang="en-US" b="1" dirty="0" err="1"/>
                        <a:t>i</a:t>
                      </a:r>
                      <a:r>
                        <a:rPr lang="en-US" b="1" dirty="0"/>
                        <a:t>++)</a:t>
                      </a:r>
                    </a:p>
                    <a:p>
                      <a:pPr marL="0" indent="0">
                        <a:buNone/>
                      </a:pPr>
                      <a:r>
                        <a:rPr lang="en-US" b="1" dirty="0"/>
                        <a:t>{</a:t>
                      </a:r>
                    </a:p>
                    <a:p>
                      <a:pPr marL="0" indent="0">
                        <a:buNone/>
                      </a:pPr>
                      <a:r>
                        <a:rPr lang="en-US" b="1" baseline="0" dirty="0"/>
                        <a:t>    </a:t>
                      </a:r>
                      <a:r>
                        <a:rPr lang="en-US" b="1" dirty="0" err="1"/>
                        <a:t>int</a:t>
                      </a:r>
                      <a:r>
                        <a:rPr lang="en-US" b="1" dirty="0"/>
                        <a:t> temp = a[</a:t>
                      </a:r>
                      <a:r>
                        <a:rPr lang="en-US" b="1" dirty="0" err="1"/>
                        <a:t>i</a:t>
                      </a:r>
                      <a:r>
                        <a:rPr lang="en-US" b="1" dirty="0"/>
                        <a:t>];</a:t>
                      </a:r>
                    </a:p>
                    <a:p>
                      <a:pPr marL="0" indent="0">
                        <a:buNone/>
                      </a:pPr>
                      <a:r>
                        <a:rPr lang="en-US" b="1" baseline="0" dirty="0"/>
                        <a:t>    </a:t>
                      </a:r>
                      <a:r>
                        <a:rPr lang="en-US" b="1" dirty="0" err="1"/>
                        <a:t>int</a:t>
                      </a:r>
                      <a:r>
                        <a:rPr lang="en-US" b="1" dirty="0"/>
                        <a:t> j = i-1;</a:t>
                      </a:r>
                    </a:p>
                    <a:p>
                      <a:pPr marL="0" indent="0">
                        <a:buNone/>
                      </a:pPr>
                      <a:r>
                        <a:rPr lang="en-US" b="1" baseline="0" dirty="0"/>
                        <a:t>    </a:t>
                      </a:r>
                      <a:r>
                        <a:rPr lang="en-US" b="1" dirty="0"/>
                        <a:t>while(j&gt;=0 &amp;&amp; temp &lt; a[j])</a:t>
                      </a:r>
                    </a:p>
                    <a:p>
                      <a:pPr marL="0" indent="0">
                        <a:buNone/>
                      </a:pPr>
                      <a:r>
                        <a:rPr lang="en-US" b="1" baseline="0" dirty="0"/>
                        <a:t>    </a:t>
                      </a:r>
                      <a:r>
                        <a:rPr lang="en-US" b="1" dirty="0"/>
                        <a:t>{</a:t>
                      </a:r>
                    </a:p>
                    <a:p>
                      <a:pPr marL="0" indent="0">
                        <a:buNone/>
                      </a:pPr>
                      <a:r>
                        <a:rPr lang="en-US" b="1" baseline="0" dirty="0"/>
                        <a:t>       </a:t>
                      </a:r>
                      <a:r>
                        <a:rPr lang="en-US" b="1" dirty="0"/>
                        <a:t>a[j+1] = a[j];</a:t>
                      </a:r>
                    </a:p>
                    <a:p>
                      <a:pPr marL="0" indent="0">
                        <a:buNone/>
                      </a:pPr>
                      <a:r>
                        <a:rPr lang="en-US" b="1" baseline="0" dirty="0"/>
                        <a:t>       </a:t>
                      </a:r>
                      <a:r>
                        <a:rPr lang="en-US" b="1" dirty="0"/>
                        <a:t>j--;</a:t>
                      </a:r>
                    </a:p>
                    <a:p>
                      <a:pPr marL="0" indent="0">
                        <a:buNone/>
                      </a:pPr>
                      <a:r>
                        <a:rPr lang="en-US" b="1" baseline="0" dirty="0"/>
                        <a:t>     </a:t>
                      </a:r>
                      <a:r>
                        <a:rPr lang="en-US" b="1" dirty="0"/>
                        <a:t>}</a:t>
                      </a:r>
                    </a:p>
                    <a:p>
                      <a:pPr marL="0" indent="0">
                        <a:buNone/>
                      </a:pPr>
                      <a:r>
                        <a:rPr lang="en-US" b="1" baseline="0" dirty="0"/>
                        <a:t>     </a:t>
                      </a:r>
                      <a:r>
                        <a:rPr lang="en-US" b="1" dirty="0"/>
                        <a:t>a[j+1] = temp;</a:t>
                      </a:r>
                    </a:p>
                    <a:p>
                      <a:pPr marL="0" indent="0">
                        <a:buNone/>
                      </a:pPr>
                      <a:r>
                        <a:rPr lang="en-US" b="1" dirty="0"/>
                        <a:t>}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b="1" dirty="0"/>
                        <a:t>for(</a:t>
                      </a:r>
                      <a:r>
                        <a:rPr lang="en-US" b="1" dirty="0" err="1"/>
                        <a:t>int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i</a:t>
                      </a:r>
                      <a:r>
                        <a:rPr lang="en-US" b="1" dirty="0"/>
                        <a:t>=1; </a:t>
                      </a:r>
                      <a:r>
                        <a:rPr lang="en-US" b="1" dirty="0" err="1"/>
                        <a:t>i</a:t>
                      </a:r>
                      <a:r>
                        <a:rPr lang="en-US" b="1" dirty="0"/>
                        <a:t>&lt;=n-1 ; </a:t>
                      </a:r>
                      <a:r>
                        <a:rPr lang="en-US" b="1" dirty="0" err="1"/>
                        <a:t>i</a:t>
                      </a:r>
                      <a:r>
                        <a:rPr lang="en-US" b="1" dirty="0"/>
                        <a:t>++)</a:t>
                      </a:r>
                    </a:p>
                    <a:p>
                      <a:pPr marL="0" indent="0">
                        <a:buNone/>
                      </a:pPr>
                      <a:r>
                        <a:rPr lang="en-US" b="1" dirty="0"/>
                        <a:t>{</a:t>
                      </a:r>
                    </a:p>
                    <a:p>
                      <a:pPr marL="0" indent="0">
                        <a:buNone/>
                      </a:pPr>
                      <a:r>
                        <a:rPr lang="en-US" b="1" dirty="0"/>
                        <a:t>     for(j=i-1; j&gt;=0</a:t>
                      </a:r>
                      <a:r>
                        <a:rPr lang="en-US" sz="1200" b="1" dirty="0"/>
                        <a:t> &amp;&amp; temp &lt; a[j]</a:t>
                      </a:r>
                      <a:r>
                        <a:rPr lang="en-US" b="1" dirty="0"/>
                        <a:t>; j--)</a:t>
                      </a:r>
                    </a:p>
                    <a:p>
                      <a:pPr marL="0" indent="0">
                        <a:buNone/>
                      </a:pPr>
                      <a:r>
                        <a:rPr lang="en-US" b="1" dirty="0"/>
                        <a:t>     {</a:t>
                      </a:r>
                    </a:p>
                    <a:p>
                      <a:pPr marL="0" indent="0">
                        <a:buNone/>
                      </a:pPr>
                      <a:r>
                        <a:rPr lang="en-US" b="1" dirty="0"/>
                        <a:t>	</a:t>
                      </a:r>
                      <a:r>
                        <a:rPr lang="en-US" b="1" dirty="0" err="1"/>
                        <a:t>stmt</a:t>
                      </a:r>
                      <a:r>
                        <a:rPr lang="en-US" b="1" dirty="0"/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US" b="1" baseline="0" dirty="0"/>
                        <a:t>      </a:t>
                      </a:r>
                      <a:r>
                        <a:rPr lang="en-US" b="1" dirty="0"/>
                        <a:t>}</a:t>
                      </a:r>
                    </a:p>
                    <a:p>
                      <a:pPr marL="0" indent="0">
                        <a:buNone/>
                      </a:pPr>
                      <a:r>
                        <a:rPr lang="en-US" b="1" dirty="0"/>
                        <a:t>}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(This code is similar to the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leftside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 code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49898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676838"/>
              </p:ext>
            </p:extLst>
          </p:nvPr>
        </p:nvGraphicFramePr>
        <p:xfrm>
          <a:off x="7121237" y="1592499"/>
          <a:ext cx="3537525" cy="32150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9175">
                  <a:extLst>
                    <a:ext uri="{9D8B030D-6E8A-4147-A177-3AD203B41FA5}">
                      <a16:colId xmlns:a16="http://schemas.microsoft.com/office/drawing/2014/main" val="4278929431"/>
                    </a:ext>
                  </a:extLst>
                </a:gridCol>
                <a:gridCol w="1179175">
                  <a:extLst>
                    <a:ext uri="{9D8B030D-6E8A-4147-A177-3AD203B41FA5}">
                      <a16:colId xmlns:a16="http://schemas.microsoft.com/office/drawing/2014/main" val="2423033350"/>
                    </a:ext>
                  </a:extLst>
                </a:gridCol>
                <a:gridCol w="1179175">
                  <a:extLst>
                    <a:ext uri="{9D8B030D-6E8A-4147-A177-3AD203B41FA5}">
                      <a16:colId xmlns:a16="http://schemas.microsoft.com/office/drawing/2014/main" val="4180512466"/>
                    </a:ext>
                  </a:extLst>
                </a:gridCol>
              </a:tblGrid>
              <a:tr h="535838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i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stmt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009285"/>
                  </a:ext>
                </a:extLst>
              </a:tr>
              <a:tr h="53583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814102"/>
                  </a:ext>
                </a:extLst>
              </a:tr>
              <a:tr h="53583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633915"/>
                  </a:ext>
                </a:extLst>
              </a:tr>
              <a:tr h="53583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52607"/>
                  </a:ext>
                </a:extLst>
              </a:tr>
              <a:tr h="53583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48951"/>
                  </a:ext>
                </a:extLst>
              </a:tr>
              <a:tr h="53583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07769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61817" y="5195455"/>
            <a:ext cx="8183419" cy="13577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Sum of natural numbers= (1+2+3+…+n) = n*(n+1)/2</a:t>
            </a:r>
          </a:p>
          <a:p>
            <a:pPr algn="ctr"/>
            <a:r>
              <a:rPr lang="en-US" b="1" dirty="0"/>
              <a:t>When we sum till n-1 then sum of natural numbers(</a:t>
            </a:r>
            <a:r>
              <a:rPr lang="en-US" b="1" dirty="0">
                <a:solidFill>
                  <a:srgbClr val="FF0000"/>
                </a:solidFill>
              </a:rPr>
              <a:t>for </a:t>
            </a:r>
            <a:r>
              <a:rPr lang="en-US" b="1" dirty="0" err="1">
                <a:solidFill>
                  <a:srgbClr val="FF0000"/>
                </a:solidFill>
              </a:rPr>
              <a:t>stmt</a:t>
            </a:r>
            <a:r>
              <a:rPr lang="en-US" b="1" dirty="0"/>
              <a:t>) = n-1*(n-1+1)/2</a:t>
            </a:r>
          </a:p>
          <a:p>
            <a:pPr algn="ctr"/>
            <a:r>
              <a:rPr lang="en-US" b="1" dirty="0"/>
              <a:t>			= n*(n-1)/2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n=5; 		5*4/2= 10	</a:t>
            </a:r>
            <a:r>
              <a:rPr lang="en-US" b="1" dirty="0"/>
              <a:t>(</a:t>
            </a:r>
            <a:r>
              <a:rPr lang="en-US" b="1" dirty="0">
                <a:solidFill>
                  <a:srgbClr val="FF0000"/>
                </a:solidFill>
              </a:rPr>
              <a:t>for </a:t>
            </a:r>
            <a:r>
              <a:rPr lang="en-US" b="1" dirty="0" err="1">
                <a:solidFill>
                  <a:srgbClr val="FF0000"/>
                </a:solidFill>
              </a:rPr>
              <a:t>stmt</a:t>
            </a:r>
            <a:r>
              <a:rPr lang="en-US" b="1" dirty="0"/>
              <a:t>) </a:t>
            </a:r>
          </a:p>
          <a:p>
            <a:pPr algn="ctr"/>
            <a:r>
              <a:rPr lang="en-US" b="1" dirty="0"/>
              <a:t>		(5*6/2)-1		(</a:t>
            </a:r>
            <a:r>
              <a:rPr lang="en-US" b="1" dirty="0">
                <a:solidFill>
                  <a:srgbClr val="FF0000"/>
                </a:solidFill>
              </a:rPr>
              <a:t>for header</a:t>
            </a:r>
            <a:r>
              <a:rPr lang="en-US" b="1" dirty="0"/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228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Insertion Sort Analysis for Best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for(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=1; </a:t>
            </a:r>
            <a:r>
              <a:rPr lang="en-US" b="1" dirty="0" err="1"/>
              <a:t>i</a:t>
            </a:r>
            <a:r>
              <a:rPr lang="en-US" b="1" dirty="0"/>
              <a:t>&lt;=n-1 ; </a:t>
            </a:r>
            <a:r>
              <a:rPr lang="en-US" b="1" dirty="0" err="1"/>
              <a:t>i</a:t>
            </a:r>
            <a:r>
              <a:rPr lang="en-US" b="1" dirty="0"/>
              <a:t>++)		n</a:t>
            </a:r>
          </a:p>
          <a:p>
            <a:pPr marL="0" indent="0">
              <a:buNone/>
            </a:pPr>
            <a:r>
              <a:rPr lang="en-US" b="1" dirty="0"/>
              <a:t>{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err="1"/>
              <a:t>int</a:t>
            </a:r>
            <a:r>
              <a:rPr lang="en-US" b="1" dirty="0"/>
              <a:t> temp = a[</a:t>
            </a:r>
            <a:r>
              <a:rPr lang="en-US" b="1" dirty="0" err="1"/>
              <a:t>i</a:t>
            </a:r>
            <a:r>
              <a:rPr lang="en-US" b="1" dirty="0"/>
              <a:t>];		n-1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err="1"/>
              <a:t>int</a:t>
            </a:r>
            <a:r>
              <a:rPr lang="en-US" b="1" dirty="0"/>
              <a:t> j = i-1;			 n-1</a:t>
            </a:r>
          </a:p>
          <a:p>
            <a:pPr marL="0" indent="0">
              <a:buNone/>
            </a:pPr>
            <a:r>
              <a:rPr lang="en-US" b="1" dirty="0"/>
              <a:t>	while(j&gt;=0 &amp;&amp; temp &lt; a[j])		   n-1</a:t>
            </a:r>
          </a:p>
          <a:p>
            <a:pPr marL="0" indent="0">
              <a:buNone/>
            </a:pPr>
            <a:r>
              <a:rPr lang="en-US" b="1" dirty="0"/>
              <a:t>	{</a:t>
            </a:r>
          </a:p>
          <a:p>
            <a:pPr marL="0" indent="0">
              <a:buNone/>
            </a:pPr>
            <a:r>
              <a:rPr lang="en-US" b="1" dirty="0"/>
              <a:t>		a[j+1] = a[j];			0</a:t>
            </a:r>
          </a:p>
          <a:p>
            <a:pPr marL="0" indent="0">
              <a:buNone/>
            </a:pPr>
            <a:r>
              <a:rPr lang="en-US" b="1" dirty="0"/>
              <a:t>		j--;				0</a:t>
            </a:r>
          </a:p>
          <a:p>
            <a:pPr marL="0" indent="0">
              <a:buNone/>
            </a:pPr>
            <a:r>
              <a:rPr lang="en-US" b="1" dirty="0"/>
              <a:t>	}</a:t>
            </a:r>
          </a:p>
          <a:p>
            <a:pPr marL="0" indent="0">
              <a:buNone/>
            </a:pPr>
            <a:r>
              <a:rPr lang="en-US" b="1" dirty="0"/>
              <a:t>	a[j+1] = temp;			 n-1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934691" y="1967345"/>
            <a:ext cx="13854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281055" y="4281054"/>
            <a:ext cx="13854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726873" y="4765963"/>
            <a:ext cx="13854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726873" y="5472545"/>
            <a:ext cx="13854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948546" y="2757054"/>
            <a:ext cx="13854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588328" y="3117272"/>
            <a:ext cx="13854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209309" y="3519055"/>
            <a:ext cx="13854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280564" y="3858490"/>
            <a:ext cx="3338946" cy="15101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f(n) = ?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40556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Insertion Sort Analysis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can you use summation for worst case analysis of insertion sort.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Let’s try for it</a:t>
            </a:r>
          </a:p>
        </p:txBody>
      </p:sp>
    </p:spTree>
    <p:extLst>
      <p:ext uri="{BB962C8B-B14F-4D97-AF65-F5344CB8AC3E}">
        <p14:creationId xmlns:p14="http://schemas.microsoft.com/office/powerpoint/2010/main" val="1642467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61602"/>
          </a:xfrm>
        </p:spPr>
        <p:txBody>
          <a:bodyPr/>
          <a:lstStyle/>
          <a:p>
            <a:pPr algn="ctr"/>
            <a:r>
              <a:rPr lang="en-US" b="1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3784106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790</Words>
  <Application>Microsoft Office PowerPoint</Application>
  <PresentationFormat>Widescreen</PresentationFormat>
  <Paragraphs>146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Insertion Sort Analysis </vt:lpstr>
      <vt:lpstr>Insertion Sort </vt:lpstr>
      <vt:lpstr>Insertion Sort </vt:lpstr>
      <vt:lpstr>Insertion Sort Analysis for Worst Case</vt:lpstr>
      <vt:lpstr>Helping Slide </vt:lpstr>
      <vt:lpstr>Insertion Sort Analysis for Best Case</vt:lpstr>
      <vt:lpstr>Insertion Sort Analysis 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Insertion Sort Analysis </dc:title>
  <dc:creator>STD CLASS ROOM</dc:creator>
  <cp:lastModifiedBy>Mariha Asad</cp:lastModifiedBy>
  <cp:revision>52</cp:revision>
  <dcterms:created xsi:type="dcterms:W3CDTF">2020-11-12T04:28:29Z</dcterms:created>
  <dcterms:modified xsi:type="dcterms:W3CDTF">2021-11-11T07:09:59Z</dcterms:modified>
</cp:coreProperties>
</file>