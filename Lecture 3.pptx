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70" r:id="rId6"/>
    <p:sldId id="271" r:id="rId7"/>
    <p:sldId id="272" r:id="rId8"/>
    <p:sldId id="273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6836E-2C2F-4715-A313-729C720B0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DB335E-B4FF-43D6-8264-4E04236D1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8A7AE-CEB0-4554-998F-18FF0E120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EB748-80CE-452A-9062-2DEB3067D799}" type="datetimeFigureOut">
              <a:rPr lang="en-US" smtClean="0"/>
              <a:t>11/2/2021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20E08-C2C5-4EAE-BF56-7C53BB930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21D9D-38F4-4948-8A9E-7C11B004D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825B0-F602-4752-8669-FBB67D09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103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2B203-CBF4-4A7A-A033-5C9F011FA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62C5D-06FD-4F7B-A50E-BAD85174A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FC704-A655-4E4F-AADD-67CF0C16F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EB748-80CE-452A-9062-2DEB3067D799}" type="datetimeFigureOut">
              <a:rPr lang="en-US" smtClean="0"/>
              <a:t>11/2/2021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12733-1761-4F38-8B66-42F1B98EC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7490C-BA65-4484-9773-BBE0821E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825B0-F602-4752-8669-FBB67D09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74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48E7E-07C8-4457-ABF8-9D36CD049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D52A5-4509-4D19-A321-C99D36782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8D1FE-0561-45B7-9A18-66C23B873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EB748-80CE-452A-9062-2DEB3067D799}" type="datetimeFigureOut">
              <a:rPr lang="en-US" smtClean="0"/>
              <a:t>11/2/2021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166FA-60FF-42DA-BED3-5F0E3D61B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FDF1E-2144-4CC8-8805-E25B0CFA5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825B0-F602-4752-8669-FBB67D09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30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5B976-623E-4F59-B4F6-1523DBFB7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2FB94-16CE-4AB0-89E0-6A9F0FCFA2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3AC12-196C-43A1-AB75-CD7354E04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0C61B-A8B0-499C-AD0A-DC1854951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EB748-80CE-452A-9062-2DEB3067D799}" type="datetimeFigureOut">
              <a:rPr lang="en-US" smtClean="0"/>
              <a:t>11/2/2021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96E1AB-FB87-4A73-96B2-2DCCC3949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FF696-B1F3-4AC9-94FD-A0CA4BE11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825B0-F602-4752-8669-FBB67D09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5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AB710-6F36-426D-AF01-8DC847307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04E91-0E41-419A-A352-4880205F9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9B8457-1FAD-468E-A55D-64D9B938B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5DD0A-EF5A-4DBE-8ACA-212C66162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490E0F-2A06-4247-8B10-A9631BF46B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6D6AA1-9869-4F9C-8102-D668D43E7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EB748-80CE-452A-9062-2DEB3067D799}" type="datetimeFigureOut">
              <a:rPr lang="en-US" smtClean="0"/>
              <a:t>11/2/2021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2D4760-D708-42D6-9C5F-474B5194F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35E9A5-E219-4C84-8360-0B92318AE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825B0-F602-4752-8669-FBB67D09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343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6E73D-FEEE-4CC5-B157-ECB14323E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206990-8A77-4DB6-AD40-4F5E077E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EB748-80CE-452A-9062-2DEB3067D799}" type="datetimeFigureOut">
              <a:rPr lang="en-US" smtClean="0"/>
              <a:t>11/2/2021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7B40FA-1A40-4762-B9DA-3D94968AF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450ED9-F256-4C99-8FA3-50698977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825B0-F602-4752-8669-FBB67D09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00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E2BC03-6239-4D2C-B407-E213A64E1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EB748-80CE-452A-9062-2DEB3067D799}" type="datetimeFigureOut">
              <a:rPr lang="en-US" smtClean="0"/>
              <a:t>11/2/2021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77AA27-4DE6-435C-98D6-11170806D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B4661-FD52-4CDA-BB7C-A2546C104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825B0-F602-4752-8669-FBB67D09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86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60922-FC29-4092-B96A-74682F1A1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E5D36-F193-4716-B98E-37A61615D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CFDE4-099E-4DC4-A9B3-8B4B98CB2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A71C51-EF15-4B99-8370-05C989C92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EB748-80CE-452A-9062-2DEB3067D799}" type="datetimeFigureOut">
              <a:rPr lang="en-US" smtClean="0"/>
              <a:t>11/2/2021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EADE8-27E9-4649-BDA4-0B74150B2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A04D4-4A10-4C4E-A7E7-9F7C0AAC1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825B0-F602-4752-8669-FBB67D09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449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3D1D5-CB78-4CA7-B3AF-563B8B31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207A69-6ED0-43AB-91AC-E00A9976CC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3B34F3-6C2F-47B0-9823-A548D7BB0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509F6-24FC-4E62-B2AE-1EB358F53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EB748-80CE-452A-9062-2DEB3067D799}" type="datetimeFigureOut">
              <a:rPr lang="en-US" smtClean="0"/>
              <a:t>11/2/2021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55BA1-8F45-486F-AADD-EB4C89CB6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BE8B3-1844-4DD0-ADAD-AA70FA2C0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825B0-F602-4752-8669-FBB67D09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048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939BF-8995-445D-81D6-3F90CA42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E3D84-C690-4691-9A76-43D3C1009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F726E-D217-46C3-BCEE-B06FDD6B7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EB748-80CE-452A-9062-2DEB3067D799}" type="datetimeFigureOut">
              <a:rPr lang="en-US" smtClean="0"/>
              <a:t>11/2/2021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DB065-AD14-4100-8376-62DF894A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6BD5E-0853-464B-B3BE-50E3088AD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825B0-F602-4752-8669-FBB67D09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9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4D12FD-E0D8-4AEC-920F-296041AE03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B49A9A-1977-4743-A2FA-8BCA77734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BD1E6-FA97-4162-9DB0-4F4E85E7B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EB748-80CE-452A-9062-2DEB3067D799}" type="datetimeFigureOut">
              <a:rPr lang="en-US" smtClean="0"/>
              <a:t>11/2/2021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61EA7-5520-46DC-BFCF-A9CA62CB9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4097D-3862-4E55-B210-CDBCD63A9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825B0-F602-4752-8669-FBB67D09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039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4FF824-1AEB-4366-BB08-52B0FDC71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CDDFA-D95A-435D-B9B0-A5C89EE06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C70A0-8D4A-405B-AEE7-DCDB85E9E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EB748-80CE-452A-9062-2DEB3067D799}" type="datetimeFigureOut">
              <a:rPr lang="en-US" smtClean="0"/>
              <a:t>11/2/2021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3E8FC-FE6D-4404-8C0E-59F9BBFFFA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1DC3D-81FA-49C8-BA6E-CC1755074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825B0-F602-4752-8669-FBB67D09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47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0E72F-A3C2-43F9-853F-6B4D41CD1B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Time Complexity of Different Code Snippets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966849-6FC6-4B95-8EAF-EF58B97CD1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Analysis of Algorithm</a:t>
            </a:r>
          </a:p>
          <a:p>
            <a:r>
              <a:rPr lang="en-US" dirty="0"/>
              <a:t>Lecture </a:t>
            </a:r>
            <a:r>
              <a:rPr lang="en-US"/>
              <a:t># 5</a:t>
            </a:r>
            <a:endParaRPr lang="en-US" dirty="0"/>
          </a:p>
          <a:p>
            <a:r>
              <a:rPr lang="en-US" dirty="0"/>
              <a:t>Mariha </a:t>
            </a:r>
            <a:r>
              <a:rPr lang="en-US" dirty="0" err="1"/>
              <a:t>Asad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961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96804-7B86-422A-9B64-77421E377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 of Code Snippets(1)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BB8EB-2225-4C58-BCA8-F437926C7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748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&lt;n; </a:t>
            </a:r>
            <a:r>
              <a:rPr lang="en-US" dirty="0" err="1"/>
              <a:t>i</a:t>
            </a:r>
            <a:r>
              <a:rPr lang="en-US" dirty="0"/>
              <a:t>++)                         n+1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stmt</a:t>
            </a:r>
            <a:r>
              <a:rPr lang="en-US" dirty="0"/>
              <a:t>;                                 n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f(n) = n+1+n = 2n+1</a:t>
            </a:r>
          </a:p>
          <a:p>
            <a:pPr marL="0" indent="0">
              <a:buNone/>
            </a:pPr>
            <a:r>
              <a:rPr lang="en-US" dirty="0"/>
              <a:t>So f(n) = O(n)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22A657-BDE0-4B4D-80B3-AA8C1423334D}"/>
              </a:ext>
            </a:extLst>
          </p:cNvPr>
          <p:cNvCxnSpPr>
            <a:cxnSpLocks/>
          </p:cNvCxnSpPr>
          <p:nvPr/>
        </p:nvCxnSpPr>
        <p:spPr>
          <a:xfrm>
            <a:off x="3671666" y="2082019"/>
            <a:ext cx="13364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1B08036-2DD4-4D5E-8139-C0D2605FCC3E}"/>
              </a:ext>
            </a:extLst>
          </p:cNvPr>
          <p:cNvCxnSpPr>
            <a:cxnSpLocks/>
          </p:cNvCxnSpPr>
          <p:nvPr/>
        </p:nvCxnSpPr>
        <p:spPr>
          <a:xfrm>
            <a:off x="3671666" y="3064413"/>
            <a:ext cx="13364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366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96804-7B86-422A-9B64-77421E377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 of Code Snippets(2)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BB8EB-2225-4C58-BCA8-F437926C7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748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=n; </a:t>
            </a:r>
            <a:r>
              <a:rPr lang="en-US" dirty="0" err="1"/>
              <a:t>i</a:t>
            </a:r>
            <a:r>
              <a:rPr lang="en-US" dirty="0"/>
              <a:t> &gt;0; </a:t>
            </a:r>
            <a:r>
              <a:rPr lang="en-US" dirty="0" err="1"/>
              <a:t>i</a:t>
            </a:r>
            <a:r>
              <a:rPr lang="en-US" dirty="0"/>
              <a:t>--)                         n+1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stmt</a:t>
            </a:r>
            <a:r>
              <a:rPr lang="en-US" dirty="0"/>
              <a:t>;                                 n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f(n) = n+1+n = 2n+1</a:t>
            </a:r>
          </a:p>
          <a:p>
            <a:pPr marL="0" indent="0">
              <a:buNone/>
            </a:pPr>
            <a:r>
              <a:rPr lang="en-US" dirty="0"/>
              <a:t>So f(n) = O(n)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22A657-BDE0-4B4D-80B3-AA8C1423334D}"/>
              </a:ext>
            </a:extLst>
          </p:cNvPr>
          <p:cNvCxnSpPr>
            <a:cxnSpLocks/>
          </p:cNvCxnSpPr>
          <p:nvPr/>
        </p:nvCxnSpPr>
        <p:spPr>
          <a:xfrm>
            <a:off x="3671666" y="2082019"/>
            <a:ext cx="13364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1B08036-2DD4-4D5E-8139-C0D2605FCC3E}"/>
              </a:ext>
            </a:extLst>
          </p:cNvPr>
          <p:cNvCxnSpPr>
            <a:cxnSpLocks/>
          </p:cNvCxnSpPr>
          <p:nvPr/>
        </p:nvCxnSpPr>
        <p:spPr>
          <a:xfrm>
            <a:off x="3671666" y="3064413"/>
            <a:ext cx="13364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321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96804-7B86-422A-9B64-77421E377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 of Code Snippets(3)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BB8EB-2225-4C58-BCA8-F437926C7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748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&lt;n; </a:t>
            </a:r>
            <a:r>
              <a:rPr lang="en-US" dirty="0" err="1"/>
              <a:t>i</a:t>
            </a:r>
            <a:r>
              <a:rPr lang="en-US" dirty="0"/>
              <a:t>=i+2)                         n/2+1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stmt</a:t>
            </a:r>
            <a:r>
              <a:rPr lang="en-US" dirty="0"/>
              <a:t>;                                 n/2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f(n) = n/2+1+n/2 = n+1</a:t>
            </a:r>
          </a:p>
          <a:p>
            <a:pPr marL="0" indent="0">
              <a:buNone/>
            </a:pPr>
            <a:r>
              <a:rPr lang="en-US" dirty="0"/>
              <a:t>So f(n) = O(n)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22A657-BDE0-4B4D-80B3-AA8C1423334D}"/>
              </a:ext>
            </a:extLst>
          </p:cNvPr>
          <p:cNvCxnSpPr>
            <a:cxnSpLocks/>
          </p:cNvCxnSpPr>
          <p:nvPr/>
        </p:nvCxnSpPr>
        <p:spPr>
          <a:xfrm>
            <a:off x="3671666" y="2082019"/>
            <a:ext cx="13364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1B08036-2DD4-4D5E-8139-C0D2605FCC3E}"/>
              </a:ext>
            </a:extLst>
          </p:cNvPr>
          <p:cNvCxnSpPr>
            <a:cxnSpLocks/>
          </p:cNvCxnSpPr>
          <p:nvPr/>
        </p:nvCxnSpPr>
        <p:spPr>
          <a:xfrm>
            <a:off x="3671666" y="3064413"/>
            <a:ext cx="13364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397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96804-7B86-422A-9B64-77421E377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 of Code Snippets(4)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BB8EB-2225-4C58-BCA8-F437926C7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748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 &lt;n; </a:t>
            </a:r>
            <a:r>
              <a:rPr lang="en-US" dirty="0" err="1"/>
              <a:t>i</a:t>
            </a:r>
            <a:r>
              <a:rPr lang="en-US" dirty="0"/>
              <a:t>=</a:t>
            </a:r>
            <a:r>
              <a:rPr lang="en-US" dirty="0" err="1"/>
              <a:t>i</a:t>
            </a:r>
            <a:r>
              <a:rPr lang="en-US" dirty="0"/>
              <a:t>*2)                      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stmt</a:t>
            </a:r>
            <a:r>
              <a:rPr lang="en-US" dirty="0"/>
              <a:t>;                                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b="1" dirty="0" err="1"/>
              <a:t>i</a:t>
            </a:r>
            <a:r>
              <a:rPr lang="en-US" b="1" dirty="0"/>
              <a:t> ≥ n</a:t>
            </a:r>
          </a:p>
          <a:p>
            <a:pPr marL="0" indent="0">
              <a:buNone/>
            </a:pPr>
            <a:r>
              <a:rPr lang="en-US" b="1" dirty="0"/>
              <a:t>i = 2</a:t>
            </a:r>
            <a:r>
              <a:rPr lang="en-US" b="1" baseline="30000" dirty="0"/>
              <a:t>k</a:t>
            </a:r>
          </a:p>
          <a:p>
            <a:pPr marL="0" indent="0">
              <a:buNone/>
            </a:pPr>
            <a:r>
              <a:rPr lang="en-US" b="1" dirty="0"/>
              <a:t>2</a:t>
            </a:r>
            <a:r>
              <a:rPr lang="en-US" b="1" baseline="30000" dirty="0"/>
              <a:t>k </a:t>
            </a:r>
            <a:r>
              <a:rPr lang="en-US" b="1" dirty="0"/>
              <a:t>≥ n</a:t>
            </a:r>
          </a:p>
          <a:p>
            <a:pPr marL="0" indent="0">
              <a:buNone/>
            </a:pPr>
            <a:r>
              <a:rPr lang="en-US" b="1" dirty="0"/>
              <a:t>k = log</a:t>
            </a:r>
            <a:r>
              <a:rPr lang="en-US" b="1" baseline="-25000" dirty="0"/>
              <a:t>2</a:t>
            </a:r>
            <a:r>
              <a:rPr lang="en-US" b="1" dirty="0"/>
              <a:t>n</a:t>
            </a:r>
            <a:r>
              <a:rPr lang="en-US" dirty="0"/>
              <a:t> 	O(</a:t>
            </a:r>
            <a:r>
              <a:rPr lang="en-US" b="1" dirty="0"/>
              <a:t>log</a:t>
            </a:r>
            <a:r>
              <a:rPr lang="en-US" b="1" baseline="-25000" dirty="0"/>
              <a:t>2</a:t>
            </a:r>
            <a:r>
              <a:rPr lang="en-US" b="1" dirty="0"/>
              <a:t>n</a:t>
            </a:r>
            <a:r>
              <a:rPr lang="en-US" dirty="0"/>
              <a:t> )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6F9A4200-C983-4C21-B40C-08B4C78CD5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063872"/>
              </p:ext>
            </p:extLst>
          </p:nvPr>
        </p:nvGraphicFramePr>
        <p:xfrm>
          <a:off x="5176911" y="1409098"/>
          <a:ext cx="3151163" cy="44821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51163">
                  <a:extLst>
                    <a:ext uri="{9D8B030D-6E8A-4147-A177-3AD203B41FA5}">
                      <a16:colId xmlns:a16="http://schemas.microsoft.com/office/drawing/2014/main" val="4108818473"/>
                    </a:ext>
                  </a:extLst>
                </a:gridCol>
              </a:tblGrid>
              <a:tr h="44871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i</a:t>
                      </a:r>
                    </a:p>
                  </a:txBody>
                  <a:tcPr marT="55321" marB="55321"/>
                </a:tc>
                <a:extLst>
                  <a:ext uri="{0D108BD9-81ED-4DB2-BD59-A6C34878D82A}">
                    <a16:rowId xmlns:a16="http://schemas.microsoft.com/office/drawing/2014/main" val="238326777"/>
                  </a:ext>
                </a:extLst>
              </a:tr>
              <a:tr h="44871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1</a:t>
                      </a:r>
                    </a:p>
                  </a:txBody>
                  <a:tcPr marT="55321" marB="55321"/>
                </a:tc>
                <a:extLst>
                  <a:ext uri="{0D108BD9-81ED-4DB2-BD59-A6C34878D82A}">
                    <a16:rowId xmlns:a16="http://schemas.microsoft.com/office/drawing/2014/main" val="1132138043"/>
                  </a:ext>
                </a:extLst>
              </a:tr>
              <a:tr h="44871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sz="2200" b="1" dirty="0" err="1">
                          <a:solidFill>
                            <a:srgbClr val="FF0000"/>
                          </a:solidFill>
                        </a:rPr>
                        <a:t>i</a:t>
                      </a:r>
                      <a:r>
                        <a:rPr lang="en-US" sz="2200" b="1" dirty="0">
                          <a:solidFill>
                            <a:srgbClr val="FF0000"/>
                          </a:solidFill>
                        </a:rPr>
                        <a:t>*2)</a:t>
                      </a:r>
                    </a:p>
                  </a:txBody>
                  <a:tcPr marT="55321" marB="55321"/>
                </a:tc>
                <a:extLst>
                  <a:ext uri="{0D108BD9-81ED-4DB2-BD59-A6C34878D82A}">
                    <a16:rowId xmlns:a16="http://schemas.microsoft.com/office/drawing/2014/main" val="4278220890"/>
                  </a:ext>
                </a:extLst>
              </a:tr>
              <a:tr h="44871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1*2 = 2</a:t>
                      </a:r>
                    </a:p>
                  </a:txBody>
                  <a:tcPr marT="55321" marB="55321"/>
                </a:tc>
                <a:extLst>
                  <a:ext uri="{0D108BD9-81ED-4DB2-BD59-A6C34878D82A}">
                    <a16:rowId xmlns:a16="http://schemas.microsoft.com/office/drawing/2014/main" val="672503332"/>
                  </a:ext>
                </a:extLst>
              </a:tr>
              <a:tr h="44871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2*2 = 2</a:t>
                      </a:r>
                      <a:r>
                        <a:rPr lang="en-US" sz="2200" b="1" baseline="30000" dirty="0"/>
                        <a:t>2</a:t>
                      </a:r>
                      <a:endParaRPr lang="en-US" sz="2200" b="1" dirty="0"/>
                    </a:p>
                  </a:txBody>
                  <a:tcPr marT="55321" marB="55321"/>
                </a:tc>
                <a:extLst>
                  <a:ext uri="{0D108BD9-81ED-4DB2-BD59-A6C34878D82A}">
                    <a16:rowId xmlns:a16="http://schemas.microsoft.com/office/drawing/2014/main" val="2857822799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2</a:t>
                      </a:r>
                      <a:r>
                        <a:rPr lang="en-US" sz="2200" b="1" baseline="30000" dirty="0"/>
                        <a:t>2 </a:t>
                      </a:r>
                      <a:r>
                        <a:rPr lang="en-US" sz="2200" b="1" dirty="0"/>
                        <a:t>*2=2</a:t>
                      </a:r>
                      <a:r>
                        <a:rPr lang="en-US" sz="2200" b="1" baseline="30000" dirty="0"/>
                        <a:t>3</a:t>
                      </a:r>
                    </a:p>
                    <a:p>
                      <a:pPr algn="ctr"/>
                      <a:r>
                        <a:rPr lang="en-US" sz="2200" b="1" baseline="30000" dirty="0"/>
                        <a:t>.</a:t>
                      </a:r>
                    </a:p>
                    <a:p>
                      <a:pPr algn="ctr"/>
                      <a:r>
                        <a:rPr lang="en-US" sz="2200" b="1" baseline="30000" dirty="0"/>
                        <a:t>.</a:t>
                      </a:r>
                    </a:p>
                    <a:p>
                      <a:pPr algn="ctr"/>
                      <a:r>
                        <a:rPr lang="en-US" sz="2200" b="1" baseline="30000" dirty="0"/>
                        <a:t>.</a:t>
                      </a:r>
                    </a:p>
                    <a:p>
                      <a:pPr algn="ctr"/>
                      <a:r>
                        <a:rPr lang="en-US" sz="2200" b="1" baseline="30000" dirty="0"/>
                        <a:t>.</a:t>
                      </a:r>
                      <a:endParaRPr lang="en-US" sz="2200" b="1" dirty="0"/>
                    </a:p>
                  </a:txBody>
                  <a:tcPr marR="0" marT="0" marB="0"/>
                </a:tc>
                <a:extLst>
                  <a:ext uri="{0D108BD9-81ED-4DB2-BD59-A6C34878D82A}">
                    <a16:rowId xmlns:a16="http://schemas.microsoft.com/office/drawing/2014/main" val="15296153"/>
                  </a:ext>
                </a:extLst>
              </a:tr>
              <a:tr h="44871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2</a:t>
                      </a:r>
                      <a:r>
                        <a:rPr lang="en-US" sz="2200" b="1" baseline="30000" dirty="0"/>
                        <a:t>k</a:t>
                      </a:r>
                      <a:endParaRPr lang="en-US" sz="2200" b="1" dirty="0"/>
                    </a:p>
                  </a:txBody>
                  <a:tcPr marT="55321" marB="55321"/>
                </a:tc>
                <a:extLst>
                  <a:ext uri="{0D108BD9-81ED-4DB2-BD59-A6C34878D82A}">
                    <a16:rowId xmlns:a16="http://schemas.microsoft.com/office/drawing/2014/main" val="4266110040"/>
                  </a:ext>
                </a:extLst>
              </a:tr>
              <a:tr h="448716"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 marT="55321" marB="55321"/>
                </a:tc>
                <a:extLst>
                  <a:ext uri="{0D108BD9-81ED-4DB2-BD59-A6C34878D82A}">
                    <a16:rowId xmlns:a16="http://schemas.microsoft.com/office/drawing/2014/main" val="270183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2333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96804-7B86-422A-9B64-77421E377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 of Code Snippets(5)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BB8EB-2225-4C58-BCA8-F437926C7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7489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=n;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b="1" dirty="0"/>
              <a:t>≥ 1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=</a:t>
            </a:r>
            <a:r>
              <a:rPr lang="en-US" dirty="0" err="1"/>
              <a:t>i</a:t>
            </a:r>
            <a:r>
              <a:rPr lang="en-US" dirty="0"/>
              <a:t>/2)                      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stmt</a:t>
            </a:r>
            <a:r>
              <a:rPr lang="en-US" dirty="0"/>
              <a:t>;                                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b="1" dirty="0"/>
              <a:t>i </a:t>
            </a:r>
            <a:r>
              <a:rPr lang="en-US" dirty="0"/>
              <a:t>&lt;</a:t>
            </a:r>
            <a:r>
              <a:rPr lang="en-US" b="1" dirty="0"/>
              <a:t> 1</a:t>
            </a:r>
          </a:p>
          <a:p>
            <a:pPr marL="0" indent="0">
              <a:buNone/>
            </a:pPr>
            <a:r>
              <a:rPr lang="en-US" b="1" dirty="0"/>
              <a:t>n/2</a:t>
            </a:r>
            <a:r>
              <a:rPr lang="en-US" b="1" baseline="30000" dirty="0"/>
              <a:t>k </a:t>
            </a:r>
            <a:r>
              <a:rPr lang="en-US" dirty="0"/>
              <a:t>&lt; 1</a:t>
            </a:r>
            <a:endParaRPr lang="en-US" b="1" baseline="30000" dirty="0"/>
          </a:p>
          <a:p>
            <a:pPr marL="0" indent="0">
              <a:buNone/>
            </a:pPr>
            <a:r>
              <a:rPr lang="en-US" b="1" dirty="0"/>
              <a:t>n/2</a:t>
            </a:r>
            <a:r>
              <a:rPr lang="en-US" b="1" baseline="30000" dirty="0"/>
              <a:t>k </a:t>
            </a:r>
            <a:r>
              <a:rPr lang="en-US" b="1" dirty="0"/>
              <a:t> =</a:t>
            </a:r>
            <a:r>
              <a:rPr lang="en-US" dirty="0"/>
              <a:t> 1</a:t>
            </a:r>
          </a:p>
          <a:p>
            <a:pPr marL="0" indent="0">
              <a:buNone/>
            </a:pPr>
            <a:r>
              <a:rPr lang="en-US" b="1" dirty="0"/>
              <a:t>n=2</a:t>
            </a:r>
            <a:r>
              <a:rPr lang="en-US" b="1" baseline="30000" dirty="0"/>
              <a:t>k 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k = log</a:t>
            </a:r>
            <a:r>
              <a:rPr lang="en-US" b="1" baseline="-25000" dirty="0"/>
              <a:t>2</a:t>
            </a:r>
            <a:r>
              <a:rPr lang="en-US" b="1" dirty="0"/>
              <a:t>n</a:t>
            </a:r>
            <a:r>
              <a:rPr lang="en-US" dirty="0"/>
              <a:t> 	O(</a:t>
            </a:r>
            <a:r>
              <a:rPr lang="en-US" b="1" dirty="0"/>
              <a:t>log</a:t>
            </a:r>
            <a:r>
              <a:rPr lang="en-US" b="1" baseline="-25000" dirty="0"/>
              <a:t>2</a:t>
            </a:r>
            <a:r>
              <a:rPr lang="en-US" b="1" dirty="0"/>
              <a:t>n</a:t>
            </a:r>
            <a:r>
              <a:rPr lang="en-US" dirty="0"/>
              <a:t> )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6F9A4200-C983-4C21-B40C-08B4C78CD5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786097"/>
              </p:ext>
            </p:extLst>
          </p:nvPr>
        </p:nvGraphicFramePr>
        <p:xfrm>
          <a:off x="5359791" y="2010743"/>
          <a:ext cx="3151163" cy="44821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51163">
                  <a:extLst>
                    <a:ext uri="{9D8B030D-6E8A-4147-A177-3AD203B41FA5}">
                      <a16:colId xmlns:a16="http://schemas.microsoft.com/office/drawing/2014/main" val="4108818473"/>
                    </a:ext>
                  </a:extLst>
                </a:gridCol>
              </a:tblGrid>
              <a:tr h="44871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i</a:t>
                      </a:r>
                    </a:p>
                  </a:txBody>
                  <a:tcPr marT="55321" marB="55321"/>
                </a:tc>
                <a:extLst>
                  <a:ext uri="{0D108BD9-81ED-4DB2-BD59-A6C34878D82A}">
                    <a16:rowId xmlns:a16="http://schemas.microsoft.com/office/drawing/2014/main" val="238326777"/>
                  </a:ext>
                </a:extLst>
              </a:tr>
              <a:tr h="44871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n</a:t>
                      </a:r>
                    </a:p>
                  </a:txBody>
                  <a:tcPr marT="55321" marB="55321"/>
                </a:tc>
                <a:extLst>
                  <a:ext uri="{0D108BD9-81ED-4DB2-BD59-A6C34878D82A}">
                    <a16:rowId xmlns:a16="http://schemas.microsoft.com/office/drawing/2014/main" val="1132138043"/>
                  </a:ext>
                </a:extLst>
              </a:tr>
              <a:tr h="44871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err="1">
                          <a:solidFill>
                            <a:srgbClr val="FF0000"/>
                          </a:solidFill>
                        </a:rPr>
                        <a:t>i</a:t>
                      </a:r>
                      <a:r>
                        <a:rPr lang="en-US" sz="2200" b="1" dirty="0">
                          <a:solidFill>
                            <a:srgbClr val="FF0000"/>
                          </a:solidFill>
                        </a:rPr>
                        <a:t>/2</a:t>
                      </a:r>
                    </a:p>
                  </a:txBody>
                  <a:tcPr marT="55321" marB="55321"/>
                </a:tc>
                <a:extLst>
                  <a:ext uri="{0D108BD9-81ED-4DB2-BD59-A6C34878D82A}">
                    <a16:rowId xmlns:a16="http://schemas.microsoft.com/office/drawing/2014/main" val="4278220890"/>
                  </a:ext>
                </a:extLst>
              </a:tr>
              <a:tr h="44871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n/2 </a:t>
                      </a:r>
                    </a:p>
                  </a:txBody>
                  <a:tcPr marT="55321" marB="55321"/>
                </a:tc>
                <a:extLst>
                  <a:ext uri="{0D108BD9-81ED-4DB2-BD59-A6C34878D82A}">
                    <a16:rowId xmlns:a16="http://schemas.microsoft.com/office/drawing/2014/main" val="672503332"/>
                  </a:ext>
                </a:extLst>
              </a:tr>
              <a:tr h="44871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n/2</a:t>
                      </a:r>
                      <a:r>
                        <a:rPr lang="en-US" sz="2200" b="1" baseline="30000" dirty="0"/>
                        <a:t>2</a:t>
                      </a:r>
                      <a:endParaRPr lang="en-US" sz="2200" b="1" dirty="0"/>
                    </a:p>
                  </a:txBody>
                  <a:tcPr marT="55321" marB="55321"/>
                </a:tc>
                <a:extLst>
                  <a:ext uri="{0D108BD9-81ED-4DB2-BD59-A6C34878D82A}">
                    <a16:rowId xmlns:a16="http://schemas.microsoft.com/office/drawing/2014/main" val="2857822799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n/2</a:t>
                      </a:r>
                      <a:r>
                        <a:rPr lang="en-US" sz="2200" b="1" baseline="30000" dirty="0"/>
                        <a:t>3</a:t>
                      </a:r>
                    </a:p>
                    <a:p>
                      <a:pPr algn="ctr"/>
                      <a:r>
                        <a:rPr lang="en-US" sz="2200" b="1" baseline="30000" dirty="0"/>
                        <a:t>.</a:t>
                      </a:r>
                    </a:p>
                    <a:p>
                      <a:pPr algn="ctr"/>
                      <a:r>
                        <a:rPr lang="en-US" sz="2200" b="1" baseline="30000" dirty="0"/>
                        <a:t>.</a:t>
                      </a:r>
                    </a:p>
                    <a:p>
                      <a:pPr algn="ctr"/>
                      <a:r>
                        <a:rPr lang="en-US" sz="2200" b="1" baseline="30000" dirty="0"/>
                        <a:t>.</a:t>
                      </a:r>
                    </a:p>
                    <a:p>
                      <a:pPr algn="ctr"/>
                      <a:r>
                        <a:rPr lang="en-US" sz="2200" b="1" baseline="30000" dirty="0"/>
                        <a:t>.</a:t>
                      </a:r>
                      <a:endParaRPr lang="en-US" sz="2200" b="1" dirty="0"/>
                    </a:p>
                  </a:txBody>
                  <a:tcPr marR="0" marT="0" marB="0"/>
                </a:tc>
                <a:extLst>
                  <a:ext uri="{0D108BD9-81ED-4DB2-BD59-A6C34878D82A}">
                    <a16:rowId xmlns:a16="http://schemas.microsoft.com/office/drawing/2014/main" val="15296153"/>
                  </a:ext>
                </a:extLst>
              </a:tr>
              <a:tr h="44871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n/2</a:t>
                      </a:r>
                      <a:r>
                        <a:rPr lang="en-US" sz="2200" b="1" baseline="30000" dirty="0"/>
                        <a:t>k</a:t>
                      </a:r>
                      <a:endParaRPr lang="en-US" sz="2200" b="1" dirty="0"/>
                    </a:p>
                  </a:txBody>
                  <a:tcPr marT="55321" marB="55321"/>
                </a:tc>
                <a:extLst>
                  <a:ext uri="{0D108BD9-81ED-4DB2-BD59-A6C34878D82A}">
                    <a16:rowId xmlns:a16="http://schemas.microsoft.com/office/drawing/2014/main" val="4266110040"/>
                  </a:ext>
                </a:extLst>
              </a:tr>
              <a:tr h="448716"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 marT="55321" marB="55321"/>
                </a:tc>
                <a:extLst>
                  <a:ext uri="{0D108BD9-81ED-4DB2-BD59-A6C34878D82A}">
                    <a16:rowId xmlns:a16="http://schemas.microsoft.com/office/drawing/2014/main" val="270183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8331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E2282-4E21-427C-9B24-6C11036E6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 of Code Snippets(6)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B13F0-3313-4978-8C58-D419AA4E0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&lt;n; </a:t>
            </a:r>
            <a:r>
              <a:rPr lang="en-US" dirty="0" err="1"/>
              <a:t>i</a:t>
            </a:r>
            <a:r>
              <a:rPr lang="en-US" dirty="0"/>
              <a:t>=</a:t>
            </a:r>
            <a:r>
              <a:rPr lang="en-US" dirty="0" err="1"/>
              <a:t>i</a:t>
            </a:r>
            <a:r>
              <a:rPr lang="en-US" dirty="0"/>
              <a:t>*2)                        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stmt</a:t>
            </a:r>
            <a:r>
              <a:rPr lang="en-US" dirty="0"/>
              <a:t>;                               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5AB902-2198-4BCB-AFA9-A2D71FBA0662}"/>
              </a:ext>
            </a:extLst>
          </p:cNvPr>
          <p:cNvSpPr/>
          <p:nvPr/>
        </p:nvSpPr>
        <p:spPr>
          <a:xfrm>
            <a:off x="5556738" y="2504049"/>
            <a:ext cx="3460653" cy="227896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600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58987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82A53-6452-4FBE-84C5-EA48B4D92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49830-1094-4121-8D64-5805254E1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&lt;n;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&lt;n; </a:t>
            </a:r>
            <a:r>
              <a:rPr lang="en-US" dirty="0" err="1"/>
              <a:t>i</a:t>
            </a:r>
            <a:r>
              <a:rPr lang="en-US" dirty="0"/>
              <a:t>=i+2)</a:t>
            </a:r>
          </a:p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=n; </a:t>
            </a:r>
            <a:r>
              <a:rPr lang="en-US" dirty="0" err="1"/>
              <a:t>i</a:t>
            </a:r>
            <a:r>
              <a:rPr lang="en-US" dirty="0"/>
              <a:t> &gt;1; </a:t>
            </a:r>
            <a:r>
              <a:rPr lang="en-US" dirty="0" err="1"/>
              <a:t>i</a:t>
            </a:r>
            <a:r>
              <a:rPr lang="en-US" dirty="0"/>
              <a:t>--)</a:t>
            </a:r>
          </a:p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 &lt;n; </a:t>
            </a:r>
            <a:r>
              <a:rPr lang="en-US" dirty="0" err="1"/>
              <a:t>i</a:t>
            </a:r>
            <a:r>
              <a:rPr lang="en-US" dirty="0"/>
              <a:t>=</a:t>
            </a:r>
            <a:r>
              <a:rPr lang="en-US" dirty="0" err="1"/>
              <a:t>i</a:t>
            </a:r>
            <a:r>
              <a:rPr lang="en-US" dirty="0"/>
              <a:t>*2)</a:t>
            </a:r>
          </a:p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 &lt;n; </a:t>
            </a:r>
            <a:r>
              <a:rPr lang="en-US" dirty="0" err="1"/>
              <a:t>i</a:t>
            </a:r>
            <a:r>
              <a:rPr lang="en-US" dirty="0"/>
              <a:t>=</a:t>
            </a:r>
            <a:r>
              <a:rPr lang="en-US" dirty="0" err="1"/>
              <a:t>i</a:t>
            </a:r>
            <a:r>
              <a:rPr lang="en-US" dirty="0"/>
              <a:t>*3)</a:t>
            </a:r>
          </a:p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=n; </a:t>
            </a:r>
            <a:r>
              <a:rPr lang="en-US" dirty="0" err="1"/>
              <a:t>i</a:t>
            </a:r>
            <a:r>
              <a:rPr lang="en-US" dirty="0"/>
              <a:t>&gt;1; </a:t>
            </a:r>
            <a:r>
              <a:rPr lang="en-US" dirty="0" err="1"/>
              <a:t>i</a:t>
            </a:r>
            <a:r>
              <a:rPr lang="en-US" dirty="0"/>
              <a:t>=</a:t>
            </a:r>
            <a:r>
              <a:rPr lang="en-US" dirty="0" err="1"/>
              <a:t>i</a:t>
            </a:r>
            <a:r>
              <a:rPr lang="en-US" dirty="0"/>
              <a:t>/2)</a:t>
            </a:r>
          </a:p>
          <a:p>
            <a:pPr marL="0" indent="0">
              <a:buNone/>
            </a:pPr>
            <a:r>
              <a:rPr lang="en-US" dirty="0"/>
              <a:t>                        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4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5547D-06E9-4322-8378-E6671E877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24327"/>
          </a:xfrm>
        </p:spPr>
        <p:txBody>
          <a:bodyPr/>
          <a:lstStyle/>
          <a:p>
            <a:pPr algn="ctr"/>
            <a:r>
              <a:rPr lang="en-US"/>
              <a:t>Thanks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777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444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Time Complexity of Different Code Snippets</vt:lpstr>
      <vt:lpstr>Time Complexity of Code Snippets(1)</vt:lpstr>
      <vt:lpstr>Time Complexity of Code Snippets(2)</vt:lpstr>
      <vt:lpstr>Time Complexity of Code Snippets(3)</vt:lpstr>
      <vt:lpstr>Time Complexity of Code Snippets(4)</vt:lpstr>
      <vt:lpstr>Time Complexity of Code Snippets(5)</vt:lpstr>
      <vt:lpstr>Time Complexity of Code Snippets(6)</vt:lpstr>
      <vt:lpstr>Time complexity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Asymptotic Analysis and Time Complexity</dc:title>
  <dc:creator>Mariha</dc:creator>
  <cp:lastModifiedBy>Mariha Asad</cp:lastModifiedBy>
  <cp:revision>95</cp:revision>
  <dcterms:created xsi:type="dcterms:W3CDTF">2020-11-02T03:17:20Z</dcterms:created>
  <dcterms:modified xsi:type="dcterms:W3CDTF">2021-11-02T07:13:55Z</dcterms:modified>
</cp:coreProperties>
</file>