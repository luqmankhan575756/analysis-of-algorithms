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57" r:id="rId3"/>
    <p:sldId id="266" r:id="rId4"/>
    <p:sldId id="258" r:id="rId5"/>
    <p:sldId id="259" r:id="rId6"/>
    <p:sldId id="260" r:id="rId7"/>
    <p:sldId id="271" r:id="rId8"/>
    <p:sldId id="267" r:id="rId9"/>
    <p:sldId id="268" r:id="rId10"/>
    <p:sldId id="261" r:id="rId11"/>
    <p:sldId id="262" r:id="rId12"/>
    <p:sldId id="269" r:id="rId13"/>
    <p:sldId id="272" r:id="rId14"/>
    <p:sldId id="263" r:id="rId15"/>
    <p:sldId id="264" r:id="rId16"/>
    <p:sldId id="265"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0" d="100"/>
          <a:sy n="80" d="100"/>
        </p:scale>
        <p:origin x="111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12-22T14:19:02.074"/>
    </inkml:context>
    <inkml:brush xml:id="br0">
      <inkml:brushProperty name="width" value="0.2" units="cm"/>
      <inkml:brushProperty name="height" value="0.2" units="cm"/>
      <inkml:brushProperty name="color" value="#E71224"/>
      <inkml:brushProperty name="ignorePressure" value="1"/>
    </inkml:brush>
  </inkml:definitions>
  <inkml:trace contextRef="#ctx0" brushRef="#br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93B09A0-DBEC-4E6B-9C92-5185BF9F700F}" type="datetimeFigureOut">
              <a:rPr lang="en-US" smtClean="0"/>
              <a:t>11/16/2021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F1ADF89-BEC0-4BD3-B46D-2DE417EC39A5}" type="slidenum">
              <a:rPr lang="en-US" smtClean="0"/>
              <a:t>‹#›</a:t>
            </a:fld>
            <a:endParaRPr lang="en-US"/>
          </a:p>
        </p:txBody>
      </p:sp>
    </p:spTree>
    <p:extLst>
      <p:ext uri="{BB962C8B-B14F-4D97-AF65-F5344CB8AC3E}">
        <p14:creationId xmlns:p14="http://schemas.microsoft.com/office/powerpoint/2010/main" val="39748665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F1ADF89-BEC0-4BD3-B46D-2DE417EC39A5}" type="slidenum">
              <a:rPr lang="en-US" smtClean="0"/>
              <a:t>10</a:t>
            </a:fld>
            <a:endParaRPr lang="en-US"/>
          </a:p>
        </p:txBody>
      </p:sp>
    </p:spTree>
    <p:extLst>
      <p:ext uri="{BB962C8B-B14F-4D97-AF65-F5344CB8AC3E}">
        <p14:creationId xmlns:p14="http://schemas.microsoft.com/office/powerpoint/2010/main" val="711026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11/16/2021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219200"/>
            <a:ext cx="7772400" cy="1470025"/>
          </a:xfrm>
        </p:spPr>
        <p:txBody>
          <a:bodyPr/>
          <a:lstStyle/>
          <a:p>
            <a:r>
              <a:rPr lang="en-US" dirty="0"/>
              <a:t>Recursion</a:t>
            </a:r>
          </a:p>
        </p:txBody>
      </p:sp>
      <p:sp>
        <p:nvSpPr>
          <p:cNvPr id="3" name="Subtitle 2"/>
          <p:cNvSpPr>
            <a:spLocks noGrp="1"/>
          </p:cNvSpPr>
          <p:nvPr>
            <p:ph type="subTitle" idx="1"/>
          </p:nvPr>
        </p:nvSpPr>
        <p:spPr>
          <a:xfrm>
            <a:off x="1219200" y="2895600"/>
            <a:ext cx="6400800" cy="1752600"/>
          </a:xfrm>
        </p:spPr>
        <p:txBody>
          <a:bodyPr/>
          <a:lstStyle/>
          <a:p>
            <a:r>
              <a:rPr lang="en-US" dirty="0"/>
              <a:t>Analysis of Algorithms</a:t>
            </a:r>
          </a:p>
          <a:p>
            <a:r>
              <a:rPr lang="en-US" dirty="0" err="1"/>
              <a:t>Mariha</a:t>
            </a:r>
            <a:r>
              <a:rPr lang="en-US" dirty="0"/>
              <a:t> </a:t>
            </a:r>
            <a:r>
              <a:rPr lang="en-US" dirty="0" err="1"/>
              <a:t>Asad</a:t>
            </a:r>
            <a:endParaRPr lang="en-US" dirty="0"/>
          </a:p>
        </p:txBody>
      </p:sp>
    </p:spTree>
    <p:extLst>
      <p:ext uri="{BB962C8B-B14F-4D97-AF65-F5344CB8AC3E}">
        <p14:creationId xmlns:p14="http://schemas.microsoft.com/office/powerpoint/2010/main" val="4253748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p>
        </p:txBody>
      </p:sp>
      <p:sp>
        <p:nvSpPr>
          <p:cNvPr id="3" name="Content Placeholder 2"/>
          <p:cNvSpPr>
            <a:spLocks noGrp="1"/>
          </p:cNvSpPr>
          <p:nvPr>
            <p:ph idx="1"/>
          </p:nvPr>
        </p:nvSpPr>
        <p:spPr/>
        <p:txBody>
          <a:bodyPr/>
          <a:lstStyle/>
          <a:p>
            <a:r>
              <a:rPr lang="en-US" dirty="0"/>
              <a:t>It is method of solving a problem</a:t>
            </a:r>
          </a:p>
          <a:p>
            <a:r>
              <a:rPr lang="en-US" dirty="0"/>
              <a:t>Problem can be divided into small instances of itself</a:t>
            </a:r>
          </a:p>
        </p:txBody>
      </p:sp>
    </p:spTree>
    <p:extLst>
      <p:ext uri="{BB962C8B-B14F-4D97-AF65-F5344CB8AC3E}">
        <p14:creationId xmlns:p14="http://schemas.microsoft.com/office/powerpoint/2010/main" val="2958193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Recursion</a:t>
            </a:r>
          </a:p>
        </p:txBody>
      </p:sp>
      <p:sp>
        <p:nvSpPr>
          <p:cNvPr id="3" name="Content Placeholder 2"/>
          <p:cNvSpPr>
            <a:spLocks noGrp="1"/>
          </p:cNvSpPr>
          <p:nvPr>
            <p:ph idx="1"/>
          </p:nvPr>
        </p:nvSpPr>
        <p:spPr/>
        <p:txBody>
          <a:bodyPr/>
          <a:lstStyle/>
          <a:p>
            <a:r>
              <a:rPr lang="en-US" dirty="0"/>
              <a:t>A problem which can solve by iteration can also be done using recursion</a:t>
            </a:r>
          </a:p>
          <a:p>
            <a:r>
              <a:rPr lang="en-US" dirty="0"/>
              <a:t>It is easy to understand</a:t>
            </a:r>
          </a:p>
          <a:p>
            <a:r>
              <a:rPr lang="en-US" dirty="0"/>
              <a:t>It is useful when equivalent iterative solution is too complex</a:t>
            </a:r>
          </a:p>
          <a:p>
            <a:r>
              <a:rPr lang="en-US" dirty="0"/>
              <a:t>It takes large memory as compare to iterative solution</a:t>
            </a:r>
          </a:p>
          <a:p>
            <a:r>
              <a:rPr lang="en-US" dirty="0"/>
              <a:t> Overhead of calls (Call Stack)</a:t>
            </a:r>
          </a:p>
        </p:txBody>
      </p:sp>
    </p:spTree>
    <p:extLst>
      <p:ext uri="{BB962C8B-B14F-4D97-AF65-F5344CB8AC3E}">
        <p14:creationId xmlns:p14="http://schemas.microsoft.com/office/powerpoint/2010/main" val="2833564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Method</a:t>
            </a:r>
          </a:p>
        </p:txBody>
      </p:sp>
      <p:sp>
        <p:nvSpPr>
          <p:cNvPr id="3" name="Content Placeholder 2"/>
          <p:cNvSpPr>
            <a:spLocks noGrp="1"/>
          </p:cNvSpPr>
          <p:nvPr>
            <p:ph idx="1"/>
          </p:nvPr>
        </p:nvSpPr>
        <p:spPr/>
        <p:txBody>
          <a:bodyPr/>
          <a:lstStyle/>
          <a:p>
            <a:r>
              <a:rPr lang="en-US" dirty="0"/>
              <a:t>A function calls itself</a:t>
            </a:r>
          </a:p>
          <a:p>
            <a:r>
              <a:rPr lang="en-US" dirty="0"/>
              <a:t>There are two parts of recursive method</a:t>
            </a:r>
          </a:p>
          <a:p>
            <a:pPr marL="0" indent="0">
              <a:buNone/>
            </a:pPr>
            <a:r>
              <a:rPr lang="en-US" dirty="0"/>
              <a:t>			Base case</a:t>
            </a:r>
          </a:p>
          <a:p>
            <a:pPr marL="0" indent="0">
              <a:buNone/>
            </a:pPr>
            <a:r>
              <a:rPr lang="en-US" dirty="0"/>
              <a:t>			Recursive case</a:t>
            </a:r>
          </a:p>
        </p:txBody>
      </p:sp>
    </p:spTree>
    <p:extLst>
      <p:ext uri="{BB962C8B-B14F-4D97-AF65-F5344CB8AC3E}">
        <p14:creationId xmlns:p14="http://schemas.microsoft.com/office/powerpoint/2010/main" val="260874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Method</a:t>
            </a:r>
          </a:p>
        </p:txBody>
      </p:sp>
      <p:sp>
        <p:nvSpPr>
          <p:cNvPr id="3" name="Content Placeholder 2"/>
          <p:cNvSpPr>
            <a:spLocks noGrp="1"/>
          </p:cNvSpPr>
          <p:nvPr>
            <p:ph idx="1"/>
          </p:nvPr>
        </p:nvSpPr>
        <p:spPr/>
        <p:txBody>
          <a:bodyPr/>
          <a:lstStyle/>
          <a:p>
            <a:pPr marL="0" indent="0">
              <a:buNone/>
            </a:pPr>
            <a:r>
              <a:rPr lang="en-US" dirty="0"/>
              <a:t>Base Case : </a:t>
            </a:r>
          </a:p>
          <a:p>
            <a:pPr marL="0" indent="0">
              <a:buNone/>
            </a:pPr>
            <a:r>
              <a:rPr lang="en-US" dirty="0"/>
              <a:t>	It is a condition at which recursion 	terminates.</a:t>
            </a:r>
          </a:p>
          <a:p>
            <a:pPr marL="0" indent="0">
              <a:buNone/>
            </a:pPr>
            <a:endParaRPr lang="en-US" dirty="0"/>
          </a:p>
          <a:p>
            <a:pPr marL="0" indent="0">
              <a:buNone/>
            </a:pPr>
            <a:r>
              <a:rPr lang="en-US" dirty="0"/>
              <a:t>	It is simple solution (equation, return </a:t>
            </a:r>
            <a:r>
              <a:rPr lang="en-US" dirty="0" err="1"/>
              <a:t>etc</a:t>
            </a:r>
            <a:r>
              <a:rPr lang="en-US" dirty="0"/>
              <a:t>)</a:t>
            </a:r>
          </a:p>
        </p:txBody>
      </p:sp>
    </p:spTree>
    <p:extLst>
      <p:ext uri="{BB962C8B-B14F-4D97-AF65-F5344CB8AC3E}">
        <p14:creationId xmlns:p14="http://schemas.microsoft.com/office/powerpoint/2010/main" val="1698594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Recursive Method</a:t>
            </a:r>
          </a:p>
        </p:txBody>
      </p:sp>
      <p:sp>
        <p:nvSpPr>
          <p:cNvPr id="3" name="Content Placeholder 2"/>
          <p:cNvSpPr>
            <a:spLocks noGrp="1"/>
          </p:cNvSpPr>
          <p:nvPr>
            <p:ph idx="1"/>
          </p:nvPr>
        </p:nvSpPr>
        <p:spPr/>
        <p:txBody>
          <a:bodyPr/>
          <a:lstStyle/>
          <a:p>
            <a:pPr marL="0" indent="0">
              <a:buNone/>
            </a:pPr>
            <a:r>
              <a:rPr lang="en-US" dirty="0"/>
              <a:t>Recursive Case:</a:t>
            </a:r>
          </a:p>
          <a:p>
            <a:pPr marL="0" indent="0">
              <a:buNone/>
            </a:pPr>
            <a:r>
              <a:rPr lang="en-US" dirty="0"/>
              <a:t>	It is calling of function itself.</a:t>
            </a:r>
          </a:p>
        </p:txBody>
      </p:sp>
    </p:spTree>
    <p:extLst>
      <p:ext uri="{BB962C8B-B14F-4D97-AF65-F5344CB8AC3E}">
        <p14:creationId xmlns:p14="http://schemas.microsoft.com/office/powerpoint/2010/main" val="32994864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B7B6E-D564-4D05-9E8D-00A31BBC22FA}"/>
              </a:ext>
            </a:extLst>
          </p:cNvPr>
          <p:cNvSpPr>
            <a:spLocks noGrp="1"/>
          </p:cNvSpPr>
          <p:nvPr>
            <p:ph type="title"/>
          </p:nvPr>
        </p:nvSpPr>
        <p:spPr/>
        <p:txBody>
          <a:bodyPr/>
          <a:lstStyle/>
          <a:p>
            <a:r>
              <a:rPr lang="en-US" dirty="0"/>
              <a:t>Call Stack</a:t>
            </a:r>
          </a:p>
        </p:txBody>
      </p:sp>
      <p:sp>
        <p:nvSpPr>
          <p:cNvPr id="3" name="Content Placeholder 2">
            <a:extLst>
              <a:ext uri="{FF2B5EF4-FFF2-40B4-BE49-F238E27FC236}">
                <a16:creationId xmlns:a16="http://schemas.microsoft.com/office/drawing/2014/main" id="{4E6D82AF-C602-4F35-B9FB-82BEBB2AD143}"/>
              </a:ext>
            </a:extLst>
          </p:cNvPr>
          <p:cNvSpPr>
            <a:spLocks noGrp="1"/>
          </p:cNvSpPr>
          <p:nvPr>
            <p:ph idx="1"/>
          </p:nvPr>
        </p:nvSpPr>
        <p:spPr/>
        <p:txBody>
          <a:bodyPr/>
          <a:lstStyle/>
          <a:p>
            <a:pPr marL="0" indent="0">
              <a:buNone/>
            </a:pPr>
            <a:r>
              <a:rPr lang="en-US" dirty="0">
                <a:solidFill>
                  <a:srgbClr val="202122"/>
                </a:solidFill>
                <a:latin typeface="Arial" panose="020B0604020202020204" pitchFamily="34" charset="0"/>
              </a:rPr>
              <a:t>T</a:t>
            </a:r>
            <a:r>
              <a:rPr lang="en-US" b="0" i="0" dirty="0">
                <a:solidFill>
                  <a:srgbClr val="202122"/>
                </a:solidFill>
                <a:effectLst/>
                <a:latin typeface="Arial" panose="020B0604020202020204" pitchFamily="34" charset="0"/>
              </a:rPr>
              <a:t>he main reason for having call stack is to keep track of the point to which each active subroutine(function call) should return control when it finishes executing. An active subroutine is one that has been called, but is yet to complete execution, after which control should be handed back to the point of call.</a:t>
            </a:r>
            <a:endParaRPr lang="en-US" dirty="0"/>
          </a:p>
        </p:txBody>
      </p:sp>
    </p:spTree>
    <p:extLst>
      <p:ext uri="{BB962C8B-B14F-4D97-AF65-F5344CB8AC3E}">
        <p14:creationId xmlns:p14="http://schemas.microsoft.com/office/powerpoint/2010/main" val="5273413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901C-313D-4FA1-B0C6-0A703C105A06}"/>
              </a:ext>
            </a:extLst>
          </p:cNvPr>
          <p:cNvSpPr>
            <a:spLocks noGrp="1"/>
          </p:cNvSpPr>
          <p:nvPr>
            <p:ph type="title"/>
          </p:nvPr>
        </p:nvSpPr>
        <p:spPr/>
        <p:txBody>
          <a:bodyPr/>
          <a:lstStyle/>
          <a:p>
            <a:r>
              <a:rPr lang="en-US" dirty="0"/>
              <a:t>Display Character n Times</a:t>
            </a:r>
          </a:p>
        </p:txBody>
      </p:sp>
      <p:sp>
        <p:nvSpPr>
          <p:cNvPr id="3" name="Content Placeholder 2">
            <a:extLst>
              <a:ext uri="{FF2B5EF4-FFF2-40B4-BE49-F238E27FC236}">
                <a16:creationId xmlns:a16="http://schemas.microsoft.com/office/drawing/2014/main" id="{25C9BD6D-E490-4E46-80FA-24CBDB60D5D6}"/>
              </a:ext>
            </a:extLst>
          </p:cNvPr>
          <p:cNvSpPr>
            <a:spLocks noGrp="1"/>
          </p:cNvSpPr>
          <p:nvPr>
            <p:ph idx="1"/>
          </p:nvPr>
        </p:nvSpPr>
        <p:spPr/>
        <p:txBody>
          <a:bodyPr/>
          <a:lstStyle/>
          <a:p>
            <a:pPr marL="0" indent="0">
              <a:buNone/>
            </a:pPr>
            <a:r>
              <a:rPr lang="en-US" dirty="0"/>
              <a:t>void </a:t>
            </a:r>
            <a:r>
              <a:rPr lang="en-US" dirty="0" err="1"/>
              <a:t>printcharacter</a:t>
            </a:r>
            <a:r>
              <a:rPr lang="en-US" dirty="0"/>
              <a:t>(char </a:t>
            </a:r>
            <a:r>
              <a:rPr lang="en-US" dirty="0" err="1"/>
              <a:t>ch</a:t>
            </a:r>
            <a:r>
              <a:rPr lang="en-US" dirty="0"/>
              <a:t>, int n)</a:t>
            </a:r>
          </a:p>
          <a:p>
            <a:pPr marL="0" indent="0">
              <a:buNone/>
            </a:pPr>
            <a:r>
              <a:rPr lang="en-US" dirty="0"/>
              <a:t>{</a:t>
            </a:r>
          </a:p>
          <a:p>
            <a:pPr marL="0" indent="0">
              <a:buNone/>
            </a:pPr>
            <a:r>
              <a:rPr lang="en-US" dirty="0"/>
              <a:t>	if(n==0)</a:t>
            </a:r>
          </a:p>
          <a:p>
            <a:pPr marL="0" indent="0">
              <a:buNone/>
            </a:pPr>
            <a:r>
              <a:rPr lang="en-US" dirty="0"/>
              <a:t>	return;</a:t>
            </a:r>
          </a:p>
          <a:p>
            <a:pPr marL="0" indent="0">
              <a:buNone/>
            </a:pPr>
            <a:r>
              <a:rPr lang="en-US" dirty="0"/>
              <a:t>	 </a:t>
            </a:r>
            <a:r>
              <a:rPr lang="en-US" dirty="0" err="1"/>
              <a:t>printcharacter</a:t>
            </a:r>
            <a:r>
              <a:rPr lang="en-US" dirty="0"/>
              <a:t>(</a:t>
            </a:r>
            <a:r>
              <a:rPr lang="en-US" dirty="0" err="1"/>
              <a:t>ch</a:t>
            </a:r>
            <a:r>
              <a:rPr lang="en-US" dirty="0"/>
              <a:t>, n-1)</a:t>
            </a:r>
          </a:p>
          <a:p>
            <a:pPr marL="0" indent="0">
              <a:buNone/>
            </a:pPr>
            <a:r>
              <a:rPr lang="en-US" dirty="0"/>
              <a:t>	</a:t>
            </a:r>
            <a:r>
              <a:rPr lang="en-US" dirty="0" err="1"/>
              <a:t>cout</a:t>
            </a:r>
            <a:r>
              <a:rPr lang="en-US" dirty="0"/>
              <a:t> &lt;&lt; </a:t>
            </a:r>
            <a:r>
              <a:rPr lang="en-US" dirty="0" err="1"/>
              <a:t>ch</a:t>
            </a:r>
            <a:r>
              <a:rPr lang="en-US" dirty="0"/>
              <a:t>;</a:t>
            </a:r>
          </a:p>
          <a:p>
            <a:pPr marL="0" indent="0">
              <a:buNone/>
            </a:pPr>
            <a:r>
              <a:rPr lang="en-US" dirty="0"/>
              <a:t>}</a:t>
            </a:r>
          </a:p>
        </p:txBody>
      </p:sp>
    </p:spTree>
    <p:extLst>
      <p:ext uri="{BB962C8B-B14F-4D97-AF65-F5344CB8AC3E}">
        <p14:creationId xmlns:p14="http://schemas.microsoft.com/office/powerpoint/2010/main" val="3193258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Effect transition="in" filter="fade">
                                      <p:cBhvr>
                                        <p:cTn id="19" dur="1000"/>
                                        <p:tgtEl>
                                          <p:spTgt spid="3">
                                            <p:txEl>
                                              <p:pRg st="1" end="1"/>
                                            </p:txEl>
                                          </p:spTgt>
                                        </p:tgtEl>
                                      </p:cBhvr>
                                    </p:animEffect>
                                    <p:anim calcmode="lin" valueType="num">
                                      <p:cBhvr>
                                        <p:cTn id="20"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3" end="3"/>
                                            </p:txEl>
                                          </p:spTgt>
                                        </p:tgtEl>
                                        <p:attrNameLst>
                                          <p:attrName>style.visibility</p:attrName>
                                        </p:attrNameLst>
                                      </p:cBhvr>
                                      <p:to>
                                        <p:strVal val="visible"/>
                                      </p:to>
                                    </p:set>
                                    <p:animEffect transition="in" filter="fade">
                                      <p:cBhvr>
                                        <p:cTn id="29" dur="1000"/>
                                        <p:tgtEl>
                                          <p:spTgt spid="3">
                                            <p:txEl>
                                              <p:pRg st="3" end="3"/>
                                            </p:txEl>
                                          </p:spTgt>
                                        </p:tgtEl>
                                      </p:cBhvr>
                                    </p:animEffect>
                                    <p:anim calcmode="lin" valueType="num">
                                      <p:cBhvr>
                                        <p:cTn id="30"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4" end="4"/>
                                            </p:txEl>
                                          </p:spTgt>
                                        </p:tgtEl>
                                        <p:attrNameLst>
                                          <p:attrName>style.visibility</p:attrName>
                                        </p:attrNameLst>
                                      </p:cBhvr>
                                      <p:to>
                                        <p:strVal val="visible"/>
                                      </p:to>
                                    </p:set>
                                    <p:animEffect transition="in" filter="fade">
                                      <p:cBhvr>
                                        <p:cTn id="34" dur="1000"/>
                                        <p:tgtEl>
                                          <p:spTgt spid="3">
                                            <p:txEl>
                                              <p:pRg st="4" end="4"/>
                                            </p:txEl>
                                          </p:spTgt>
                                        </p:tgtEl>
                                      </p:cBhvr>
                                    </p:animEffect>
                                    <p:anim calcmode="lin" valueType="num">
                                      <p:cBhvr>
                                        <p:cTn id="3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animEffect transition="in" filter="fade">
                                      <p:cBhvr>
                                        <p:cTn id="39" dur="1000"/>
                                        <p:tgtEl>
                                          <p:spTgt spid="3">
                                            <p:txEl>
                                              <p:pRg st="5" end="5"/>
                                            </p:txEl>
                                          </p:spTgt>
                                        </p:tgtEl>
                                      </p:cBhvr>
                                    </p:animEffect>
                                    <p:anim calcmode="lin" valueType="num">
                                      <p:cBhvr>
                                        <p:cTn id="4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3">
                                            <p:txEl>
                                              <p:pRg st="6" end="6"/>
                                            </p:txEl>
                                          </p:spTgt>
                                        </p:tgtEl>
                                        <p:attrNameLst>
                                          <p:attrName>style.visibility</p:attrName>
                                        </p:attrNameLst>
                                      </p:cBhvr>
                                      <p:to>
                                        <p:strVal val="visible"/>
                                      </p:to>
                                    </p:set>
                                    <p:animEffect transition="in" filter="fade">
                                      <p:cBhvr>
                                        <p:cTn id="44" dur="1000"/>
                                        <p:tgtEl>
                                          <p:spTgt spid="3">
                                            <p:txEl>
                                              <p:pRg st="6" end="6"/>
                                            </p:txEl>
                                          </p:spTgt>
                                        </p:tgtEl>
                                      </p:cBhvr>
                                    </p:animEffect>
                                    <p:anim calcmode="lin" valueType="num">
                                      <p:cBhvr>
                                        <p:cTn id="4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Display Character n Times (Call Stack)</a:t>
            </a:r>
          </a:p>
        </p:txBody>
      </p:sp>
      <p:sp>
        <p:nvSpPr>
          <p:cNvPr id="3" name="Content Placeholder 2"/>
          <p:cNvSpPr>
            <a:spLocks noGrp="1"/>
          </p:cNvSpPr>
          <p:nvPr>
            <p:ph idx="1"/>
          </p:nvPr>
        </p:nvSpPr>
        <p:spPr>
          <a:xfrm>
            <a:off x="381000" y="1166018"/>
            <a:ext cx="8534400" cy="5539582"/>
          </a:xfrm>
        </p:spPr>
        <p:txBody>
          <a:bodyPr/>
          <a:lstStyle/>
          <a:p>
            <a:pPr marL="0" indent="0">
              <a:buNone/>
            </a:pPr>
            <a:endParaRPr lang="en-US" dirty="0"/>
          </a:p>
        </p:txBody>
      </p:sp>
      <p:sp>
        <p:nvSpPr>
          <p:cNvPr id="4" name="Rectangle 3"/>
          <p:cNvSpPr/>
          <p:nvPr/>
        </p:nvSpPr>
        <p:spPr>
          <a:xfrm>
            <a:off x="1219200" y="12954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print (</a:t>
            </a:r>
            <a:r>
              <a:rPr lang="en-US" dirty="0" err="1">
                <a:solidFill>
                  <a:schemeClr val="tx1"/>
                </a:solidFill>
              </a:rPr>
              <a:t>ch</a:t>
            </a:r>
            <a:r>
              <a:rPr lang="en-US" dirty="0">
                <a:solidFill>
                  <a:schemeClr val="tx1"/>
                </a:solidFill>
              </a:rPr>
              <a:t>, 4 )</a:t>
            </a:r>
          </a:p>
        </p:txBody>
      </p:sp>
      <p:sp>
        <p:nvSpPr>
          <p:cNvPr id="6" name="Rectangle 5"/>
          <p:cNvSpPr/>
          <p:nvPr/>
        </p:nvSpPr>
        <p:spPr>
          <a:xfrm>
            <a:off x="3429000" y="45720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print (</a:t>
            </a:r>
            <a:r>
              <a:rPr lang="en-US" dirty="0" err="1">
                <a:solidFill>
                  <a:schemeClr val="tx1"/>
                </a:solidFill>
              </a:rPr>
              <a:t>ch</a:t>
            </a:r>
            <a:r>
              <a:rPr lang="en-US" dirty="0">
                <a:solidFill>
                  <a:schemeClr val="tx1"/>
                </a:solidFill>
              </a:rPr>
              <a:t>, 1 )</a:t>
            </a:r>
            <a:endParaRPr lang="en-US" dirty="0"/>
          </a:p>
        </p:txBody>
      </p:sp>
      <p:sp>
        <p:nvSpPr>
          <p:cNvPr id="7" name="Rectangle 6"/>
          <p:cNvSpPr/>
          <p:nvPr/>
        </p:nvSpPr>
        <p:spPr>
          <a:xfrm>
            <a:off x="2743200" y="34290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print (</a:t>
            </a:r>
            <a:r>
              <a:rPr lang="en-US" dirty="0" err="1">
                <a:solidFill>
                  <a:schemeClr val="tx1"/>
                </a:solidFill>
              </a:rPr>
              <a:t>ch</a:t>
            </a:r>
            <a:r>
              <a:rPr lang="en-US" dirty="0">
                <a:solidFill>
                  <a:schemeClr val="tx1"/>
                </a:solidFill>
              </a:rPr>
              <a:t>, 2 )</a:t>
            </a:r>
            <a:endParaRPr lang="en-US" dirty="0"/>
          </a:p>
        </p:txBody>
      </p:sp>
      <p:sp>
        <p:nvSpPr>
          <p:cNvPr id="8" name="Rectangle 7"/>
          <p:cNvSpPr/>
          <p:nvPr/>
        </p:nvSpPr>
        <p:spPr>
          <a:xfrm>
            <a:off x="2057400" y="23622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print (</a:t>
            </a:r>
            <a:r>
              <a:rPr lang="en-US" dirty="0" err="1">
                <a:solidFill>
                  <a:schemeClr val="tx1"/>
                </a:solidFill>
              </a:rPr>
              <a:t>ch</a:t>
            </a:r>
            <a:r>
              <a:rPr lang="en-US" dirty="0">
                <a:solidFill>
                  <a:schemeClr val="tx1"/>
                </a:solidFill>
              </a:rPr>
              <a:t>, 3 )</a:t>
            </a:r>
            <a:endParaRPr lang="en-US" dirty="0"/>
          </a:p>
        </p:txBody>
      </p:sp>
      <p:sp>
        <p:nvSpPr>
          <p:cNvPr id="12" name="Rectangle 11"/>
          <p:cNvSpPr/>
          <p:nvPr/>
        </p:nvSpPr>
        <p:spPr>
          <a:xfrm>
            <a:off x="4463955" y="5721823"/>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print (</a:t>
            </a:r>
            <a:r>
              <a:rPr lang="en-US" dirty="0" err="1">
                <a:solidFill>
                  <a:schemeClr val="tx1"/>
                </a:solidFill>
              </a:rPr>
              <a:t>ch</a:t>
            </a:r>
            <a:r>
              <a:rPr lang="en-US" dirty="0">
                <a:solidFill>
                  <a:schemeClr val="tx1"/>
                </a:solidFill>
              </a:rPr>
              <a:t>, 0 )</a:t>
            </a:r>
            <a:endParaRPr lang="en-US" dirty="0"/>
          </a:p>
        </p:txBody>
      </p:sp>
      <p:cxnSp>
        <p:nvCxnSpPr>
          <p:cNvPr id="21" name="Straight Arrow Connector 20"/>
          <p:cNvCxnSpPr/>
          <p:nvPr/>
        </p:nvCxnSpPr>
        <p:spPr>
          <a:xfrm flipH="1">
            <a:off x="3962400" y="6324600"/>
            <a:ext cx="501555"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2971800" y="51054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286000" y="40386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1600200" y="28956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3962400" y="5486400"/>
            <a:ext cx="0" cy="8382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1651379" y="2362200"/>
            <a:ext cx="0" cy="4953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362200" y="3276600"/>
            <a:ext cx="0" cy="7620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flipV="1">
            <a:off x="2971800" y="4495800"/>
            <a:ext cx="25021" cy="6096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482269" y="4615934"/>
            <a:ext cx="413331" cy="369332"/>
          </a:xfrm>
          <a:prstGeom prst="rect">
            <a:avLst/>
          </a:prstGeom>
          <a:noFill/>
        </p:spPr>
        <p:txBody>
          <a:bodyPr wrap="square" rtlCol="0">
            <a:spAutoFit/>
          </a:bodyPr>
          <a:lstStyle/>
          <a:p>
            <a:r>
              <a:rPr lang="en-US" dirty="0"/>
              <a:t>  </a:t>
            </a:r>
            <a:r>
              <a:rPr lang="en-US" b="1" dirty="0"/>
              <a:t>z</a:t>
            </a:r>
          </a:p>
        </p:txBody>
      </p:sp>
      <p:sp>
        <p:nvSpPr>
          <p:cNvPr id="48" name="TextBox 47"/>
          <p:cNvSpPr txBox="1"/>
          <p:nvPr/>
        </p:nvSpPr>
        <p:spPr>
          <a:xfrm>
            <a:off x="1934329" y="3516868"/>
            <a:ext cx="320964" cy="369332"/>
          </a:xfrm>
          <a:prstGeom prst="rect">
            <a:avLst/>
          </a:prstGeom>
          <a:noFill/>
        </p:spPr>
        <p:txBody>
          <a:bodyPr wrap="square" rtlCol="0">
            <a:spAutoFit/>
          </a:bodyPr>
          <a:lstStyle/>
          <a:p>
            <a:r>
              <a:rPr lang="en-US" b="1" dirty="0"/>
              <a:t>z</a:t>
            </a:r>
          </a:p>
        </p:txBody>
      </p:sp>
      <p:sp>
        <p:nvSpPr>
          <p:cNvPr id="50" name="TextBox 49"/>
          <p:cNvSpPr txBox="1"/>
          <p:nvPr/>
        </p:nvSpPr>
        <p:spPr>
          <a:xfrm>
            <a:off x="1331549" y="2396467"/>
            <a:ext cx="276038" cy="369332"/>
          </a:xfrm>
          <a:prstGeom prst="rect">
            <a:avLst/>
          </a:prstGeom>
          <a:noFill/>
        </p:spPr>
        <p:txBody>
          <a:bodyPr wrap="none" rtlCol="0">
            <a:spAutoFit/>
          </a:bodyPr>
          <a:lstStyle/>
          <a:p>
            <a:r>
              <a:rPr lang="en-US" b="1" dirty="0"/>
              <a:t>z</a:t>
            </a:r>
          </a:p>
        </p:txBody>
      </p:sp>
      <p:sp>
        <p:nvSpPr>
          <p:cNvPr id="51" name="TextBox 50"/>
          <p:cNvSpPr txBox="1"/>
          <p:nvPr/>
        </p:nvSpPr>
        <p:spPr>
          <a:xfrm>
            <a:off x="613580" y="1657803"/>
            <a:ext cx="660535" cy="646331"/>
          </a:xfrm>
          <a:prstGeom prst="rect">
            <a:avLst/>
          </a:prstGeom>
          <a:noFill/>
        </p:spPr>
        <p:txBody>
          <a:bodyPr wrap="square" rtlCol="0">
            <a:spAutoFit/>
          </a:bodyPr>
          <a:lstStyle/>
          <a:p>
            <a:r>
              <a:rPr lang="en-US" dirty="0"/>
              <a:t> </a:t>
            </a:r>
          </a:p>
          <a:p>
            <a:r>
              <a:rPr lang="en-US" b="1" dirty="0"/>
              <a:t>z</a:t>
            </a:r>
          </a:p>
        </p:txBody>
      </p:sp>
      <p:sp>
        <p:nvSpPr>
          <p:cNvPr id="52" name="Rectangle 51"/>
          <p:cNvSpPr/>
          <p:nvPr/>
        </p:nvSpPr>
        <p:spPr>
          <a:xfrm>
            <a:off x="4872819" y="1482067"/>
            <a:ext cx="14478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main</a:t>
            </a:r>
          </a:p>
        </p:txBody>
      </p:sp>
      <p:cxnSp>
        <p:nvCxnSpPr>
          <p:cNvPr id="54" name="Straight Arrow Connector 53"/>
          <p:cNvCxnSpPr/>
          <p:nvPr/>
        </p:nvCxnSpPr>
        <p:spPr>
          <a:xfrm>
            <a:off x="2996821" y="1752600"/>
            <a:ext cx="165137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479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4"/>
                                        </p:tgtEl>
                                        <p:attrNameLst>
                                          <p:attrName>style.visibility</p:attrName>
                                        </p:attrNameLst>
                                      </p:cBhvr>
                                      <p:to>
                                        <p:strVal val="visible"/>
                                      </p:to>
                                    </p:set>
                                    <p:anim calcmode="lin" valueType="num">
                                      <p:cBhvr additive="base">
                                        <p:cTn id="49" dur="500" fill="hold"/>
                                        <p:tgtEl>
                                          <p:spTgt spid="24"/>
                                        </p:tgtEl>
                                        <p:attrNameLst>
                                          <p:attrName>ppt_x</p:attrName>
                                        </p:attrNameLst>
                                      </p:cBhvr>
                                      <p:tavLst>
                                        <p:tav tm="0">
                                          <p:val>
                                            <p:strVal val="#ppt_x"/>
                                          </p:val>
                                        </p:tav>
                                        <p:tav tm="100000">
                                          <p:val>
                                            <p:strVal val="#ppt_x"/>
                                          </p:val>
                                        </p:tav>
                                      </p:tavLst>
                                    </p:anim>
                                    <p:anim calcmode="lin" valueType="num">
                                      <p:cBhvr additive="base">
                                        <p:cTn id="50"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9"/>
                                        </p:tgtEl>
                                        <p:attrNameLst>
                                          <p:attrName>style.visibility</p:attrName>
                                        </p:attrNameLst>
                                      </p:cBhvr>
                                      <p:to>
                                        <p:strVal val="visible"/>
                                      </p:to>
                                    </p:set>
                                    <p:anim calcmode="lin" valueType="num">
                                      <p:cBhvr additive="base">
                                        <p:cTn id="55" dur="500" fill="hold"/>
                                        <p:tgtEl>
                                          <p:spTgt spid="39"/>
                                        </p:tgtEl>
                                        <p:attrNameLst>
                                          <p:attrName>ppt_x</p:attrName>
                                        </p:attrNameLst>
                                      </p:cBhvr>
                                      <p:tavLst>
                                        <p:tav tm="0">
                                          <p:val>
                                            <p:strVal val="#ppt_x"/>
                                          </p:val>
                                        </p:tav>
                                        <p:tav tm="100000">
                                          <p:val>
                                            <p:strVal val="#ppt_x"/>
                                          </p:val>
                                        </p:tav>
                                      </p:tavLst>
                                    </p:anim>
                                    <p:anim calcmode="lin" valueType="num">
                                      <p:cBhvr additive="base">
                                        <p:cTn id="56"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fill="hold"/>
                                        <p:tgtEl>
                                          <p:spTgt spid="45"/>
                                        </p:tgtEl>
                                        <p:attrNameLst>
                                          <p:attrName>ppt_x</p:attrName>
                                        </p:attrNameLst>
                                      </p:cBhvr>
                                      <p:tavLst>
                                        <p:tav tm="0">
                                          <p:val>
                                            <p:strVal val="#ppt_x"/>
                                          </p:val>
                                        </p:tav>
                                        <p:tav tm="100000">
                                          <p:val>
                                            <p:strVal val="#ppt_x"/>
                                          </p:val>
                                        </p:tav>
                                      </p:tavLst>
                                    </p:anim>
                                    <p:anim calcmode="lin" valueType="num">
                                      <p:cBhvr additive="base">
                                        <p:cTn id="6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8"/>
                                        </p:tgtEl>
                                        <p:attrNameLst>
                                          <p:attrName>style.visibility</p:attrName>
                                        </p:attrNameLst>
                                      </p:cBhvr>
                                      <p:to>
                                        <p:strVal val="visible"/>
                                      </p:to>
                                    </p:set>
                                    <p:anim calcmode="lin" valueType="num">
                                      <p:cBhvr additive="base">
                                        <p:cTn id="67" dur="500" fill="hold"/>
                                        <p:tgtEl>
                                          <p:spTgt spid="48"/>
                                        </p:tgtEl>
                                        <p:attrNameLst>
                                          <p:attrName>ppt_x</p:attrName>
                                        </p:attrNameLst>
                                      </p:cBhvr>
                                      <p:tavLst>
                                        <p:tav tm="0">
                                          <p:val>
                                            <p:strVal val="#ppt_x"/>
                                          </p:val>
                                        </p:tav>
                                        <p:tav tm="100000">
                                          <p:val>
                                            <p:strVal val="#ppt_x"/>
                                          </p:val>
                                        </p:tav>
                                      </p:tavLst>
                                    </p:anim>
                                    <p:anim calcmode="lin" valueType="num">
                                      <p:cBhvr additive="base">
                                        <p:cTn id="68"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25"/>
                                        </p:tgtEl>
                                        <p:attrNameLst>
                                          <p:attrName>style.visibility</p:attrName>
                                        </p:attrNameLst>
                                      </p:cBhvr>
                                      <p:to>
                                        <p:strVal val="visible"/>
                                      </p:to>
                                    </p:set>
                                    <p:anim calcmode="lin" valueType="num">
                                      <p:cBhvr additive="base">
                                        <p:cTn id="73" dur="500" fill="hold"/>
                                        <p:tgtEl>
                                          <p:spTgt spid="25"/>
                                        </p:tgtEl>
                                        <p:attrNameLst>
                                          <p:attrName>ppt_x</p:attrName>
                                        </p:attrNameLst>
                                      </p:cBhvr>
                                      <p:tavLst>
                                        <p:tav tm="0">
                                          <p:val>
                                            <p:strVal val="#ppt_x"/>
                                          </p:val>
                                        </p:tav>
                                        <p:tav tm="100000">
                                          <p:val>
                                            <p:strVal val="#ppt_x"/>
                                          </p:val>
                                        </p:tav>
                                      </p:tavLst>
                                    </p:anim>
                                    <p:anim calcmode="lin" valueType="num">
                                      <p:cBhvr additive="base">
                                        <p:cTn id="7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8"/>
                                        </p:tgtEl>
                                        <p:attrNameLst>
                                          <p:attrName>style.visibility</p:attrName>
                                        </p:attrNameLst>
                                      </p:cBhvr>
                                      <p:to>
                                        <p:strVal val="visible"/>
                                      </p:to>
                                    </p:set>
                                    <p:anim calcmode="lin" valueType="num">
                                      <p:cBhvr additive="base">
                                        <p:cTn id="79" dur="500" fill="hold"/>
                                        <p:tgtEl>
                                          <p:spTgt spid="38"/>
                                        </p:tgtEl>
                                        <p:attrNameLst>
                                          <p:attrName>ppt_x</p:attrName>
                                        </p:attrNameLst>
                                      </p:cBhvr>
                                      <p:tavLst>
                                        <p:tav tm="0">
                                          <p:val>
                                            <p:strVal val="#ppt_x"/>
                                          </p:val>
                                        </p:tav>
                                        <p:tav tm="100000">
                                          <p:val>
                                            <p:strVal val="#ppt_x"/>
                                          </p:val>
                                        </p:tav>
                                      </p:tavLst>
                                    </p:anim>
                                    <p:anim calcmode="lin" valueType="num">
                                      <p:cBhvr additive="base">
                                        <p:cTn id="80"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500" fill="hold"/>
                                        <p:tgtEl>
                                          <p:spTgt spid="26"/>
                                        </p:tgtEl>
                                        <p:attrNameLst>
                                          <p:attrName>ppt_x</p:attrName>
                                        </p:attrNameLst>
                                      </p:cBhvr>
                                      <p:tavLst>
                                        <p:tav tm="0">
                                          <p:val>
                                            <p:strVal val="#ppt_x"/>
                                          </p:val>
                                        </p:tav>
                                        <p:tav tm="100000">
                                          <p:val>
                                            <p:strVal val="#ppt_x"/>
                                          </p:val>
                                        </p:tav>
                                      </p:tavLst>
                                    </p:anim>
                                    <p:anim calcmode="lin" valueType="num">
                                      <p:cBhvr additive="base">
                                        <p:cTn id="86"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37"/>
                                        </p:tgtEl>
                                        <p:attrNameLst>
                                          <p:attrName>style.visibility</p:attrName>
                                        </p:attrNameLst>
                                      </p:cBhvr>
                                      <p:to>
                                        <p:strVal val="visible"/>
                                      </p:to>
                                    </p:set>
                                    <p:anim calcmode="lin" valueType="num">
                                      <p:cBhvr additive="base">
                                        <p:cTn id="91" dur="500" fill="hold"/>
                                        <p:tgtEl>
                                          <p:spTgt spid="37"/>
                                        </p:tgtEl>
                                        <p:attrNameLst>
                                          <p:attrName>ppt_x</p:attrName>
                                        </p:attrNameLst>
                                      </p:cBhvr>
                                      <p:tavLst>
                                        <p:tav tm="0">
                                          <p:val>
                                            <p:strVal val="#ppt_x"/>
                                          </p:val>
                                        </p:tav>
                                        <p:tav tm="100000">
                                          <p:val>
                                            <p:strVal val="#ppt_x"/>
                                          </p:val>
                                        </p:tav>
                                      </p:tavLst>
                                    </p:anim>
                                    <p:anim calcmode="lin" valueType="num">
                                      <p:cBhvr additive="base">
                                        <p:cTn id="92"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50"/>
                                        </p:tgtEl>
                                        <p:attrNameLst>
                                          <p:attrName>style.visibility</p:attrName>
                                        </p:attrNameLst>
                                      </p:cBhvr>
                                      <p:to>
                                        <p:strVal val="visible"/>
                                      </p:to>
                                    </p:set>
                                    <p:anim calcmode="lin" valueType="num">
                                      <p:cBhvr additive="base">
                                        <p:cTn id="97" dur="500" fill="hold"/>
                                        <p:tgtEl>
                                          <p:spTgt spid="50"/>
                                        </p:tgtEl>
                                        <p:attrNameLst>
                                          <p:attrName>ppt_x</p:attrName>
                                        </p:attrNameLst>
                                      </p:cBhvr>
                                      <p:tavLst>
                                        <p:tav tm="0">
                                          <p:val>
                                            <p:strVal val="#ppt_x"/>
                                          </p:val>
                                        </p:tav>
                                        <p:tav tm="100000">
                                          <p:val>
                                            <p:strVal val="#ppt_x"/>
                                          </p:val>
                                        </p:tav>
                                      </p:tavLst>
                                    </p:anim>
                                    <p:anim calcmode="lin" valueType="num">
                                      <p:cBhvr additive="base">
                                        <p:cTn id="98"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51"/>
                                        </p:tgtEl>
                                        <p:attrNameLst>
                                          <p:attrName>style.visibility</p:attrName>
                                        </p:attrNameLst>
                                      </p:cBhvr>
                                      <p:to>
                                        <p:strVal val="visible"/>
                                      </p:to>
                                    </p:set>
                                    <p:anim calcmode="lin" valueType="num">
                                      <p:cBhvr additive="base">
                                        <p:cTn id="103" dur="500" fill="hold"/>
                                        <p:tgtEl>
                                          <p:spTgt spid="51"/>
                                        </p:tgtEl>
                                        <p:attrNameLst>
                                          <p:attrName>ppt_x</p:attrName>
                                        </p:attrNameLst>
                                      </p:cBhvr>
                                      <p:tavLst>
                                        <p:tav tm="0">
                                          <p:val>
                                            <p:strVal val="#ppt_x"/>
                                          </p:val>
                                        </p:tav>
                                        <p:tav tm="100000">
                                          <p:val>
                                            <p:strVal val="#ppt_x"/>
                                          </p:val>
                                        </p:tav>
                                      </p:tavLst>
                                    </p:anim>
                                    <p:anim calcmode="lin" valueType="num">
                                      <p:cBhvr additive="base">
                                        <p:cTn id="104"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54"/>
                                        </p:tgtEl>
                                        <p:attrNameLst>
                                          <p:attrName>style.visibility</p:attrName>
                                        </p:attrNameLst>
                                      </p:cBhvr>
                                      <p:to>
                                        <p:strVal val="visible"/>
                                      </p:to>
                                    </p:set>
                                    <p:anim calcmode="lin" valueType="num">
                                      <p:cBhvr additive="base">
                                        <p:cTn id="109" dur="500" fill="hold"/>
                                        <p:tgtEl>
                                          <p:spTgt spid="54"/>
                                        </p:tgtEl>
                                        <p:attrNameLst>
                                          <p:attrName>ppt_x</p:attrName>
                                        </p:attrNameLst>
                                      </p:cBhvr>
                                      <p:tavLst>
                                        <p:tav tm="0">
                                          <p:val>
                                            <p:strVal val="#ppt_x"/>
                                          </p:val>
                                        </p:tav>
                                        <p:tav tm="100000">
                                          <p:val>
                                            <p:strVal val="#ppt_x"/>
                                          </p:val>
                                        </p:tav>
                                      </p:tavLst>
                                    </p:anim>
                                    <p:anim calcmode="lin" valueType="num">
                                      <p:cBhvr additive="base">
                                        <p:cTn id="110"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52"/>
                                        </p:tgtEl>
                                        <p:attrNameLst>
                                          <p:attrName>style.visibility</p:attrName>
                                        </p:attrNameLst>
                                      </p:cBhvr>
                                      <p:to>
                                        <p:strVal val="visible"/>
                                      </p:to>
                                    </p:set>
                                    <p:anim calcmode="lin" valueType="num">
                                      <p:cBhvr additive="base">
                                        <p:cTn id="115" dur="500" fill="hold"/>
                                        <p:tgtEl>
                                          <p:spTgt spid="52"/>
                                        </p:tgtEl>
                                        <p:attrNameLst>
                                          <p:attrName>ppt_x</p:attrName>
                                        </p:attrNameLst>
                                      </p:cBhvr>
                                      <p:tavLst>
                                        <p:tav tm="0">
                                          <p:val>
                                            <p:strVal val="#ppt_x"/>
                                          </p:val>
                                        </p:tav>
                                        <p:tav tm="100000">
                                          <p:val>
                                            <p:strVal val="#ppt_x"/>
                                          </p:val>
                                        </p:tav>
                                      </p:tavLst>
                                    </p:anim>
                                    <p:anim calcmode="lin" valueType="num">
                                      <p:cBhvr additive="base">
                                        <p:cTn id="116"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2" grpId="0" animBg="1"/>
      <p:bldP spid="45" grpId="0"/>
      <p:bldP spid="48" grpId="0"/>
      <p:bldP spid="50" grpId="0"/>
      <p:bldP spid="51" grpId="0"/>
      <p:bldP spid="5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Factorial</a:t>
            </a:r>
          </a:p>
        </p:txBody>
      </p:sp>
      <p:sp>
        <p:nvSpPr>
          <p:cNvPr id="3" name="Content Placeholder 2"/>
          <p:cNvSpPr>
            <a:spLocks noGrp="1"/>
          </p:cNvSpPr>
          <p:nvPr>
            <p:ph idx="1"/>
          </p:nvPr>
        </p:nvSpPr>
        <p:spPr>
          <a:xfrm>
            <a:off x="381000" y="1371600"/>
            <a:ext cx="8229600" cy="4525963"/>
          </a:xfrm>
        </p:spPr>
        <p:txBody>
          <a:bodyPr>
            <a:normAutofit fontScale="85000" lnSpcReduction="20000"/>
          </a:bodyPr>
          <a:lstStyle/>
          <a:p>
            <a:pPr marL="0" indent="0">
              <a:buNone/>
            </a:pPr>
            <a:r>
              <a:rPr lang="en-US" dirty="0" err="1"/>
              <a:t>int</a:t>
            </a:r>
            <a:r>
              <a:rPr lang="en-US" dirty="0"/>
              <a:t> factorial (</a:t>
            </a:r>
            <a:r>
              <a:rPr lang="en-US" dirty="0" err="1"/>
              <a:t>int</a:t>
            </a:r>
            <a:r>
              <a:rPr lang="en-US" dirty="0"/>
              <a:t> n)</a:t>
            </a:r>
          </a:p>
          <a:p>
            <a:pPr marL="0" indent="0">
              <a:buNone/>
            </a:pPr>
            <a:r>
              <a:rPr lang="en-US" dirty="0"/>
              <a:t>{</a:t>
            </a:r>
          </a:p>
          <a:p>
            <a:pPr marL="0" indent="0">
              <a:buNone/>
            </a:pPr>
            <a:r>
              <a:rPr lang="en-US" dirty="0"/>
              <a:t>	if (n == 0)</a:t>
            </a:r>
          </a:p>
          <a:p>
            <a:pPr marL="0" indent="0">
              <a:buNone/>
            </a:pPr>
            <a:r>
              <a:rPr lang="en-US" dirty="0"/>
              <a:t>	return 1;</a:t>
            </a:r>
          </a:p>
          <a:p>
            <a:pPr marL="0" indent="0">
              <a:buNone/>
            </a:pPr>
            <a:r>
              <a:rPr lang="en-US" dirty="0"/>
              <a:t>	else</a:t>
            </a:r>
          </a:p>
          <a:p>
            <a:pPr marL="0" indent="0">
              <a:buNone/>
            </a:pPr>
            <a:r>
              <a:rPr lang="en-US" dirty="0"/>
              <a:t>	{</a:t>
            </a:r>
          </a:p>
          <a:p>
            <a:pPr marL="0" indent="0">
              <a:buNone/>
            </a:pPr>
            <a:r>
              <a:rPr lang="en-US" dirty="0"/>
              <a:t>		</a:t>
            </a:r>
            <a:r>
              <a:rPr lang="en-US" dirty="0" err="1"/>
              <a:t>int</a:t>
            </a:r>
            <a:r>
              <a:rPr lang="en-US" dirty="0"/>
              <a:t> temp = factorial( n-1 );</a:t>
            </a:r>
          </a:p>
          <a:p>
            <a:pPr marL="0" indent="0">
              <a:buNone/>
            </a:pPr>
            <a:r>
              <a:rPr lang="en-US" dirty="0"/>
              <a:t>		return n*temp;</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553016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 calcmode="lin" valueType="num">
                                      <p:cBhvr additive="base">
                                        <p:cTn id="4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7" presetID="2" presetClass="entr" presetSubtype="4" fill="hold" nodeType="with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Factorial (Call Stack)</a:t>
            </a:r>
          </a:p>
        </p:txBody>
      </p:sp>
      <p:sp>
        <p:nvSpPr>
          <p:cNvPr id="3" name="Content Placeholder 2"/>
          <p:cNvSpPr>
            <a:spLocks noGrp="1"/>
          </p:cNvSpPr>
          <p:nvPr>
            <p:ph idx="1"/>
          </p:nvPr>
        </p:nvSpPr>
        <p:spPr>
          <a:xfrm>
            <a:off x="381000" y="1166018"/>
            <a:ext cx="8534400" cy="5539582"/>
          </a:xfrm>
        </p:spPr>
        <p:txBody>
          <a:bodyPr/>
          <a:lstStyle/>
          <a:p>
            <a:pPr marL="0" indent="0">
              <a:buNone/>
            </a:pPr>
            <a:endParaRPr lang="en-US" dirty="0"/>
          </a:p>
        </p:txBody>
      </p:sp>
      <p:sp>
        <p:nvSpPr>
          <p:cNvPr id="4" name="Rectangle 3"/>
          <p:cNvSpPr/>
          <p:nvPr/>
        </p:nvSpPr>
        <p:spPr>
          <a:xfrm>
            <a:off x="1219200" y="12954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Factorial ( 4 )  </a:t>
            </a:r>
          </a:p>
        </p:txBody>
      </p:sp>
      <p:sp>
        <p:nvSpPr>
          <p:cNvPr id="6" name="Rectangle 5"/>
          <p:cNvSpPr/>
          <p:nvPr/>
        </p:nvSpPr>
        <p:spPr>
          <a:xfrm>
            <a:off x="3429000" y="45720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Factorial ( 1 )</a:t>
            </a:r>
            <a:endParaRPr lang="en-US" dirty="0"/>
          </a:p>
        </p:txBody>
      </p:sp>
      <p:sp>
        <p:nvSpPr>
          <p:cNvPr id="7" name="Rectangle 6"/>
          <p:cNvSpPr/>
          <p:nvPr/>
        </p:nvSpPr>
        <p:spPr>
          <a:xfrm>
            <a:off x="2743200" y="34290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Factorial ( 2 )</a:t>
            </a:r>
            <a:endParaRPr lang="en-US" dirty="0"/>
          </a:p>
        </p:txBody>
      </p:sp>
      <p:sp>
        <p:nvSpPr>
          <p:cNvPr id="8" name="Rectangle 7"/>
          <p:cNvSpPr/>
          <p:nvPr/>
        </p:nvSpPr>
        <p:spPr>
          <a:xfrm>
            <a:off x="2057400" y="23622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Factorial ( 3 )</a:t>
            </a:r>
            <a:endParaRPr lang="en-US" dirty="0"/>
          </a:p>
        </p:txBody>
      </p:sp>
      <p:sp>
        <p:nvSpPr>
          <p:cNvPr id="12" name="Rectangle 11"/>
          <p:cNvSpPr/>
          <p:nvPr/>
        </p:nvSpPr>
        <p:spPr>
          <a:xfrm>
            <a:off x="4463955" y="5721823"/>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Factorial ( 0 )</a:t>
            </a:r>
            <a:endParaRPr lang="en-US" dirty="0"/>
          </a:p>
        </p:txBody>
      </p:sp>
      <p:cxnSp>
        <p:nvCxnSpPr>
          <p:cNvPr id="21" name="Straight Arrow Connector 20"/>
          <p:cNvCxnSpPr/>
          <p:nvPr/>
        </p:nvCxnSpPr>
        <p:spPr>
          <a:xfrm flipH="1">
            <a:off x="3962400" y="6324600"/>
            <a:ext cx="501555"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2971800" y="51054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286000" y="40386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1600200" y="28956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3962400" y="5486400"/>
            <a:ext cx="0" cy="8382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1651379" y="2362200"/>
            <a:ext cx="0" cy="4953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362200" y="3276600"/>
            <a:ext cx="0" cy="7620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flipV="1">
            <a:off x="2971800" y="4495800"/>
            <a:ext cx="25021" cy="6096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409666" y="5809691"/>
            <a:ext cx="489531" cy="369332"/>
          </a:xfrm>
          <a:prstGeom prst="rect">
            <a:avLst/>
          </a:prstGeom>
          <a:noFill/>
        </p:spPr>
        <p:txBody>
          <a:bodyPr wrap="square" rtlCol="0">
            <a:spAutoFit/>
          </a:bodyPr>
          <a:lstStyle/>
          <a:p>
            <a:r>
              <a:rPr lang="en-US" dirty="0"/>
              <a:t>  </a:t>
            </a:r>
            <a:r>
              <a:rPr lang="en-US" b="1" dirty="0"/>
              <a:t>1</a:t>
            </a:r>
          </a:p>
        </p:txBody>
      </p:sp>
      <p:sp>
        <p:nvSpPr>
          <p:cNvPr id="44" name="TextBox 43"/>
          <p:cNvSpPr txBox="1"/>
          <p:nvPr/>
        </p:nvSpPr>
        <p:spPr>
          <a:xfrm>
            <a:off x="761999" y="4706034"/>
            <a:ext cx="1524001" cy="646331"/>
          </a:xfrm>
          <a:prstGeom prst="rect">
            <a:avLst/>
          </a:prstGeom>
          <a:noFill/>
        </p:spPr>
        <p:txBody>
          <a:bodyPr wrap="square" rtlCol="0">
            <a:spAutoFit/>
          </a:bodyPr>
          <a:lstStyle/>
          <a:p>
            <a:r>
              <a:rPr lang="en-US" dirty="0"/>
              <a:t>Temp = 1</a:t>
            </a:r>
          </a:p>
          <a:p>
            <a:r>
              <a:rPr lang="en-US" dirty="0"/>
              <a:t>return 1 * 1</a:t>
            </a:r>
          </a:p>
        </p:txBody>
      </p:sp>
      <p:sp>
        <p:nvSpPr>
          <p:cNvPr id="45" name="TextBox 44"/>
          <p:cNvSpPr txBox="1"/>
          <p:nvPr/>
        </p:nvSpPr>
        <p:spPr>
          <a:xfrm>
            <a:off x="2482269" y="4615934"/>
            <a:ext cx="413331" cy="369332"/>
          </a:xfrm>
          <a:prstGeom prst="rect">
            <a:avLst/>
          </a:prstGeom>
          <a:noFill/>
        </p:spPr>
        <p:txBody>
          <a:bodyPr wrap="square" rtlCol="0">
            <a:spAutoFit/>
          </a:bodyPr>
          <a:lstStyle/>
          <a:p>
            <a:r>
              <a:rPr lang="en-US" dirty="0"/>
              <a:t>  </a:t>
            </a:r>
            <a:r>
              <a:rPr lang="en-US" b="1" dirty="0"/>
              <a:t>1</a:t>
            </a:r>
          </a:p>
        </p:txBody>
      </p:sp>
      <p:sp>
        <p:nvSpPr>
          <p:cNvPr id="47" name="TextBox 46"/>
          <p:cNvSpPr txBox="1"/>
          <p:nvPr/>
        </p:nvSpPr>
        <p:spPr>
          <a:xfrm>
            <a:off x="457201" y="3701534"/>
            <a:ext cx="1371600" cy="646331"/>
          </a:xfrm>
          <a:prstGeom prst="rect">
            <a:avLst/>
          </a:prstGeom>
          <a:noFill/>
        </p:spPr>
        <p:txBody>
          <a:bodyPr wrap="square" rtlCol="0">
            <a:spAutoFit/>
          </a:bodyPr>
          <a:lstStyle/>
          <a:p>
            <a:r>
              <a:rPr lang="en-US" dirty="0"/>
              <a:t>Temp = 1</a:t>
            </a:r>
          </a:p>
          <a:p>
            <a:r>
              <a:rPr lang="en-US" dirty="0"/>
              <a:t>return 2 * 1</a:t>
            </a:r>
          </a:p>
        </p:txBody>
      </p:sp>
      <p:sp>
        <p:nvSpPr>
          <p:cNvPr id="48" name="TextBox 47"/>
          <p:cNvSpPr txBox="1"/>
          <p:nvPr/>
        </p:nvSpPr>
        <p:spPr>
          <a:xfrm>
            <a:off x="1934329" y="3516868"/>
            <a:ext cx="320964" cy="369332"/>
          </a:xfrm>
          <a:prstGeom prst="rect">
            <a:avLst/>
          </a:prstGeom>
          <a:noFill/>
        </p:spPr>
        <p:txBody>
          <a:bodyPr wrap="square" rtlCol="0">
            <a:spAutoFit/>
          </a:bodyPr>
          <a:lstStyle/>
          <a:p>
            <a:r>
              <a:rPr lang="en-US" b="1" dirty="0"/>
              <a:t>2</a:t>
            </a:r>
          </a:p>
        </p:txBody>
      </p:sp>
      <p:sp>
        <p:nvSpPr>
          <p:cNvPr id="49" name="TextBox 48"/>
          <p:cNvSpPr txBox="1"/>
          <p:nvPr/>
        </p:nvSpPr>
        <p:spPr>
          <a:xfrm>
            <a:off x="304801" y="2849875"/>
            <a:ext cx="1295400" cy="646331"/>
          </a:xfrm>
          <a:prstGeom prst="rect">
            <a:avLst/>
          </a:prstGeom>
          <a:noFill/>
        </p:spPr>
        <p:txBody>
          <a:bodyPr wrap="square" rtlCol="0">
            <a:spAutoFit/>
          </a:bodyPr>
          <a:lstStyle/>
          <a:p>
            <a:r>
              <a:rPr lang="en-US" dirty="0"/>
              <a:t>Temp = 2</a:t>
            </a:r>
          </a:p>
          <a:p>
            <a:r>
              <a:rPr lang="en-US" dirty="0"/>
              <a:t>return 3*2</a:t>
            </a:r>
          </a:p>
        </p:txBody>
      </p:sp>
      <p:sp>
        <p:nvSpPr>
          <p:cNvPr id="50" name="TextBox 49"/>
          <p:cNvSpPr txBox="1"/>
          <p:nvPr/>
        </p:nvSpPr>
        <p:spPr>
          <a:xfrm>
            <a:off x="1331549" y="2396467"/>
            <a:ext cx="301686" cy="369332"/>
          </a:xfrm>
          <a:prstGeom prst="rect">
            <a:avLst/>
          </a:prstGeom>
          <a:noFill/>
        </p:spPr>
        <p:txBody>
          <a:bodyPr wrap="none" rtlCol="0">
            <a:spAutoFit/>
          </a:bodyPr>
          <a:lstStyle/>
          <a:p>
            <a:r>
              <a:rPr lang="en-US" b="1" dirty="0"/>
              <a:t>6</a:t>
            </a:r>
          </a:p>
        </p:txBody>
      </p:sp>
      <p:sp>
        <p:nvSpPr>
          <p:cNvPr id="51" name="TextBox 50"/>
          <p:cNvSpPr txBox="1"/>
          <p:nvPr/>
        </p:nvSpPr>
        <p:spPr>
          <a:xfrm>
            <a:off x="-57432" y="1657803"/>
            <a:ext cx="1331548" cy="923330"/>
          </a:xfrm>
          <a:prstGeom prst="rect">
            <a:avLst/>
          </a:prstGeom>
          <a:noFill/>
        </p:spPr>
        <p:txBody>
          <a:bodyPr wrap="square" rtlCol="0">
            <a:spAutoFit/>
          </a:bodyPr>
          <a:lstStyle/>
          <a:p>
            <a:r>
              <a:rPr lang="en-US" dirty="0"/>
              <a:t>Temp = 6</a:t>
            </a:r>
          </a:p>
          <a:p>
            <a:r>
              <a:rPr lang="en-US" dirty="0"/>
              <a:t>Return4*6 </a:t>
            </a:r>
          </a:p>
          <a:p>
            <a:endParaRPr lang="en-US" dirty="0"/>
          </a:p>
        </p:txBody>
      </p:sp>
      <p:sp>
        <p:nvSpPr>
          <p:cNvPr id="52" name="Rectangle 51"/>
          <p:cNvSpPr/>
          <p:nvPr/>
        </p:nvSpPr>
        <p:spPr>
          <a:xfrm>
            <a:off x="4872819" y="1482067"/>
            <a:ext cx="14478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main</a:t>
            </a:r>
          </a:p>
        </p:txBody>
      </p:sp>
      <p:cxnSp>
        <p:nvCxnSpPr>
          <p:cNvPr id="54" name="Straight Arrow Connector 53"/>
          <p:cNvCxnSpPr/>
          <p:nvPr/>
        </p:nvCxnSpPr>
        <p:spPr>
          <a:xfrm>
            <a:off x="2996821" y="1752600"/>
            <a:ext cx="165137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714466" y="1288471"/>
            <a:ext cx="552734" cy="369332"/>
          </a:xfrm>
          <a:prstGeom prst="rect">
            <a:avLst/>
          </a:prstGeom>
          <a:noFill/>
        </p:spPr>
        <p:txBody>
          <a:bodyPr wrap="square" rtlCol="0">
            <a:spAutoFit/>
          </a:bodyPr>
          <a:lstStyle/>
          <a:p>
            <a:r>
              <a:rPr lang="en-US" dirty="0"/>
              <a:t>  </a:t>
            </a:r>
            <a:r>
              <a:rPr lang="en-US" b="1" dirty="0"/>
              <a:t>24</a:t>
            </a:r>
          </a:p>
        </p:txBody>
      </p:sp>
    </p:spTree>
    <p:extLst>
      <p:ext uri="{BB962C8B-B14F-4D97-AF65-F5344CB8AC3E}">
        <p14:creationId xmlns:p14="http://schemas.microsoft.com/office/powerpoint/2010/main" val="2417245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additive="base">
                                        <p:cTn id="49" dur="500" fill="hold"/>
                                        <p:tgtEl>
                                          <p:spTgt spid="43"/>
                                        </p:tgtEl>
                                        <p:attrNameLst>
                                          <p:attrName>ppt_x</p:attrName>
                                        </p:attrNameLst>
                                      </p:cBhvr>
                                      <p:tavLst>
                                        <p:tav tm="0">
                                          <p:val>
                                            <p:strVal val="#ppt_x"/>
                                          </p:val>
                                        </p:tav>
                                        <p:tav tm="100000">
                                          <p:val>
                                            <p:strVal val="#ppt_x"/>
                                          </p:val>
                                        </p:tav>
                                      </p:tavLst>
                                    </p:anim>
                                    <p:anim calcmode="lin" valueType="num">
                                      <p:cBhvr additive="base">
                                        <p:cTn id="5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additive="base">
                                        <p:cTn id="55" dur="500" fill="hold"/>
                                        <p:tgtEl>
                                          <p:spTgt spid="44"/>
                                        </p:tgtEl>
                                        <p:attrNameLst>
                                          <p:attrName>ppt_x</p:attrName>
                                        </p:attrNameLst>
                                      </p:cBhvr>
                                      <p:tavLst>
                                        <p:tav tm="0">
                                          <p:val>
                                            <p:strVal val="#ppt_x"/>
                                          </p:val>
                                        </p:tav>
                                        <p:tav tm="100000">
                                          <p:val>
                                            <p:strVal val="#ppt_x"/>
                                          </p:val>
                                        </p:tav>
                                      </p:tavLst>
                                    </p:anim>
                                    <p:anim calcmode="lin" valueType="num">
                                      <p:cBhvr additive="base">
                                        <p:cTn id="5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additive="base">
                                        <p:cTn id="67" dur="500" fill="hold"/>
                                        <p:tgtEl>
                                          <p:spTgt spid="39"/>
                                        </p:tgtEl>
                                        <p:attrNameLst>
                                          <p:attrName>ppt_x</p:attrName>
                                        </p:attrNameLst>
                                      </p:cBhvr>
                                      <p:tavLst>
                                        <p:tav tm="0">
                                          <p:val>
                                            <p:strVal val="#ppt_x"/>
                                          </p:val>
                                        </p:tav>
                                        <p:tav tm="100000">
                                          <p:val>
                                            <p:strVal val="#ppt_x"/>
                                          </p:val>
                                        </p:tav>
                                      </p:tavLst>
                                    </p:anim>
                                    <p:anim calcmode="lin" valueType="num">
                                      <p:cBhvr additive="base">
                                        <p:cTn id="6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fill="hold"/>
                                        <p:tgtEl>
                                          <p:spTgt spid="45"/>
                                        </p:tgtEl>
                                        <p:attrNameLst>
                                          <p:attrName>ppt_x</p:attrName>
                                        </p:attrNameLst>
                                      </p:cBhvr>
                                      <p:tavLst>
                                        <p:tav tm="0">
                                          <p:val>
                                            <p:strVal val="#ppt_x"/>
                                          </p:val>
                                        </p:tav>
                                        <p:tav tm="100000">
                                          <p:val>
                                            <p:strVal val="#ppt_x"/>
                                          </p:val>
                                        </p:tav>
                                      </p:tavLst>
                                    </p:anim>
                                    <p:anim calcmode="lin" valueType="num">
                                      <p:cBhvr additive="base">
                                        <p:cTn id="7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47"/>
                                        </p:tgtEl>
                                        <p:attrNameLst>
                                          <p:attrName>style.visibility</p:attrName>
                                        </p:attrNameLst>
                                      </p:cBhvr>
                                      <p:to>
                                        <p:strVal val="visible"/>
                                      </p:to>
                                    </p:set>
                                    <p:anim calcmode="lin" valueType="num">
                                      <p:cBhvr additive="base">
                                        <p:cTn id="79" dur="500" fill="hold"/>
                                        <p:tgtEl>
                                          <p:spTgt spid="47"/>
                                        </p:tgtEl>
                                        <p:attrNameLst>
                                          <p:attrName>ppt_x</p:attrName>
                                        </p:attrNameLst>
                                      </p:cBhvr>
                                      <p:tavLst>
                                        <p:tav tm="0">
                                          <p:val>
                                            <p:strVal val="#ppt_x"/>
                                          </p:val>
                                        </p:tav>
                                        <p:tav tm="100000">
                                          <p:val>
                                            <p:strVal val="#ppt_x"/>
                                          </p:val>
                                        </p:tav>
                                      </p:tavLst>
                                    </p:anim>
                                    <p:anim calcmode="lin" valueType="num">
                                      <p:cBhvr additive="base">
                                        <p:cTn id="8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8"/>
                                        </p:tgtEl>
                                        <p:attrNameLst>
                                          <p:attrName>style.visibility</p:attrName>
                                        </p:attrNameLst>
                                      </p:cBhvr>
                                      <p:to>
                                        <p:strVal val="visible"/>
                                      </p:to>
                                    </p:set>
                                    <p:anim calcmode="lin" valueType="num">
                                      <p:cBhvr additive="base">
                                        <p:cTn id="85" dur="500" fill="hold"/>
                                        <p:tgtEl>
                                          <p:spTgt spid="48"/>
                                        </p:tgtEl>
                                        <p:attrNameLst>
                                          <p:attrName>ppt_x</p:attrName>
                                        </p:attrNameLst>
                                      </p:cBhvr>
                                      <p:tavLst>
                                        <p:tav tm="0">
                                          <p:val>
                                            <p:strVal val="#ppt_x"/>
                                          </p:val>
                                        </p:tav>
                                        <p:tav tm="100000">
                                          <p:val>
                                            <p:strVal val="#ppt_x"/>
                                          </p:val>
                                        </p:tav>
                                      </p:tavLst>
                                    </p:anim>
                                    <p:anim calcmode="lin" valueType="num">
                                      <p:cBhvr additive="base">
                                        <p:cTn id="8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00" fill="hold"/>
                                        <p:tgtEl>
                                          <p:spTgt spid="25"/>
                                        </p:tgtEl>
                                        <p:attrNameLst>
                                          <p:attrName>ppt_x</p:attrName>
                                        </p:attrNameLst>
                                      </p:cBhvr>
                                      <p:tavLst>
                                        <p:tav tm="0">
                                          <p:val>
                                            <p:strVal val="#ppt_x"/>
                                          </p:val>
                                        </p:tav>
                                        <p:tav tm="100000">
                                          <p:val>
                                            <p:strVal val="#ppt_x"/>
                                          </p:val>
                                        </p:tav>
                                      </p:tavLst>
                                    </p:anim>
                                    <p:anim calcmode="lin" valueType="num">
                                      <p:cBhvr additive="base">
                                        <p:cTn id="9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8"/>
                                        </p:tgtEl>
                                        <p:attrNameLst>
                                          <p:attrName>style.visibility</p:attrName>
                                        </p:attrNameLst>
                                      </p:cBhvr>
                                      <p:to>
                                        <p:strVal val="visible"/>
                                      </p:to>
                                    </p:set>
                                    <p:anim calcmode="lin" valueType="num">
                                      <p:cBhvr additive="base">
                                        <p:cTn id="97" dur="500" fill="hold"/>
                                        <p:tgtEl>
                                          <p:spTgt spid="38"/>
                                        </p:tgtEl>
                                        <p:attrNameLst>
                                          <p:attrName>ppt_x</p:attrName>
                                        </p:attrNameLst>
                                      </p:cBhvr>
                                      <p:tavLst>
                                        <p:tav tm="0">
                                          <p:val>
                                            <p:strVal val="#ppt_x"/>
                                          </p:val>
                                        </p:tav>
                                        <p:tav tm="100000">
                                          <p:val>
                                            <p:strVal val="#ppt_x"/>
                                          </p:val>
                                        </p:tav>
                                      </p:tavLst>
                                    </p:anim>
                                    <p:anim calcmode="lin" valueType="num">
                                      <p:cBhvr additive="base">
                                        <p:cTn id="9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49"/>
                                        </p:tgtEl>
                                        <p:attrNameLst>
                                          <p:attrName>style.visibility</p:attrName>
                                        </p:attrNameLst>
                                      </p:cBhvr>
                                      <p:to>
                                        <p:strVal val="visible"/>
                                      </p:to>
                                    </p:set>
                                    <p:anim calcmode="lin" valueType="num">
                                      <p:cBhvr additive="base">
                                        <p:cTn id="103" dur="500" fill="hold"/>
                                        <p:tgtEl>
                                          <p:spTgt spid="49"/>
                                        </p:tgtEl>
                                        <p:attrNameLst>
                                          <p:attrName>ppt_x</p:attrName>
                                        </p:attrNameLst>
                                      </p:cBhvr>
                                      <p:tavLst>
                                        <p:tav tm="0">
                                          <p:val>
                                            <p:strVal val="#ppt_x"/>
                                          </p:val>
                                        </p:tav>
                                        <p:tav tm="100000">
                                          <p:val>
                                            <p:strVal val="#ppt_x"/>
                                          </p:val>
                                        </p:tav>
                                      </p:tavLst>
                                    </p:anim>
                                    <p:anim calcmode="lin" valueType="num">
                                      <p:cBhvr additive="base">
                                        <p:cTn id="10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26"/>
                                        </p:tgtEl>
                                        <p:attrNameLst>
                                          <p:attrName>style.visibility</p:attrName>
                                        </p:attrNameLst>
                                      </p:cBhvr>
                                      <p:to>
                                        <p:strVal val="visible"/>
                                      </p:to>
                                    </p:set>
                                    <p:anim calcmode="lin" valueType="num">
                                      <p:cBhvr additive="base">
                                        <p:cTn id="109" dur="500" fill="hold"/>
                                        <p:tgtEl>
                                          <p:spTgt spid="26"/>
                                        </p:tgtEl>
                                        <p:attrNameLst>
                                          <p:attrName>ppt_x</p:attrName>
                                        </p:attrNameLst>
                                      </p:cBhvr>
                                      <p:tavLst>
                                        <p:tav tm="0">
                                          <p:val>
                                            <p:strVal val="#ppt_x"/>
                                          </p:val>
                                        </p:tav>
                                        <p:tav tm="100000">
                                          <p:val>
                                            <p:strVal val="#ppt_x"/>
                                          </p:val>
                                        </p:tav>
                                      </p:tavLst>
                                    </p:anim>
                                    <p:anim calcmode="lin" valueType="num">
                                      <p:cBhvr additive="base">
                                        <p:cTn id="11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7"/>
                                        </p:tgtEl>
                                        <p:attrNameLst>
                                          <p:attrName>style.visibility</p:attrName>
                                        </p:attrNameLst>
                                      </p:cBhvr>
                                      <p:to>
                                        <p:strVal val="visible"/>
                                      </p:to>
                                    </p:set>
                                    <p:anim calcmode="lin" valueType="num">
                                      <p:cBhvr additive="base">
                                        <p:cTn id="115" dur="500" fill="hold"/>
                                        <p:tgtEl>
                                          <p:spTgt spid="37"/>
                                        </p:tgtEl>
                                        <p:attrNameLst>
                                          <p:attrName>ppt_x</p:attrName>
                                        </p:attrNameLst>
                                      </p:cBhvr>
                                      <p:tavLst>
                                        <p:tav tm="0">
                                          <p:val>
                                            <p:strVal val="#ppt_x"/>
                                          </p:val>
                                        </p:tav>
                                        <p:tav tm="100000">
                                          <p:val>
                                            <p:strVal val="#ppt_x"/>
                                          </p:val>
                                        </p:tav>
                                      </p:tavLst>
                                    </p:anim>
                                    <p:anim calcmode="lin" valueType="num">
                                      <p:cBhvr additive="base">
                                        <p:cTn id="11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50"/>
                                        </p:tgtEl>
                                        <p:attrNameLst>
                                          <p:attrName>style.visibility</p:attrName>
                                        </p:attrNameLst>
                                      </p:cBhvr>
                                      <p:to>
                                        <p:strVal val="visible"/>
                                      </p:to>
                                    </p:set>
                                    <p:anim calcmode="lin" valueType="num">
                                      <p:cBhvr additive="base">
                                        <p:cTn id="121" dur="500" fill="hold"/>
                                        <p:tgtEl>
                                          <p:spTgt spid="50"/>
                                        </p:tgtEl>
                                        <p:attrNameLst>
                                          <p:attrName>ppt_x</p:attrName>
                                        </p:attrNameLst>
                                      </p:cBhvr>
                                      <p:tavLst>
                                        <p:tav tm="0">
                                          <p:val>
                                            <p:strVal val="#ppt_x"/>
                                          </p:val>
                                        </p:tav>
                                        <p:tav tm="100000">
                                          <p:val>
                                            <p:strVal val="#ppt_x"/>
                                          </p:val>
                                        </p:tav>
                                      </p:tavLst>
                                    </p:anim>
                                    <p:anim calcmode="lin" valueType="num">
                                      <p:cBhvr additive="base">
                                        <p:cTn id="12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51"/>
                                        </p:tgtEl>
                                        <p:attrNameLst>
                                          <p:attrName>style.visibility</p:attrName>
                                        </p:attrNameLst>
                                      </p:cBhvr>
                                      <p:to>
                                        <p:strVal val="visible"/>
                                      </p:to>
                                    </p:set>
                                    <p:anim calcmode="lin" valueType="num">
                                      <p:cBhvr additive="base">
                                        <p:cTn id="127" dur="500" fill="hold"/>
                                        <p:tgtEl>
                                          <p:spTgt spid="51"/>
                                        </p:tgtEl>
                                        <p:attrNameLst>
                                          <p:attrName>ppt_x</p:attrName>
                                        </p:attrNameLst>
                                      </p:cBhvr>
                                      <p:tavLst>
                                        <p:tav tm="0">
                                          <p:val>
                                            <p:strVal val="#ppt_x"/>
                                          </p:val>
                                        </p:tav>
                                        <p:tav tm="100000">
                                          <p:val>
                                            <p:strVal val="#ppt_x"/>
                                          </p:val>
                                        </p:tav>
                                      </p:tavLst>
                                    </p:anim>
                                    <p:anim calcmode="lin" valueType="num">
                                      <p:cBhvr additive="base">
                                        <p:cTn id="12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54"/>
                                        </p:tgtEl>
                                        <p:attrNameLst>
                                          <p:attrName>style.visibility</p:attrName>
                                        </p:attrNameLst>
                                      </p:cBhvr>
                                      <p:to>
                                        <p:strVal val="visible"/>
                                      </p:to>
                                    </p:set>
                                    <p:anim calcmode="lin" valueType="num">
                                      <p:cBhvr additive="base">
                                        <p:cTn id="133" dur="500" fill="hold"/>
                                        <p:tgtEl>
                                          <p:spTgt spid="54"/>
                                        </p:tgtEl>
                                        <p:attrNameLst>
                                          <p:attrName>ppt_x</p:attrName>
                                        </p:attrNameLst>
                                      </p:cBhvr>
                                      <p:tavLst>
                                        <p:tav tm="0">
                                          <p:val>
                                            <p:strVal val="#ppt_x"/>
                                          </p:val>
                                        </p:tav>
                                        <p:tav tm="100000">
                                          <p:val>
                                            <p:strVal val="#ppt_x"/>
                                          </p:val>
                                        </p:tav>
                                      </p:tavLst>
                                    </p:anim>
                                    <p:anim calcmode="lin" valueType="num">
                                      <p:cBhvr additive="base">
                                        <p:cTn id="13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57"/>
                                        </p:tgtEl>
                                        <p:attrNameLst>
                                          <p:attrName>style.visibility</p:attrName>
                                        </p:attrNameLst>
                                      </p:cBhvr>
                                      <p:to>
                                        <p:strVal val="visible"/>
                                      </p:to>
                                    </p:set>
                                    <p:anim calcmode="lin" valueType="num">
                                      <p:cBhvr additive="base">
                                        <p:cTn id="139" dur="500" fill="hold"/>
                                        <p:tgtEl>
                                          <p:spTgt spid="57"/>
                                        </p:tgtEl>
                                        <p:attrNameLst>
                                          <p:attrName>ppt_x</p:attrName>
                                        </p:attrNameLst>
                                      </p:cBhvr>
                                      <p:tavLst>
                                        <p:tav tm="0">
                                          <p:val>
                                            <p:strVal val="#ppt_x"/>
                                          </p:val>
                                        </p:tav>
                                        <p:tav tm="100000">
                                          <p:val>
                                            <p:strVal val="#ppt_x"/>
                                          </p:val>
                                        </p:tav>
                                      </p:tavLst>
                                    </p:anim>
                                    <p:anim calcmode="lin" valueType="num">
                                      <p:cBhvr additive="base">
                                        <p:cTn id="140"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52"/>
                                        </p:tgtEl>
                                        <p:attrNameLst>
                                          <p:attrName>style.visibility</p:attrName>
                                        </p:attrNameLst>
                                      </p:cBhvr>
                                      <p:to>
                                        <p:strVal val="visible"/>
                                      </p:to>
                                    </p:set>
                                    <p:anim calcmode="lin" valueType="num">
                                      <p:cBhvr additive="base">
                                        <p:cTn id="145" dur="500" fill="hold"/>
                                        <p:tgtEl>
                                          <p:spTgt spid="52"/>
                                        </p:tgtEl>
                                        <p:attrNameLst>
                                          <p:attrName>ppt_x</p:attrName>
                                        </p:attrNameLst>
                                      </p:cBhvr>
                                      <p:tavLst>
                                        <p:tav tm="0">
                                          <p:val>
                                            <p:strVal val="#ppt_x"/>
                                          </p:val>
                                        </p:tav>
                                        <p:tav tm="100000">
                                          <p:val>
                                            <p:strVal val="#ppt_x"/>
                                          </p:val>
                                        </p:tav>
                                      </p:tavLst>
                                    </p:anim>
                                    <p:anim calcmode="lin" valueType="num">
                                      <p:cBhvr additive="base">
                                        <p:cTn id="146"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2" grpId="0" animBg="1"/>
      <p:bldP spid="43" grpId="0"/>
      <p:bldP spid="44" grpId="0"/>
      <p:bldP spid="45" grpId="0"/>
      <p:bldP spid="47" grpId="0"/>
      <p:bldP spid="48" grpId="0"/>
      <p:bldP spid="49" grpId="0"/>
      <p:bldP spid="50" grpId="0"/>
      <p:bldP spid="51" grpId="0"/>
      <p:bldP spid="52" grpId="0" animBg="1"/>
      <p:bldP spid="5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14011-0D83-42CE-AAA1-21907291AAA9}"/>
              </a:ext>
            </a:extLst>
          </p:cNvPr>
          <p:cNvSpPr>
            <a:spLocks noGrp="1"/>
          </p:cNvSpPr>
          <p:nvPr>
            <p:ph type="title"/>
          </p:nvPr>
        </p:nvSpPr>
        <p:spPr/>
        <p:txBody>
          <a:bodyPr/>
          <a:lstStyle/>
          <a:p>
            <a:r>
              <a:rPr lang="en-US" dirty="0"/>
              <a:t>Power function</a:t>
            </a:r>
          </a:p>
        </p:txBody>
      </p:sp>
      <p:sp>
        <p:nvSpPr>
          <p:cNvPr id="3" name="Content Placeholder 2">
            <a:extLst>
              <a:ext uri="{FF2B5EF4-FFF2-40B4-BE49-F238E27FC236}">
                <a16:creationId xmlns:a16="http://schemas.microsoft.com/office/drawing/2014/main" id="{9C1380E5-EE39-4E7F-AD71-05C0EFD1664C}"/>
              </a:ext>
            </a:extLst>
          </p:cNvPr>
          <p:cNvSpPr>
            <a:spLocks noGrp="1"/>
          </p:cNvSpPr>
          <p:nvPr>
            <p:ph idx="1"/>
          </p:nvPr>
        </p:nvSpPr>
        <p:spPr/>
        <p:txBody>
          <a:bodyPr>
            <a:normAutofit fontScale="77500" lnSpcReduction="20000"/>
          </a:bodyPr>
          <a:lstStyle/>
          <a:p>
            <a:pPr marL="0" indent="0">
              <a:buNone/>
            </a:pPr>
            <a:r>
              <a:rPr lang="en-US" dirty="0"/>
              <a:t>int power(int b , int n) 	// n is exponent</a:t>
            </a:r>
          </a:p>
          <a:p>
            <a:pPr marL="0" indent="0">
              <a:buNone/>
            </a:pPr>
            <a:r>
              <a:rPr lang="en-US" dirty="0"/>
              <a:t>{</a:t>
            </a:r>
          </a:p>
          <a:p>
            <a:pPr marL="0" indent="0">
              <a:buNone/>
            </a:pPr>
            <a:r>
              <a:rPr lang="en-US" dirty="0"/>
              <a:t>	if (n == 0)</a:t>
            </a:r>
          </a:p>
          <a:p>
            <a:pPr marL="0" indent="0">
              <a:buNone/>
            </a:pPr>
            <a:r>
              <a:rPr lang="en-US" dirty="0"/>
              <a:t>	return 1;</a:t>
            </a:r>
          </a:p>
          <a:p>
            <a:pPr marL="0" indent="0">
              <a:buNone/>
            </a:pPr>
            <a:r>
              <a:rPr lang="en-US" dirty="0"/>
              <a:t>	else</a:t>
            </a:r>
          </a:p>
          <a:p>
            <a:pPr marL="0" indent="0">
              <a:buNone/>
            </a:pPr>
            <a:r>
              <a:rPr lang="en-US" dirty="0"/>
              <a:t>	{</a:t>
            </a:r>
          </a:p>
          <a:p>
            <a:pPr marL="0" indent="0">
              <a:buNone/>
            </a:pPr>
            <a:r>
              <a:rPr lang="en-US" dirty="0"/>
              <a:t>		int temp = power ( b, n-1 );</a:t>
            </a:r>
          </a:p>
          <a:p>
            <a:pPr marL="0" indent="0">
              <a:buNone/>
            </a:pPr>
            <a:r>
              <a:rPr lang="en-US" dirty="0"/>
              <a:t>		return b*temp;</a:t>
            </a:r>
          </a:p>
          <a:p>
            <a:pPr marL="0" indent="0">
              <a:buNone/>
            </a:pPr>
            <a:r>
              <a:rPr lang="en-US" dirty="0"/>
              <a:t>	}</a:t>
            </a:r>
          </a:p>
          <a:p>
            <a:pPr marL="0" indent="0">
              <a:buNone/>
            </a:pPr>
            <a:endParaRPr lang="en-US" dirty="0"/>
          </a:p>
          <a:p>
            <a:pPr marL="0" indent="0">
              <a:buNone/>
            </a:pPr>
            <a:r>
              <a:rPr lang="en-US" dirty="0"/>
              <a:t>}</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7FCAA3C-CA2A-4234-9553-372C03C17FB9}"/>
                  </a:ext>
                </a:extLst>
              </p14:cNvPr>
              <p14:cNvContentPartPr/>
              <p14:nvPr/>
            </p14:nvContentPartPr>
            <p14:xfrm>
              <a:off x="6484846" y="1687708"/>
              <a:ext cx="360" cy="360"/>
            </p14:xfrm>
          </p:contentPart>
        </mc:Choice>
        <mc:Fallback xmlns="">
          <p:pic>
            <p:nvPicPr>
              <p:cNvPr id="4" name="Ink 3">
                <a:extLst>
                  <a:ext uri="{FF2B5EF4-FFF2-40B4-BE49-F238E27FC236}">
                    <a16:creationId xmlns:a16="http://schemas.microsoft.com/office/drawing/2014/main" id="{97FCAA3C-CA2A-4234-9553-372C03C17FB9}"/>
                  </a:ext>
                </a:extLst>
              </p:cNvPr>
              <p:cNvPicPr/>
              <p:nvPr/>
            </p:nvPicPr>
            <p:blipFill>
              <a:blip r:embed="rId3"/>
              <a:stretch>
                <a:fillRect/>
              </a:stretch>
            </p:blipFill>
            <p:spPr>
              <a:xfrm>
                <a:off x="6448846" y="1651708"/>
                <a:ext cx="72000" cy="72000"/>
              </a:xfrm>
              <a:prstGeom prst="rect">
                <a:avLst/>
              </a:prstGeom>
            </p:spPr>
          </p:pic>
        </mc:Fallback>
      </mc:AlternateContent>
    </p:spTree>
    <p:extLst>
      <p:ext uri="{BB962C8B-B14F-4D97-AF65-F5344CB8AC3E}">
        <p14:creationId xmlns:p14="http://schemas.microsoft.com/office/powerpoint/2010/main" val="12219815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Power (Call Stack)</a:t>
            </a:r>
          </a:p>
        </p:txBody>
      </p:sp>
      <p:sp>
        <p:nvSpPr>
          <p:cNvPr id="3" name="Content Placeholder 2"/>
          <p:cNvSpPr>
            <a:spLocks noGrp="1"/>
          </p:cNvSpPr>
          <p:nvPr>
            <p:ph idx="1"/>
          </p:nvPr>
        </p:nvSpPr>
        <p:spPr>
          <a:xfrm>
            <a:off x="381000" y="1166018"/>
            <a:ext cx="8534400" cy="5539582"/>
          </a:xfrm>
        </p:spPr>
        <p:txBody>
          <a:bodyPr/>
          <a:lstStyle/>
          <a:p>
            <a:pPr marL="0" indent="0">
              <a:buNone/>
            </a:pPr>
            <a:endParaRPr lang="en-US" dirty="0"/>
          </a:p>
        </p:txBody>
      </p:sp>
      <p:sp>
        <p:nvSpPr>
          <p:cNvPr id="4" name="Rectangle 3"/>
          <p:cNvSpPr/>
          <p:nvPr/>
        </p:nvSpPr>
        <p:spPr>
          <a:xfrm>
            <a:off x="1219200" y="12954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power (2, 4 )  </a:t>
            </a:r>
          </a:p>
        </p:txBody>
      </p:sp>
      <p:sp>
        <p:nvSpPr>
          <p:cNvPr id="6" name="Rectangle 5"/>
          <p:cNvSpPr/>
          <p:nvPr/>
        </p:nvSpPr>
        <p:spPr>
          <a:xfrm>
            <a:off x="3429000" y="45720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power (2, 1 )</a:t>
            </a:r>
            <a:endParaRPr lang="en-US" dirty="0"/>
          </a:p>
        </p:txBody>
      </p:sp>
      <p:sp>
        <p:nvSpPr>
          <p:cNvPr id="7" name="Rectangle 6"/>
          <p:cNvSpPr/>
          <p:nvPr/>
        </p:nvSpPr>
        <p:spPr>
          <a:xfrm>
            <a:off x="2743200" y="34290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power (2, 2 )</a:t>
            </a:r>
            <a:endParaRPr lang="en-US" dirty="0"/>
          </a:p>
        </p:txBody>
      </p:sp>
      <p:sp>
        <p:nvSpPr>
          <p:cNvPr id="8" name="Rectangle 7"/>
          <p:cNvSpPr/>
          <p:nvPr/>
        </p:nvSpPr>
        <p:spPr>
          <a:xfrm>
            <a:off x="2057400" y="2362200"/>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power ( 2,3 )</a:t>
            </a:r>
            <a:endParaRPr lang="en-US" dirty="0"/>
          </a:p>
        </p:txBody>
      </p:sp>
      <p:sp>
        <p:nvSpPr>
          <p:cNvPr id="12" name="Rectangle 11"/>
          <p:cNvSpPr/>
          <p:nvPr/>
        </p:nvSpPr>
        <p:spPr>
          <a:xfrm>
            <a:off x="4463955" y="5721823"/>
            <a:ext cx="16764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power ( 2,0 )</a:t>
            </a:r>
            <a:endParaRPr lang="en-US" dirty="0"/>
          </a:p>
        </p:txBody>
      </p:sp>
      <p:cxnSp>
        <p:nvCxnSpPr>
          <p:cNvPr id="21" name="Straight Arrow Connector 20"/>
          <p:cNvCxnSpPr/>
          <p:nvPr/>
        </p:nvCxnSpPr>
        <p:spPr>
          <a:xfrm flipH="1">
            <a:off x="3962400" y="6324600"/>
            <a:ext cx="501555"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flipH="1">
            <a:off x="2971800" y="51054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H="1">
            <a:off x="2286000" y="40386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a:off x="1600200" y="2895600"/>
            <a:ext cx="4572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V="1">
            <a:off x="3962400" y="5486400"/>
            <a:ext cx="0" cy="8382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flipV="1">
            <a:off x="1651379" y="2362200"/>
            <a:ext cx="0" cy="4953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362200" y="3276600"/>
            <a:ext cx="0" cy="7620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H="1" flipV="1">
            <a:off x="2971800" y="4495800"/>
            <a:ext cx="25021" cy="609601"/>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409666" y="5809691"/>
            <a:ext cx="489531" cy="369332"/>
          </a:xfrm>
          <a:prstGeom prst="rect">
            <a:avLst/>
          </a:prstGeom>
          <a:noFill/>
        </p:spPr>
        <p:txBody>
          <a:bodyPr wrap="square" rtlCol="0">
            <a:spAutoFit/>
          </a:bodyPr>
          <a:lstStyle/>
          <a:p>
            <a:r>
              <a:rPr lang="en-US" dirty="0"/>
              <a:t>  </a:t>
            </a:r>
            <a:r>
              <a:rPr lang="en-US" b="1" dirty="0"/>
              <a:t>1</a:t>
            </a:r>
          </a:p>
        </p:txBody>
      </p:sp>
      <p:sp>
        <p:nvSpPr>
          <p:cNvPr id="44" name="TextBox 43"/>
          <p:cNvSpPr txBox="1"/>
          <p:nvPr/>
        </p:nvSpPr>
        <p:spPr>
          <a:xfrm>
            <a:off x="761999" y="4706034"/>
            <a:ext cx="1524001" cy="646331"/>
          </a:xfrm>
          <a:prstGeom prst="rect">
            <a:avLst/>
          </a:prstGeom>
          <a:noFill/>
        </p:spPr>
        <p:txBody>
          <a:bodyPr wrap="square" rtlCol="0">
            <a:spAutoFit/>
          </a:bodyPr>
          <a:lstStyle/>
          <a:p>
            <a:r>
              <a:rPr lang="en-US" dirty="0"/>
              <a:t>Temp = 1</a:t>
            </a:r>
          </a:p>
          <a:p>
            <a:r>
              <a:rPr lang="en-US" dirty="0"/>
              <a:t>return 2 * 1</a:t>
            </a:r>
          </a:p>
        </p:txBody>
      </p:sp>
      <p:sp>
        <p:nvSpPr>
          <p:cNvPr id="45" name="TextBox 44"/>
          <p:cNvSpPr txBox="1"/>
          <p:nvPr/>
        </p:nvSpPr>
        <p:spPr>
          <a:xfrm>
            <a:off x="2482269" y="4615934"/>
            <a:ext cx="413331" cy="369332"/>
          </a:xfrm>
          <a:prstGeom prst="rect">
            <a:avLst/>
          </a:prstGeom>
          <a:noFill/>
        </p:spPr>
        <p:txBody>
          <a:bodyPr wrap="square" rtlCol="0">
            <a:spAutoFit/>
          </a:bodyPr>
          <a:lstStyle/>
          <a:p>
            <a:r>
              <a:rPr lang="en-US" dirty="0"/>
              <a:t>  </a:t>
            </a:r>
            <a:r>
              <a:rPr lang="en-US" b="1" dirty="0"/>
              <a:t>1</a:t>
            </a:r>
          </a:p>
        </p:txBody>
      </p:sp>
      <p:sp>
        <p:nvSpPr>
          <p:cNvPr id="47" name="TextBox 46"/>
          <p:cNvSpPr txBox="1"/>
          <p:nvPr/>
        </p:nvSpPr>
        <p:spPr>
          <a:xfrm>
            <a:off x="457201" y="3701534"/>
            <a:ext cx="1371600" cy="646331"/>
          </a:xfrm>
          <a:prstGeom prst="rect">
            <a:avLst/>
          </a:prstGeom>
          <a:noFill/>
        </p:spPr>
        <p:txBody>
          <a:bodyPr wrap="square" rtlCol="0">
            <a:spAutoFit/>
          </a:bodyPr>
          <a:lstStyle/>
          <a:p>
            <a:r>
              <a:rPr lang="en-US" dirty="0"/>
              <a:t>Temp = 2</a:t>
            </a:r>
          </a:p>
          <a:p>
            <a:r>
              <a:rPr lang="en-US" dirty="0"/>
              <a:t>return 2 * 2</a:t>
            </a:r>
          </a:p>
        </p:txBody>
      </p:sp>
      <p:sp>
        <p:nvSpPr>
          <p:cNvPr id="48" name="TextBox 47"/>
          <p:cNvSpPr txBox="1"/>
          <p:nvPr/>
        </p:nvSpPr>
        <p:spPr>
          <a:xfrm>
            <a:off x="1934329" y="3516868"/>
            <a:ext cx="320964" cy="369332"/>
          </a:xfrm>
          <a:prstGeom prst="rect">
            <a:avLst/>
          </a:prstGeom>
          <a:noFill/>
        </p:spPr>
        <p:txBody>
          <a:bodyPr wrap="square" rtlCol="0">
            <a:spAutoFit/>
          </a:bodyPr>
          <a:lstStyle/>
          <a:p>
            <a:r>
              <a:rPr lang="en-US" b="1" dirty="0"/>
              <a:t>2</a:t>
            </a:r>
          </a:p>
        </p:txBody>
      </p:sp>
      <p:sp>
        <p:nvSpPr>
          <p:cNvPr id="49" name="TextBox 48"/>
          <p:cNvSpPr txBox="1"/>
          <p:nvPr/>
        </p:nvSpPr>
        <p:spPr>
          <a:xfrm>
            <a:off x="304801" y="2849875"/>
            <a:ext cx="1295400" cy="646331"/>
          </a:xfrm>
          <a:prstGeom prst="rect">
            <a:avLst/>
          </a:prstGeom>
          <a:noFill/>
        </p:spPr>
        <p:txBody>
          <a:bodyPr wrap="square" rtlCol="0">
            <a:spAutoFit/>
          </a:bodyPr>
          <a:lstStyle/>
          <a:p>
            <a:r>
              <a:rPr lang="en-US" dirty="0"/>
              <a:t>Temp = 4</a:t>
            </a:r>
          </a:p>
          <a:p>
            <a:r>
              <a:rPr lang="en-US" dirty="0"/>
              <a:t>return 4*2</a:t>
            </a:r>
          </a:p>
        </p:txBody>
      </p:sp>
      <p:sp>
        <p:nvSpPr>
          <p:cNvPr id="50" name="TextBox 49"/>
          <p:cNvSpPr txBox="1"/>
          <p:nvPr/>
        </p:nvSpPr>
        <p:spPr>
          <a:xfrm>
            <a:off x="1331549" y="2396467"/>
            <a:ext cx="301686" cy="369332"/>
          </a:xfrm>
          <a:prstGeom prst="rect">
            <a:avLst/>
          </a:prstGeom>
          <a:noFill/>
        </p:spPr>
        <p:txBody>
          <a:bodyPr wrap="none" rtlCol="0">
            <a:spAutoFit/>
          </a:bodyPr>
          <a:lstStyle/>
          <a:p>
            <a:r>
              <a:rPr lang="en-US" b="1" dirty="0"/>
              <a:t>6</a:t>
            </a:r>
          </a:p>
        </p:txBody>
      </p:sp>
      <p:sp>
        <p:nvSpPr>
          <p:cNvPr id="51" name="TextBox 50"/>
          <p:cNvSpPr txBox="1"/>
          <p:nvPr/>
        </p:nvSpPr>
        <p:spPr>
          <a:xfrm>
            <a:off x="-57432" y="1657803"/>
            <a:ext cx="1331548" cy="923330"/>
          </a:xfrm>
          <a:prstGeom prst="rect">
            <a:avLst/>
          </a:prstGeom>
          <a:noFill/>
        </p:spPr>
        <p:txBody>
          <a:bodyPr wrap="square" rtlCol="0">
            <a:spAutoFit/>
          </a:bodyPr>
          <a:lstStyle/>
          <a:p>
            <a:r>
              <a:rPr lang="en-US" dirty="0"/>
              <a:t>Temp = 8</a:t>
            </a:r>
          </a:p>
          <a:p>
            <a:r>
              <a:rPr lang="en-US" dirty="0"/>
              <a:t>Return 8*2 </a:t>
            </a:r>
          </a:p>
          <a:p>
            <a:endParaRPr lang="en-US" dirty="0"/>
          </a:p>
        </p:txBody>
      </p:sp>
      <p:sp>
        <p:nvSpPr>
          <p:cNvPr id="52" name="Rectangle 51"/>
          <p:cNvSpPr/>
          <p:nvPr/>
        </p:nvSpPr>
        <p:spPr>
          <a:xfrm>
            <a:off x="4872819" y="1482067"/>
            <a:ext cx="14478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main</a:t>
            </a:r>
          </a:p>
        </p:txBody>
      </p:sp>
      <p:cxnSp>
        <p:nvCxnSpPr>
          <p:cNvPr id="54" name="Straight Arrow Connector 53"/>
          <p:cNvCxnSpPr/>
          <p:nvPr/>
        </p:nvCxnSpPr>
        <p:spPr>
          <a:xfrm>
            <a:off x="2996821" y="1752600"/>
            <a:ext cx="1651379"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3714466" y="1288471"/>
            <a:ext cx="552734" cy="369332"/>
          </a:xfrm>
          <a:prstGeom prst="rect">
            <a:avLst/>
          </a:prstGeom>
          <a:noFill/>
        </p:spPr>
        <p:txBody>
          <a:bodyPr wrap="square" rtlCol="0">
            <a:spAutoFit/>
          </a:bodyPr>
          <a:lstStyle/>
          <a:p>
            <a:r>
              <a:rPr lang="en-US" dirty="0"/>
              <a:t>  </a:t>
            </a:r>
            <a:r>
              <a:rPr lang="en-US" b="1" dirty="0"/>
              <a:t>16</a:t>
            </a:r>
          </a:p>
        </p:txBody>
      </p:sp>
    </p:spTree>
    <p:extLst>
      <p:ext uri="{BB962C8B-B14F-4D97-AF65-F5344CB8AC3E}">
        <p14:creationId xmlns:p14="http://schemas.microsoft.com/office/powerpoint/2010/main" val="229564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anim calcmode="lin" valueType="num">
                                      <p:cBhvr additive="base">
                                        <p:cTn id="43" dur="500" fill="hold"/>
                                        <p:tgtEl>
                                          <p:spTgt spid="32"/>
                                        </p:tgtEl>
                                        <p:attrNameLst>
                                          <p:attrName>ppt_x</p:attrName>
                                        </p:attrNameLst>
                                      </p:cBhvr>
                                      <p:tavLst>
                                        <p:tav tm="0">
                                          <p:val>
                                            <p:strVal val="#ppt_x"/>
                                          </p:val>
                                        </p:tav>
                                        <p:tav tm="100000">
                                          <p:val>
                                            <p:strVal val="#ppt_x"/>
                                          </p:val>
                                        </p:tav>
                                      </p:tavLst>
                                    </p:anim>
                                    <p:anim calcmode="lin" valueType="num">
                                      <p:cBhvr additive="base">
                                        <p:cTn id="44"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43"/>
                                        </p:tgtEl>
                                        <p:attrNameLst>
                                          <p:attrName>style.visibility</p:attrName>
                                        </p:attrNameLst>
                                      </p:cBhvr>
                                      <p:to>
                                        <p:strVal val="visible"/>
                                      </p:to>
                                    </p:set>
                                    <p:anim calcmode="lin" valueType="num">
                                      <p:cBhvr additive="base">
                                        <p:cTn id="49" dur="500" fill="hold"/>
                                        <p:tgtEl>
                                          <p:spTgt spid="43"/>
                                        </p:tgtEl>
                                        <p:attrNameLst>
                                          <p:attrName>ppt_x</p:attrName>
                                        </p:attrNameLst>
                                      </p:cBhvr>
                                      <p:tavLst>
                                        <p:tav tm="0">
                                          <p:val>
                                            <p:strVal val="#ppt_x"/>
                                          </p:val>
                                        </p:tav>
                                        <p:tav tm="100000">
                                          <p:val>
                                            <p:strVal val="#ppt_x"/>
                                          </p:val>
                                        </p:tav>
                                      </p:tavLst>
                                    </p:anim>
                                    <p:anim calcmode="lin" valueType="num">
                                      <p:cBhvr additive="base">
                                        <p:cTn id="50"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44"/>
                                        </p:tgtEl>
                                        <p:attrNameLst>
                                          <p:attrName>style.visibility</p:attrName>
                                        </p:attrNameLst>
                                      </p:cBhvr>
                                      <p:to>
                                        <p:strVal val="visible"/>
                                      </p:to>
                                    </p:set>
                                    <p:anim calcmode="lin" valueType="num">
                                      <p:cBhvr additive="base">
                                        <p:cTn id="55" dur="500" fill="hold"/>
                                        <p:tgtEl>
                                          <p:spTgt spid="44"/>
                                        </p:tgtEl>
                                        <p:attrNameLst>
                                          <p:attrName>ppt_x</p:attrName>
                                        </p:attrNameLst>
                                      </p:cBhvr>
                                      <p:tavLst>
                                        <p:tav tm="0">
                                          <p:val>
                                            <p:strVal val="#ppt_x"/>
                                          </p:val>
                                        </p:tav>
                                        <p:tav tm="100000">
                                          <p:val>
                                            <p:strVal val="#ppt_x"/>
                                          </p:val>
                                        </p:tav>
                                      </p:tavLst>
                                    </p:anim>
                                    <p:anim calcmode="lin" valueType="num">
                                      <p:cBhvr additive="base">
                                        <p:cTn id="5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24"/>
                                        </p:tgtEl>
                                        <p:attrNameLst>
                                          <p:attrName>style.visibility</p:attrName>
                                        </p:attrNameLst>
                                      </p:cBhvr>
                                      <p:to>
                                        <p:strVal val="visible"/>
                                      </p:to>
                                    </p:set>
                                    <p:anim calcmode="lin" valueType="num">
                                      <p:cBhvr additive="base">
                                        <p:cTn id="61" dur="500" fill="hold"/>
                                        <p:tgtEl>
                                          <p:spTgt spid="24"/>
                                        </p:tgtEl>
                                        <p:attrNameLst>
                                          <p:attrName>ppt_x</p:attrName>
                                        </p:attrNameLst>
                                      </p:cBhvr>
                                      <p:tavLst>
                                        <p:tav tm="0">
                                          <p:val>
                                            <p:strVal val="#ppt_x"/>
                                          </p:val>
                                        </p:tav>
                                        <p:tav tm="100000">
                                          <p:val>
                                            <p:strVal val="#ppt_x"/>
                                          </p:val>
                                        </p:tav>
                                      </p:tavLst>
                                    </p:anim>
                                    <p:anim calcmode="lin" valueType="num">
                                      <p:cBhvr additive="base">
                                        <p:cTn id="62"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9"/>
                                        </p:tgtEl>
                                        <p:attrNameLst>
                                          <p:attrName>style.visibility</p:attrName>
                                        </p:attrNameLst>
                                      </p:cBhvr>
                                      <p:to>
                                        <p:strVal val="visible"/>
                                      </p:to>
                                    </p:set>
                                    <p:anim calcmode="lin" valueType="num">
                                      <p:cBhvr additive="base">
                                        <p:cTn id="67" dur="500" fill="hold"/>
                                        <p:tgtEl>
                                          <p:spTgt spid="39"/>
                                        </p:tgtEl>
                                        <p:attrNameLst>
                                          <p:attrName>ppt_x</p:attrName>
                                        </p:attrNameLst>
                                      </p:cBhvr>
                                      <p:tavLst>
                                        <p:tav tm="0">
                                          <p:val>
                                            <p:strVal val="#ppt_x"/>
                                          </p:val>
                                        </p:tav>
                                        <p:tav tm="100000">
                                          <p:val>
                                            <p:strVal val="#ppt_x"/>
                                          </p:val>
                                        </p:tav>
                                      </p:tavLst>
                                    </p:anim>
                                    <p:anim calcmode="lin" valueType="num">
                                      <p:cBhvr additive="base">
                                        <p:cTn id="6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fill="hold"/>
                                        <p:tgtEl>
                                          <p:spTgt spid="45"/>
                                        </p:tgtEl>
                                        <p:attrNameLst>
                                          <p:attrName>ppt_x</p:attrName>
                                        </p:attrNameLst>
                                      </p:cBhvr>
                                      <p:tavLst>
                                        <p:tav tm="0">
                                          <p:val>
                                            <p:strVal val="#ppt_x"/>
                                          </p:val>
                                        </p:tav>
                                        <p:tav tm="100000">
                                          <p:val>
                                            <p:strVal val="#ppt_x"/>
                                          </p:val>
                                        </p:tav>
                                      </p:tavLst>
                                    </p:anim>
                                    <p:anim calcmode="lin" valueType="num">
                                      <p:cBhvr additive="base">
                                        <p:cTn id="74"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47"/>
                                        </p:tgtEl>
                                        <p:attrNameLst>
                                          <p:attrName>style.visibility</p:attrName>
                                        </p:attrNameLst>
                                      </p:cBhvr>
                                      <p:to>
                                        <p:strVal val="visible"/>
                                      </p:to>
                                    </p:set>
                                    <p:anim calcmode="lin" valueType="num">
                                      <p:cBhvr additive="base">
                                        <p:cTn id="79" dur="500" fill="hold"/>
                                        <p:tgtEl>
                                          <p:spTgt spid="47"/>
                                        </p:tgtEl>
                                        <p:attrNameLst>
                                          <p:attrName>ppt_x</p:attrName>
                                        </p:attrNameLst>
                                      </p:cBhvr>
                                      <p:tavLst>
                                        <p:tav tm="0">
                                          <p:val>
                                            <p:strVal val="#ppt_x"/>
                                          </p:val>
                                        </p:tav>
                                        <p:tav tm="100000">
                                          <p:val>
                                            <p:strVal val="#ppt_x"/>
                                          </p:val>
                                        </p:tav>
                                      </p:tavLst>
                                    </p:anim>
                                    <p:anim calcmode="lin" valueType="num">
                                      <p:cBhvr additive="base">
                                        <p:cTn id="80"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8"/>
                                        </p:tgtEl>
                                        <p:attrNameLst>
                                          <p:attrName>style.visibility</p:attrName>
                                        </p:attrNameLst>
                                      </p:cBhvr>
                                      <p:to>
                                        <p:strVal val="visible"/>
                                      </p:to>
                                    </p:set>
                                    <p:anim calcmode="lin" valueType="num">
                                      <p:cBhvr additive="base">
                                        <p:cTn id="85" dur="500" fill="hold"/>
                                        <p:tgtEl>
                                          <p:spTgt spid="48"/>
                                        </p:tgtEl>
                                        <p:attrNameLst>
                                          <p:attrName>ppt_x</p:attrName>
                                        </p:attrNameLst>
                                      </p:cBhvr>
                                      <p:tavLst>
                                        <p:tav tm="0">
                                          <p:val>
                                            <p:strVal val="#ppt_x"/>
                                          </p:val>
                                        </p:tav>
                                        <p:tav tm="100000">
                                          <p:val>
                                            <p:strVal val="#ppt_x"/>
                                          </p:val>
                                        </p:tav>
                                      </p:tavLst>
                                    </p:anim>
                                    <p:anim calcmode="lin" valueType="num">
                                      <p:cBhvr additive="base">
                                        <p:cTn id="86"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25"/>
                                        </p:tgtEl>
                                        <p:attrNameLst>
                                          <p:attrName>style.visibility</p:attrName>
                                        </p:attrNameLst>
                                      </p:cBhvr>
                                      <p:to>
                                        <p:strVal val="visible"/>
                                      </p:to>
                                    </p:set>
                                    <p:anim calcmode="lin" valueType="num">
                                      <p:cBhvr additive="base">
                                        <p:cTn id="91" dur="500" fill="hold"/>
                                        <p:tgtEl>
                                          <p:spTgt spid="25"/>
                                        </p:tgtEl>
                                        <p:attrNameLst>
                                          <p:attrName>ppt_x</p:attrName>
                                        </p:attrNameLst>
                                      </p:cBhvr>
                                      <p:tavLst>
                                        <p:tav tm="0">
                                          <p:val>
                                            <p:strVal val="#ppt_x"/>
                                          </p:val>
                                        </p:tav>
                                        <p:tav tm="100000">
                                          <p:val>
                                            <p:strVal val="#ppt_x"/>
                                          </p:val>
                                        </p:tav>
                                      </p:tavLst>
                                    </p:anim>
                                    <p:anim calcmode="lin" valueType="num">
                                      <p:cBhvr additive="base">
                                        <p:cTn id="9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38"/>
                                        </p:tgtEl>
                                        <p:attrNameLst>
                                          <p:attrName>style.visibility</p:attrName>
                                        </p:attrNameLst>
                                      </p:cBhvr>
                                      <p:to>
                                        <p:strVal val="visible"/>
                                      </p:to>
                                    </p:set>
                                    <p:anim calcmode="lin" valueType="num">
                                      <p:cBhvr additive="base">
                                        <p:cTn id="97" dur="500" fill="hold"/>
                                        <p:tgtEl>
                                          <p:spTgt spid="38"/>
                                        </p:tgtEl>
                                        <p:attrNameLst>
                                          <p:attrName>ppt_x</p:attrName>
                                        </p:attrNameLst>
                                      </p:cBhvr>
                                      <p:tavLst>
                                        <p:tav tm="0">
                                          <p:val>
                                            <p:strVal val="#ppt_x"/>
                                          </p:val>
                                        </p:tav>
                                        <p:tav tm="100000">
                                          <p:val>
                                            <p:strVal val="#ppt_x"/>
                                          </p:val>
                                        </p:tav>
                                      </p:tavLst>
                                    </p:anim>
                                    <p:anim calcmode="lin" valueType="num">
                                      <p:cBhvr additive="base">
                                        <p:cTn id="98"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49"/>
                                        </p:tgtEl>
                                        <p:attrNameLst>
                                          <p:attrName>style.visibility</p:attrName>
                                        </p:attrNameLst>
                                      </p:cBhvr>
                                      <p:to>
                                        <p:strVal val="visible"/>
                                      </p:to>
                                    </p:set>
                                    <p:anim calcmode="lin" valueType="num">
                                      <p:cBhvr additive="base">
                                        <p:cTn id="103" dur="500" fill="hold"/>
                                        <p:tgtEl>
                                          <p:spTgt spid="49"/>
                                        </p:tgtEl>
                                        <p:attrNameLst>
                                          <p:attrName>ppt_x</p:attrName>
                                        </p:attrNameLst>
                                      </p:cBhvr>
                                      <p:tavLst>
                                        <p:tav tm="0">
                                          <p:val>
                                            <p:strVal val="#ppt_x"/>
                                          </p:val>
                                        </p:tav>
                                        <p:tav tm="100000">
                                          <p:val>
                                            <p:strVal val="#ppt_x"/>
                                          </p:val>
                                        </p:tav>
                                      </p:tavLst>
                                    </p:anim>
                                    <p:anim calcmode="lin" valueType="num">
                                      <p:cBhvr additive="base">
                                        <p:cTn id="104" dur="500" fill="hold"/>
                                        <p:tgtEl>
                                          <p:spTgt spid="49"/>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26"/>
                                        </p:tgtEl>
                                        <p:attrNameLst>
                                          <p:attrName>style.visibility</p:attrName>
                                        </p:attrNameLst>
                                      </p:cBhvr>
                                      <p:to>
                                        <p:strVal val="visible"/>
                                      </p:to>
                                    </p:set>
                                    <p:anim calcmode="lin" valueType="num">
                                      <p:cBhvr additive="base">
                                        <p:cTn id="109" dur="500" fill="hold"/>
                                        <p:tgtEl>
                                          <p:spTgt spid="26"/>
                                        </p:tgtEl>
                                        <p:attrNameLst>
                                          <p:attrName>ppt_x</p:attrName>
                                        </p:attrNameLst>
                                      </p:cBhvr>
                                      <p:tavLst>
                                        <p:tav tm="0">
                                          <p:val>
                                            <p:strVal val="#ppt_x"/>
                                          </p:val>
                                        </p:tav>
                                        <p:tav tm="100000">
                                          <p:val>
                                            <p:strVal val="#ppt_x"/>
                                          </p:val>
                                        </p:tav>
                                      </p:tavLst>
                                    </p:anim>
                                    <p:anim calcmode="lin" valueType="num">
                                      <p:cBhvr additive="base">
                                        <p:cTn id="110" dur="500" fill="hold"/>
                                        <p:tgtEl>
                                          <p:spTgt spid="26"/>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nodeType="clickEffect">
                                  <p:stCondLst>
                                    <p:cond delay="0"/>
                                  </p:stCondLst>
                                  <p:childTnLst>
                                    <p:set>
                                      <p:cBhvr>
                                        <p:cTn id="114" dur="1" fill="hold">
                                          <p:stCondLst>
                                            <p:cond delay="0"/>
                                          </p:stCondLst>
                                        </p:cTn>
                                        <p:tgtEl>
                                          <p:spTgt spid="37"/>
                                        </p:tgtEl>
                                        <p:attrNameLst>
                                          <p:attrName>style.visibility</p:attrName>
                                        </p:attrNameLst>
                                      </p:cBhvr>
                                      <p:to>
                                        <p:strVal val="visible"/>
                                      </p:to>
                                    </p:set>
                                    <p:anim calcmode="lin" valueType="num">
                                      <p:cBhvr additive="base">
                                        <p:cTn id="115" dur="500" fill="hold"/>
                                        <p:tgtEl>
                                          <p:spTgt spid="37"/>
                                        </p:tgtEl>
                                        <p:attrNameLst>
                                          <p:attrName>ppt_x</p:attrName>
                                        </p:attrNameLst>
                                      </p:cBhvr>
                                      <p:tavLst>
                                        <p:tav tm="0">
                                          <p:val>
                                            <p:strVal val="#ppt_x"/>
                                          </p:val>
                                        </p:tav>
                                        <p:tav tm="100000">
                                          <p:val>
                                            <p:strVal val="#ppt_x"/>
                                          </p:val>
                                        </p:tav>
                                      </p:tavLst>
                                    </p:anim>
                                    <p:anim calcmode="lin" valueType="num">
                                      <p:cBhvr additive="base">
                                        <p:cTn id="116"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50"/>
                                        </p:tgtEl>
                                        <p:attrNameLst>
                                          <p:attrName>style.visibility</p:attrName>
                                        </p:attrNameLst>
                                      </p:cBhvr>
                                      <p:to>
                                        <p:strVal val="visible"/>
                                      </p:to>
                                    </p:set>
                                    <p:anim calcmode="lin" valueType="num">
                                      <p:cBhvr additive="base">
                                        <p:cTn id="121" dur="500" fill="hold"/>
                                        <p:tgtEl>
                                          <p:spTgt spid="50"/>
                                        </p:tgtEl>
                                        <p:attrNameLst>
                                          <p:attrName>ppt_x</p:attrName>
                                        </p:attrNameLst>
                                      </p:cBhvr>
                                      <p:tavLst>
                                        <p:tav tm="0">
                                          <p:val>
                                            <p:strVal val="#ppt_x"/>
                                          </p:val>
                                        </p:tav>
                                        <p:tav tm="100000">
                                          <p:val>
                                            <p:strVal val="#ppt_x"/>
                                          </p:val>
                                        </p:tav>
                                      </p:tavLst>
                                    </p:anim>
                                    <p:anim calcmode="lin" valueType="num">
                                      <p:cBhvr additive="base">
                                        <p:cTn id="122" dur="500" fill="hold"/>
                                        <p:tgtEl>
                                          <p:spTgt spid="50"/>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51"/>
                                        </p:tgtEl>
                                        <p:attrNameLst>
                                          <p:attrName>style.visibility</p:attrName>
                                        </p:attrNameLst>
                                      </p:cBhvr>
                                      <p:to>
                                        <p:strVal val="visible"/>
                                      </p:to>
                                    </p:set>
                                    <p:anim calcmode="lin" valueType="num">
                                      <p:cBhvr additive="base">
                                        <p:cTn id="127" dur="500" fill="hold"/>
                                        <p:tgtEl>
                                          <p:spTgt spid="51"/>
                                        </p:tgtEl>
                                        <p:attrNameLst>
                                          <p:attrName>ppt_x</p:attrName>
                                        </p:attrNameLst>
                                      </p:cBhvr>
                                      <p:tavLst>
                                        <p:tav tm="0">
                                          <p:val>
                                            <p:strVal val="#ppt_x"/>
                                          </p:val>
                                        </p:tav>
                                        <p:tav tm="100000">
                                          <p:val>
                                            <p:strVal val="#ppt_x"/>
                                          </p:val>
                                        </p:tav>
                                      </p:tavLst>
                                    </p:anim>
                                    <p:anim calcmode="lin" valueType="num">
                                      <p:cBhvr additive="base">
                                        <p:cTn id="128" dur="500" fill="hold"/>
                                        <p:tgtEl>
                                          <p:spTgt spid="51"/>
                                        </p:tgtEl>
                                        <p:attrNameLst>
                                          <p:attrName>ppt_y</p:attrName>
                                        </p:attrNameLst>
                                      </p:cBhvr>
                                      <p:tavLst>
                                        <p:tav tm="0">
                                          <p:val>
                                            <p:strVal val="1+#ppt_h/2"/>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4" fill="hold" nodeType="clickEffect">
                                  <p:stCondLst>
                                    <p:cond delay="0"/>
                                  </p:stCondLst>
                                  <p:childTnLst>
                                    <p:set>
                                      <p:cBhvr>
                                        <p:cTn id="132" dur="1" fill="hold">
                                          <p:stCondLst>
                                            <p:cond delay="0"/>
                                          </p:stCondLst>
                                        </p:cTn>
                                        <p:tgtEl>
                                          <p:spTgt spid="54"/>
                                        </p:tgtEl>
                                        <p:attrNameLst>
                                          <p:attrName>style.visibility</p:attrName>
                                        </p:attrNameLst>
                                      </p:cBhvr>
                                      <p:to>
                                        <p:strVal val="visible"/>
                                      </p:to>
                                    </p:set>
                                    <p:anim calcmode="lin" valueType="num">
                                      <p:cBhvr additive="base">
                                        <p:cTn id="133" dur="500" fill="hold"/>
                                        <p:tgtEl>
                                          <p:spTgt spid="54"/>
                                        </p:tgtEl>
                                        <p:attrNameLst>
                                          <p:attrName>ppt_x</p:attrName>
                                        </p:attrNameLst>
                                      </p:cBhvr>
                                      <p:tavLst>
                                        <p:tav tm="0">
                                          <p:val>
                                            <p:strVal val="#ppt_x"/>
                                          </p:val>
                                        </p:tav>
                                        <p:tav tm="100000">
                                          <p:val>
                                            <p:strVal val="#ppt_x"/>
                                          </p:val>
                                        </p:tav>
                                      </p:tavLst>
                                    </p:anim>
                                    <p:anim calcmode="lin" valueType="num">
                                      <p:cBhvr additive="base">
                                        <p:cTn id="134" dur="500" fill="hold"/>
                                        <p:tgtEl>
                                          <p:spTgt spid="54"/>
                                        </p:tgtEl>
                                        <p:attrNameLst>
                                          <p:attrName>ppt_y</p:attrName>
                                        </p:attrNameLst>
                                      </p:cBhvr>
                                      <p:tavLst>
                                        <p:tav tm="0">
                                          <p:val>
                                            <p:strVal val="1+#ppt_h/2"/>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57"/>
                                        </p:tgtEl>
                                        <p:attrNameLst>
                                          <p:attrName>style.visibility</p:attrName>
                                        </p:attrNameLst>
                                      </p:cBhvr>
                                      <p:to>
                                        <p:strVal val="visible"/>
                                      </p:to>
                                    </p:set>
                                    <p:anim calcmode="lin" valueType="num">
                                      <p:cBhvr additive="base">
                                        <p:cTn id="139" dur="500" fill="hold"/>
                                        <p:tgtEl>
                                          <p:spTgt spid="57"/>
                                        </p:tgtEl>
                                        <p:attrNameLst>
                                          <p:attrName>ppt_x</p:attrName>
                                        </p:attrNameLst>
                                      </p:cBhvr>
                                      <p:tavLst>
                                        <p:tav tm="0">
                                          <p:val>
                                            <p:strVal val="#ppt_x"/>
                                          </p:val>
                                        </p:tav>
                                        <p:tav tm="100000">
                                          <p:val>
                                            <p:strVal val="#ppt_x"/>
                                          </p:val>
                                        </p:tav>
                                      </p:tavLst>
                                    </p:anim>
                                    <p:anim calcmode="lin" valueType="num">
                                      <p:cBhvr additive="base">
                                        <p:cTn id="140"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grpId="0" nodeType="clickEffect">
                                  <p:stCondLst>
                                    <p:cond delay="0"/>
                                  </p:stCondLst>
                                  <p:childTnLst>
                                    <p:set>
                                      <p:cBhvr>
                                        <p:cTn id="144" dur="1" fill="hold">
                                          <p:stCondLst>
                                            <p:cond delay="0"/>
                                          </p:stCondLst>
                                        </p:cTn>
                                        <p:tgtEl>
                                          <p:spTgt spid="52"/>
                                        </p:tgtEl>
                                        <p:attrNameLst>
                                          <p:attrName>style.visibility</p:attrName>
                                        </p:attrNameLst>
                                      </p:cBhvr>
                                      <p:to>
                                        <p:strVal val="visible"/>
                                      </p:to>
                                    </p:set>
                                    <p:anim calcmode="lin" valueType="num">
                                      <p:cBhvr additive="base">
                                        <p:cTn id="145" dur="500" fill="hold"/>
                                        <p:tgtEl>
                                          <p:spTgt spid="52"/>
                                        </p:tgtEl>
                                        <p:attrNameLst>
                                          <p:attrName>ppt_x</p:attrName>
                                        </p:attrNameLst>
                                      </p:cBhvr>
                                      <p:tavLst>
                                        <p:tav tm="0">
                                          <p:val>
                                            <p:strVal val="#ppt_x"/>
                                          </p:val>
                                        </p:tav>
                                        <p:tav tm="100000">
                                          <p:val>
                                            <p:strVal val="#ppt_x"/>
                                          </p:val>
                                        </p:tav>
                                      </p:tavLst>
                                    </p:anim>
                                    <p:anim calcmode="lin" valueType="num">
                                      <p:cBhvr additive="base">
                                        <p:cTn id="146"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P spid="12" grpId="0" animBg="1"/>
      <p:bldP spid="43" grpId="0"/>
      <p:bldP spid="44" grpId="0"/>
      <p:bldP spid="45" grpId="0"/>
      <p:bldP spid="47" grpId="0"/>
      <p:bldP spid="48" grpId="0"/>
      <p:bldP spid="49" grpId="0"/>
      <p:bldP spid="50" grpId="0"/>
      <p:bldP spid="51" grpId="0"/>
      <p:bldP spid="52" grpId="0" animBg="1"/>
      <p:bldP spid="5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Display Content of Array </a:t>
            </a:r>
          </a:p>
        </p:txBody>
      </p:sp>
      <p:sp>
        <p:nvSpPr>
          <p:cNvPr id="3" name="Content Placeholder 2"/>
          <p:cNvSpPr>
            <a:spLocks noGrp="1"/>
          </p:cNvSpPr>
          <p:nvPr>
            <p:ph idx="1"/>
          </p:nvPr>
        </p:nvSpPr>
        <p:spPr>
          <a:xfrm>
            <a:off x="457200" y="1295400"/>
            <a:ext cx="8229600" cy="4830763"/>
          </a:xfrm>
        </p:spPr>
        <p:txBody>
          <a:bodyPr/>
          <a:lstStyle/>
          <a:p>
            <a:pPr marL="0" indent="0">
              <a:buNone/>
            </a:pPr>
            <a:r>
              <a:rPr lang="en-US" dirty="0"/>
              <a:t>void </a:t>
            </a:r>
            <a:r>
              <a:rPr lang="en-US" dirty="0" err="1"/>
              <a:t>displayArray</a:t>
            </a:r>
            <a:r>
              <a:rPr lang="en-US" dirty="0"/>
              <a:t> (</a:t>
            </a:r>
            <a:r>
              <a:rPr lang="en-US" dirty="0" err="1"/>
              <a:t>int</a:t>
            </a:r>
            <a:r>
              <a:rPr lang="en-US" dirty="0"/>
              <a:t> *a , </a:t>
            </a:r>
            <a:r>
              <a:rPr lang="en-US" dirty="0" err="1"/>
              <a:t>int</a:t>
            </a:r>
            <a:r>
              <a:rPr lang="en-US" dirty="0"/>
              <a:t> start , </a:t>
            </a:r>
            <a:r>
              <a:rPr lang="en-US" dirty="0" err="1"/>
              <a:t>int</a:t>
            </a:r>
            <a:r>
              <a:rPr lang="en-US" dirty="0"/>
              <a:t> end)</a:t>
            </a:r>
          </a:p>
          <a:p>
            <a:pPr marL="0" indent="0">
              <a:buNone/>
            </a:pPr>
            <a:r>
              <a:rPr lang="en-US" dirty="0"/>
              <a:t>{</a:t>
            </a:r>
          </a:p>
          <a:p>
            <a:pPr marL="0" indent="0">
              <a:buNone/>
            </a:pPr>
            <a:r>
              <a:rPr lang="en-US" dirty="0"/>
              <a:t>	if( start == end )</a:t>
            </a:r>
          </a:p>
          <a:p>
            <a:pPr marL="0" indent="0">
              <a:buNone/>
            </a:pPr>
            <a:r>
              <a:rPr lang="en-US" dirty="0"/>
              <a:t>		</a:t>
            </a:r>
            <a:r>
              <a:rPr lang="en-US" dirty="0" err="1"/>
              <a:t>cout</a:t>
            </a:r>
            <a:r>
              <a:rPr lang="en-US" dirty="0"/>
              <a:t> &lt;&lt; a[start] &lt;&lt; “ ”;</a:t>
            </a:r>
          </a:p>
          <a:p>
            <a:pPr marL="0" indent="0">
              <a:buNone/>
            </a:pPr>
            <a:r>
              <a:rPr lang="en-US" dirty="0"/>
              <a:t>	else</a:t>
            </a:r>
          </a:p>
          <a:p>
            <a:pPr marL="0" indent="0">
              <a:buNone/>
            </a:pPr>
            <a:r>
              <a:rPr lang="en-US" dirty="0"/>
              <a:t>		 </a:t>
            </a:r>
            <a:r>
              <a:rPr lang="en-US" dirty="0" err="1"/>
              <a:t>displayArray</a:t>
            </a:r>
            <a:r>
              <a:rPr lang="en-US" dirty="0"/>
              <a:t> (a , start ,  end – 1 );</a:t>
            </a:r>
          </a:p>
          <a:p>
            <a:pPr marL="0" indent="0">
              <a:buNone/>
            </a:pPr>
            <a:r>
              <a:rPr lang="en-US" dirty="0"/>
              <a:t>		 </a:t>
            </a:r>
            <a:r>
              <a:rPr lang="en-US" dirty="0" err="1"/>
              <a:t>cout</a:t>
            </a:r>
            <a:r>
              <a:rPr lang="en-US" dirty="0"/>
              <a:t> &lt;&lt; a[end] &lt;&lt; “ ”;</a:t>
            </a:r>
          </a:p>
          <a:p>
            <a:pPr marL="0" indent="0">
              <a:buNone/>
            </a:pPr>
            <a:r>
              <a:rPr lang="en-US" dirty="0"/>
              <a:t>}</a:t>
            </a:r>
          </a:p>
        </p:txBody>
      </p:sp>
    </p:spTree>
    <p:extLst>
      <p:ext uri="{BB962C8B-B14F-4D97-AF65-F5344CB8AC3E}">
        <p14:creationId xmlns:p14="http://schemas.microsoft.com/office/powerpoint/2010/main" val="2722423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Display Array ( Call Stack)</a:t>
            </a:r>
          </a:p>
        </p:txBody>
      </p:sp>
      <p:sp>
        <p:nvSpPr>
          <p:cNvPr id="3" name="Content Placeholder 2"/>
          <p:cNvSpPr>
            <a:spLocks noGrp="1"/>
          </p:cNvSpPr>
          <p:nvPr>
            <p:ph idx="1"/>
          </p:nvPr>
        </p:nvSpPr>
        <p:spPr>
          <a:xfrm>
            <a:off x="457200" y="1600200"/>
            <a:ext cx="8229600" cy="4876800"/>
          </a:xfrm>
        </p:spPr>
        <p:txBody>
          <a:bodyPr/>
          <a:lstStyle/>
          <a:p>
            <a:pPr marL="0" indent="0">
              <a:buNone/>
            </a:pPr>
            <a:endParaRPr lang="en-US" dirty="0"/>
          </a:p>
        </p:txBody>
      </p:sp>
      <p:sp>
        <p:nvSpPr>
          <p:cNvPr id="4" name="Rectangle 3"/>
          <p:cNvSpPr/>
          <p:nvPr/>
        </p:nvSpPr>
        <p:spPr>
          <a:xfrm>
            <a:off x="1447800" y="1676400"/>
            <a:ext cx="17526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a:t>
            </a:r>
            <a:r>
              <a:rPr lang="en-US" sz="2000" b="1" dirty="0" err="1">
                <a:solidFill>
                  <a:schemeClr val="tx1"/>
                </a:solidFill>
              </a:rPr>
              <a:t>dis</a:t>
            </a:r>
            <a:r>
              <a:rPr lang="en-US" sz="2000" b="1" dirty="0">
                <a:solidFill>
                  <a:schemeClr val="tx1"/>
                </a:solidFill>
              </a:rPr>
              <a:t>( a , 0 , 3 )</a:t>
            </a:r>
            <a:endParaRPr lang="en-US" sz="2000" b="1" dirty="0"/>
          </a:p>
        </p:txBody>
      </p:sp>
      <p:sp>
        <p:nvSpPr>
          <p:cNvPr id="5" name="Rectangle 4"/>
          <p:cNvSpPr/>
          <p:nvPr/>
        </p:nvSpPr>
        <p:spPr>
          <a:xfrm>
            <a:off x="2324100" y="2822812"/>
            <a:ext cx="17526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a:t>
            </a:r>
            <a:r>
              <a:rPr lang="en-US" b="1" dirty="0" err="1">
                <a:solidFill>
                  <a:schemeClr val="tx1"/>
                </a:solidFill>
              </a:rPr>
              <a:t>dis</a:t>
            </a:r>
            <a:r>
              <a:rPr lang="en-US" b="1" dirty="0">
                <a:solidFill>
                  <a:schemeClr val="tx1"/>
                </a:solidFill>
              </a:rPr>
              <a:t>( a , 0 , 2 )</a:t>
            </a:r>
            <a:endParaRPr lang="en-US" dirty="0"/>
          </a:p>
        </p:txBody>
      </p:sp>
      <p:sp>
        <p:nvSpPr>
          <p:cNvPr id="6" name="Rectangle 5"/>
          <p:cNvSpPr/>
          <p:nvPr/>
        </p:nvSpPr>
        <p:spPr>
          <a:xfrm>
            <a:off x="3200400" y="4114800"/>
            <a:ext cx="17526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a:t>
            </a:r>
            <a:r>
              <a:rPr lang="en-US" b="1" dirty="0" err="1">
                <a:solidFill>
                  <a:schemeClr val="tx1"/>
                </a:solidFill>
              </a:rPr>
              <a:t>dis</a:t>
            </a:r>
            <a:r>
              <a:rPr lang="en-US" b="1" dirty="0">
                <a:solidFill>
                  <a:schemeClr val="tx1"/>
                </a:solidFill>
              </a:rPr>
              <a:t>( a , 0 , 1 )</a:t>
            </a:r>
            <a:endParaRPr lang="en-US" dirty="0"/>
          </a:p>
        </p:txBody>
      </p:sp>
      <p:sp>
        <p:nvSpPr>
          <p:cNvPr id="7" name="Rectangle 6"/>
          <p:cNvSpPr/>
          <p:nvPr/>
        </p:nvSpPr>
        <p:spPr>
          <a:xfrm>
            <a:off x="4114800" y="5334000"/>
            <a:ext cx="17526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a:t>D</a:t>
            </a:r>
            <a:r>
              <a:rPr lang="en-US" b="1" dirty="0" err="1">
                <a:solidFill>
                  <a:schemeClr val="tx1"/>
                </a:solidFill>
              </a:rPr>
              <a:t>dis</a:t>
            </a:r>
            <a:r>
              <a:rPr lang="en-US" b="1" dirty="0">
                <a:solidFill>
                  <a:schemeClr val="tx1"/>
                </a:solidFill>
              </a:rPr>
              <a:t>( a , 0 , 0 )</a:t>
            </a:r>
            <a:endParaRPr lang="en-US" dirty="0"/>
          </a:p>
        </p:txBody>
      </p:sp>
      <p:cxnSp>
        <p:nvCxnSpPr>
          <p:cNvPr id="9" name="Straight Arrow Connector 8"/>
          <p:cNvCxnSpPr/>
          <p:nvPr/>
        </p:nvCxnSpPr>
        <p:spPr>
          <a:xfrm flipH="1">
            <a:off x="3733800" y="5791200"/>
            <a:ext cx="3429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2857500" y="4648200"/>
            <a:ext cx="3429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1981200" y="3429000"/>
            <a:ext cx="3429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V="1">
            <a:off x="1981200" y="2590800"/>
            <a:ext cx="0" cy="8382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V="1">
            <a:off x="3757684" y="5029200"/>
            <a:ext cx="0" cy="76200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2857500" y="3737212"/>
            <a:ext cx="0" cy="910988"/>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4572000" y="1752600"/>
            <a:ext cx="13716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main()</a:t>
            </a:r>
            <a:endParaRPr lang="en-US" sz="2000" b="1" dirty="0"/>
          </a:p>
        </p:txBody>
      </p:sp>
      <p:cxnSp>
        <p:nvCxnSpPr>
          <p:cNvPr id="25" name="Straight Arrow Connector 24"/>
          <p:cNvCxnSpPr/>
          <p:nvPr/>
        </p:nvCxnSpPr>
        <p:spPr>
          <a:xfrm>
            <a:off x="3219450" y="2171700"/>
            <a:ext cx="1371600" cy="0"/>
          </a:xfrm>
          <a:prstGeom prst="straightConnector1">
            <a:avLst/>
          </a:prstGeom>
          <a:ln w="28575">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5943600" y="3429000"/>
            <a:ext cx="2514600" cy="914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       8          -3         10        </a:t>
            </a:r>
          </a:p>
        </p:txBody>
      </p:sp>
      <p:cxnSp>
        <p:nvCxnSpPr>
          <p:cNvPr id="32" name="Straight Connector 31"/>
          <p:cNvCxnSpPr/>
          <p:nvPr/>
        </p:nvCxnSpPr>
        <p:spPr>
          <a:xfrm>
            <a:off x="6553200" y="3429000"/>
            <a:ext cx="0" cy="914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a:off x="7200900" y="3415352"/>
            <a:ext cx="0" cy="914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a:off x="7848600" y="3429000"/>
            <a:ext cx="0" cy="9144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3028950" y="5509146"/>
            <a:ext cx="356181" cy="369332"/>
          </a:xfrm>
          <a:prstGeom prst="rect">
            <a:avLst/>
          </a:prstGeom>
          <a:noFill/>
        </p:spPr>
        <p:txBody>
          <a:bodyPr wrap="square" rtlCol="0">
            <a:spAutoFit/>
          </a:bodyPr>
          <a:lstStyle/>
          <a:p>
            <a:r>
              <a:rPr lang="en-US" dirty="0"/>
              <a:t> </a:t>
            </a:r>
            <a:r>
              <a:rPr lang="en-US" b="1" dirty="0"/>
              <a:t>0</a:t>
            </a:r>
          </a:p>
        </p:txBody>
      </p:sp>
      <p:sp>
        <p:nvSpPr>
          <p:cNvPr id="40" name="TextBox 39"/>
          <p:cNvSpPr txBox="1"/>
          <p:nvPr/>
        </p:nvSpPr>
        <p:spPr>
          <a:xfrm>
            <a:off x="2060284" y="5606534"/>
            <a:ext cx="530516" cy="369332"/>
          </a:xfrm>
          <a:prstGeom prst="rect">
            <a:avLst/>
          </a:prstGeom>
          <a:noFill/>
        </p:spPr>
        <p:txBody>
          <a:bodyPr wrap="square" rtlCol="0">
            <a:spAutoFit/>
          </a:bodyPr>
          <a:lstStyle/>
          <a:p>
            <a:r>
              <a:rPr lang="en-US" dirty="0"/>
              <a:t>  </a:t>
            </a:r>
            <a:r>
              <a:rPr lang="en-US" b="1" dirty="0"/>
              <a:t>16</a:t>
            </a:r>
          </a:p>
        </p:txBody>
      </p:sp>
      <p:sp>
        <p:nvSpPr>
          <p:cNvPr id="42" name="TextBox 41"/>
          <p:cNvSpPr txBox="1"/>
          <p:nvPr/>
        </p:nvSpPr>
        <p:spPr>
          <a:xfrm>
            <a:off x="2152650" y="4278868"/>
            <a:ext cx="356181" cy="369332"/>
          </a:xfrm>
          <a:prstGeom prst="rect">
            <a:avLst/>
          </a:prstGeom>
          <a:noFill/>
        </p:spPr>
        <p:txBody>
          <a:bodyPr wrap="square" rtlCol="0">
            <a:spAutoFit/>
          </a:bodyPr>
          <a:lstStyle/>
          <a:p>
            <a:r>
              <a:rPr lang="en-US" dirty="0"/>
              <a:t> </a:t>
            </a:r>
            <a:r>
              <a:rPr lang="en-US" b="1" dirty="0"/>
              <a:t>1</a:t>
            </a:r>
          </a:p>
        </p:txBody>
      </p:sp>
      <p:sp>
        <p:nvSpPr>
          <p:cNvPr id="43" name="TextBox 42"/>
          <p:cNvSpPr txBox="1"/>
          <p:nvPr/>
        </p:nvSpPr>
        <p:spPr>
          <a:xfrm>
            <a:off x="1461690" y="4355194"/>
            <a:ext cx="519510" cy="369332"/>
          </a:xfrm>
          <a:prstGeom prst="rect">
            <a:avLst/>
          </a:prstGeom>
          <a:noFill/>
        </p:spPr>
        <p:txBody>
          <a:bodyPr wrap="square" rtlCol="0">
            <a:spAutoFit/>
          </a:bodyPr>
          <a:lstStyle/>
          <a:p>
            <a:r>
              <a:rPr lang="en-US" dirty="0"/>
              <a:t>  </a:t>
            </a:r>
            <a:r>
              <a:rPr lang="en-US" b="1" dirty="0"/>
              <a:t>8</a:t>
            </a:r>
          </a:p>
        </p:txBody>
      </p:sp>
      <p:sp>
        <p:nvSpPr>
          <p:cNvPr id="44" name="TextBox 43"/>
          <p:cNvSpPr txBox="1"/>
          <p:nvPr/>
        </p:nvSpPr>
        <p:spPr>
          <a:xfrm>
            <a:off x="1447800" y="3042018"/>
            <a:ext cx="273645" cy="369332"/>
          </a:xfrm>
          <a:prstGeom prst="rect">
            <a:avLst/>
          </a:prstGeom>
          <a:noFill/>
        </p:spPr>
        <p:txBody>
          <a:bodyPr wrap="square" rtlCol="0">
            <a:spAutoFit/>
          </a:bodyPr>
          <a:lstStyle/>
          <a:p>
            <a:r>
              <a:rPr lang="en-US" b="1" dirty="0"/>
              <a:t>2</a:t>
            </a:r>
          </a:p>
        </p:txBody>
      </p:sp>
      <p:sp>
        <p:nvSpPr>
          <p:cNvPr id="45" name="TextBox 44"/>
          <p:cNvSpPr txBox="1"/>
          <p:nvPr/>
        </p:nvSpPr>
        <p:spPr>
          <a:xfrm>
            <a:off x="762000" y="3032793"/>
            <a:ext cx="489531" cy="369332"/>
          </a:xfrm>
          <a:prstGeom prst="rect">
            <a:avLst/>
          </a:prstGeom>
          <a:noFill/>
        </p:spPr>
        <p:txBody>
          <a:bodyPr wrap="square" rtlCol="0">
            <a:spAutoFit/>
          </a:bodyPr>
          <a:lstStyle/>
          <a:p>
            <a:r>
              <a:rPr lang="en-US" b="1" dirty="0"/>
              <a:t>- 3</a:t>
            </a:r>
          </a:p>
        </p:txBody>
      </p:sp>
      <p:sp>
        <p:nvSpPr>
          <p:cNvPr id="46" name="TextBox 45"/>
          <p:cNvSpPr txBox="1"/>
          <p:nvPr/>
        </p:nvSpPr>
        <p:spPr>
          <a:xfrm>
            <a:off x="1006765" y="2025134"/>
            <a:ext cx="244766" cy="369332"/>
          </a:xfrm>
          <a:prstGeom prst="rect">
            <a:avLst/>
          </a:prstGeom>
          <a:noFill/>
        </p:spPr>
        <p:txBody>
          <a:bodyPr wrap="square" rtlCol="0">
            <a:spAutoFit/>
          </a:bodyPr>
          <a:lstStyle/>
          <a:p>
            <a:r>
              <a:rPr lang="en-US" b="1" dirty="0"/>
              <a:t>3</a:t>
            </a:r>
          </a:p>
        </p:txBody>
      </p:sp>
      <p:sp>
        <p:nvSpPr>
          <p:cNvPr id="47" name="TextBox 46"/>
          <p:cNvSpPr txBox="1"/>
          <p:nvPr/>
        </p:nvSpPr>
        <p:spPr>
          <a:xfrm>
            <a:off x="381000" y="2025134"/>
            <a:ext cx="473365" cy="369332"/>
          </a:xfrm>
          <a:prstGeom prst="rect">
            <a:avLst/>
          </a:prstGeom>
          <a:noFill/>
        </p:spPr>
        <p:txBody>
          <a:bodyPr wrap="square" rtlCol="0">
            <a:spAutoFit/>
          </a:bodyPr>
          <a:lstStyle/>
          <a:p>
            <a:r>
              <a:rPr lang="en-US" b="1" dirty="0"/>
              <a:t>10</a:t>
            </a:r>
          </a:p>
        </p:txBody>
      </p:sp>
    </p:spTree>
    <p:extLst>
      <p:ext uri="{BB962C8B-B14F-4D97-AF65-F5344CB8AC3E}">
        <p14:creationId xmlns:p14="http://schemas.microsoft.com/office/powerpoint/2010/main" val="3972579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additive="base">
                                        <p:cTn id="7" dur="500" fill="hold"/>
                                        <p:tgtEl>
                                          <p:spTgt spid="30"/>
                                        </p:tgtEl>
                                        <p:attrNameLst>
                                          <p:attrName>ppt_x</p:attrName>
                                        </p:attrNameLst>
                                      </p:cBhvr>
                                      <p:tavLst>
                                        <p:tav tm="0">
                                          <p:val>
                                            <p:strVal val="#ppt_x"/>
                                          </p:val>
                                        </p:tav>
                                        <p:tav tm="100000">
                                          <p:val>
                                            <p:strVal val="#ppt_x"/>
                                          </p:val>
                                        </p:tav>
                                      </p:tavLst>
                                    </p:anim>
                                    <p:anim calcmode="lin" valueType="num">
                                      <p:cBhvr additive="base">
                                        <p:cTn id="8"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9"/>
                                        </p:tgtEl>
                                        <p:attrNameLst>
                                          <p:attrName>style.visibility</p:attrName>
                                        </p:attrNameLst>
                                      </p:cBhvr>
                                      <p:to>
                                        <p:strVal val="visible"/>
                                      </p:to>
                                    </p:set>
                                    <p:anim calcmode="lin" valueType="num">
                                      <p:cBhvr additive="base">
                                        <p:cTn id="37" dur="500" fill="hold"/>
                                        <p:tgtEl>
                                          <p:spTgt spid="39"/>
                                        </p:tgtEl>
                                        <p:attrNameLst>
                                          <p:attrName>ppt_x</p:attrName>
                                        </p:attrNameLst>
                                      </p:cBhvr>
                                      <p:tavLst>
                                        <p:tav tm="0">
                                          <p:val>
                                            <p:strVal val="#ppt_x"/>
                                          </p:val>
                                        </p:tav>
                                        <p:tav tm="100000">
                                          <p:val>
                                            <p:strVal val="#ppt_x"/>
                                          </p:val>
                                        </p:tav>
                                      </p:tavLst>
                                    </p:anim>
                                    <p:anim calcmode="lin" valueType="num">
                                      <p:cBhvr additive="base">
                                        <p:cTn id="38"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additive="base">
                                        <p:cTn id="43" dur="500" fill="hold"/>
                                        <p:tgtEl>
                                          <p:spTgt spid="40"/>
                                        </p:tgtEl>
                                        <p:attrNameLst>
                                          <p:attrName>ppt_x</p:attrName>
                                        </p:attrNameLst>
                                      </p:cBhvr>
                                      <p:tavLst>
                                        <p:tav tm="0">
                                          <p:val>
                                            <p:strVal val="#ppt_x"/>
                                          </p:val>
                                        </p:tav>
                                        <p:tav tm="100000">
                                          <p:val>
                                            <p:strVal val="#ppt_x"/>
                                          </p:val>
                                        </p:tav>
                                      </p:tavLst>
                                    </p:anim>
                                    <p:anim calcmode="lin" valueType="num">
                                      <p:cBhvr additive="base">
                                        <p:cTn id="44"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additive="base">
                                        <p:cTn id="49" dur="500" fill="hold"/>
                                        <p:tgtEl>
                                          <p:spTgt spid="9"/>
                                        </p:tgtEl>
                                        <p:attrNameLst>
                                          <p:attrName>ppt_x</p:attrName>
                                        </p:attrNameLst>
                                      </p:cBhvr>
                                      <p:tavLst>
                                        <p:tav tm="0">
                                          <p:val>
                                            <p:strVal val="#ppt_x"/>
                                          </p:val>
                                        </p:tav>
                                        <p:tav tm="100000">
                                          <p:val>
                                            <p:strVal val="#ppt_x"/>
                                          </p:val>
                                        </p:tav>
                                      </p:tavLst>
                                    </p:anim>
                                    <p:anim calcmode="lin" valueType="num">
                                      <p:cBhvr additive="base">
                                        <p:cTn id="5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fill="hold"/>
                                        <p:tgtEl>
                                          <p:spTgt spid="19"/>
                                        </p:tgtEl>
                                        <p:attrNameLst>
                                          <p:attrName>ppt_x</p:attrName>
                                        </p:attrNameLst>
                                      </p:cBhvr>
                                      <p:tavLst>
                                        <p:tav tm="0">
                                          <p:val>
                                            <p:strVal val="#ppt_x"/>
                                          </p:val>
                                        </p:tav>
                                        <p:tav tm="100000">
                                          <p:val>
                                            <p:strVal val="#ppt_x"/>
                                          </p:val>
                                        </p:tav>
                                      </p:tavLst>
                                    </p:anim>
                                    <p:anim calcmode="lin" valueType="num">
                                      <p:cBhvr additive="base">
                                        <p:cTn id="5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2"/>
                                        </p:tgtEl>
                                        <p:attrNameLst>
                                          <p:attrName>style.visibility</p:attrName>
                                        </p:attrNameLst>
                                      </p:cBhvr>
                                      <p:to>
                                        <p:strVal val="visible"/>
                                      </p:to>
                                    </p:set>
                                    <p:anim calcmode="lin" valueType="num">
                                      <p:cBhvr additive="base">
                                        <p:cTn id="61" dur="500" fill="hold"/>
                                        <p:tgtEl>
                                          <p:spTgt spid="42"/>
                                        </p:tgtEl>
                                        <p:attrNameLst>
                                          <p:attrName>ppt_x</p:attrName>
                                        </p:attrNameLst>
                                      </p:cBhvr>
                                      <p:tavLst>
                                        <p:tav tm="0">
                                          <p:val>
                                            <p:strVal val="#ppt_x"/>
                                          </p:val>
                                        </p:tav>
                                        <p:tav tm="100000">
                                          <p:val>
                                            <p:strVal val="#ppt_x"/>
                                          </p:val>
                                        </p:tav>
                                      </p:tavLst>
                                    </p:anim>
                                    <p:anim calcmode="lin" valueType="num">
                                      <p:cBhvr additive="base">
                                        <p:cTn id="6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43"/>
                                        </p:tgtEl>
                                        <p:attrNameLst>
                                          <p:attrName>style.visibility</p:attrName>
                                        </p:attrNameLst>
                                      </p:cBhvr>
                                      <p:to>
                                        <p:strVal val="visible"/>
                                      </p:to>
                                    </p:set>
                                    <p:anim calcmode="lin" valueType="num">
                                      <p:cBhvr additive="base">
                                        <p:cTn id="67" dur="500" fill="hold"/>
                                        <p:tgtEl>
                                          <p:spTgt spid="43"/>
                                        </p:tgtEl>
                                        <p:attrNameLst>
                                          <p:attrName>ppt_x</p:attrName>
                                        </p:attrNameLst>
                                      </p:cBhvr>
                                      <p:tavLst>
                                        <p:tav tm="0">
                                          <p:val>
                                            <p:strVal val="#ppt_x"/>
                                          </p:val>
                                        </p:tav>
                                        <p:tav tm="100000">
                                          <p:val>
                                            <p:strVal val="#ppt_x"/>
                                          </p:val>
                                        </p:tav>
                                      </p:tavLst>
                                    </p:anim>
                                    <p:anim calcmode="lin" valueType="num">
                                      <p:cBhvr additive="base">
                                        <p:cTn id="68" dur="500" fill="hold"/>
                                        <p:tgtEl>
                                          <p:spTgt spid="43"/>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2"/>
                                        </p:tgtEl>
                                        <p:attrNameLst>
                                          <p:attrName>style.visibility</p:attrName>
                                        </p:attrNameLst>
                                      </p:cBhvr>
                                      <p:to>
                                        <p:strVal val="visible"/>
                                      </p:to>
                                    </p:set>
                                    <p:anim calcmode="lin" valueType="num">
                                      <p:cBhvr additive="base">
                                        <p:cTn id="73" dur="500" fill="hold"/>
                                        <p:tgtEl>
                                          <p:spTgt spid="12"/>
                                        </p:tgtEl>
                                        <p:attrNameLst>
                                          <p:attrName>ppt_x</p:attrName>
                                        </p:attrNameLst>
                                      </p:cBhvr>
                                      <p:tavLst>
                                        <p:tav tm="0">
                                          <p:val>
                                            <p:strVal val="#ppt_x"/>
                                          </p:val>
                                        </p:tav>
                                        <p:tav tm="100000">
                                          <p:val>
                                            <p:strVal val="#ppt_x"/>
                                          </p:val>
                                        </p:tav>
                                      </p:tavLst>
                                    </p:anim>
                                    <p:anim calcmode="lin" valueType="num">
                                      <p:cBhvr additive="base">
                                        <p:cTn id="7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20"/>
                                        </p:tgtEl>
                                        <p:attrNameLst>
                                          <p:attrName>style.visibility</p:attrName>
                                        </p:attrNameLst>
                                      </p:cBhvr>
                                      <p:to>
                                        <p:strVal val="visible"/>
                                      </p:to>
                                    </p:set>
                                    <p:anim calcmode="lin" valueType="num">
                                      <p:cBhvr additive="base">
                                        <p:cTn id="79" dur="500" fill="hold"/>
                                        <p:tgtEl>
                                          <p:spTgt spid="20"/>
                                        </p:tgtEl>
                                        <p:attrNameLst>
                                          <p:attrName>ppt_x</p:attrName>
                                        </p:attrNameLst>
                                      </p:cBhvr>
                                      <p:tavLst>
                                        <p:tav tm="0">
                                          <p:val>
                                            <p:strVal val="#ppt_x"/>
                                          </p:val>
                                        </p:tav>
                                        <p:tav tm="100000">
                                          <p:val>
                                            <p:strVal val="#ppt_x"/>
                                          </p:val>
                                        </p:tav>
                                      </p:tavLst>
                                    </p:anim>
                                    <p:anim calcmode="lin" valueType="num">
                                      <p:cBhvr additive="base">
                                        <p:cTn id="80"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44"/>
                                        </p:tgtEl>
                                        <p:attrNameLst>
                                          <p:attrName>style.visibility</p:attrName>
                                        </p:attrNameLst>
                                      </p:cBhvr>
                                      <p:to>
                                        <p:strVal val="visible"/>
                                      </p:to>
                                    </p:set>
                                    <p:anim calcmode="lin" valueType="num">
                                      <p:cBhvr additive="base">
                                        <p:cTn id="85" dur="500" fill="hold"/>
                                        <p:tgtEl>
                                          <p:spTgt spid="44"/>
                                        </p:tgtEl>
                                        <p:attrNameLst>
                                          <p:attrName>ppt_x</p:attrName>
                                        </p:attrNameLst>
                                      </p:cBhvr>
                                      <p:tavLst>
                                        <p:tav tm="0">
                                          <p:val>
                                            <p:strVal val="#ppt_x"/>
                                          </p:val>
                                        </p:tav>
                                        <p:tav tm="100000">
                                          <p:val>
                                            <p:strVal val="#ppt_x"/>
                                          </p:val>
                                        </p:tav>
                                      </p:tavLst>
                                    </p:anim>
                                    <p:anim calcmode="lin" valueType="num">
                                      <p:cBhvr additive="base">
                                        <p:cTn id="86" dur="500" fill="hold"/>
                                        <p:tgtEl>
                                          <p:spTgt spid="44"/>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45"/>
                                        </p:tgtEl>
                                        <p:attrNameLst>
                                          <p:attrName>style.visibility</p:attrName>
                                        </p:attrNameLst>
                                      </p:cBhvr>
                                      <p:to>
                                        <p:strVal val="visible"/>
                                      </p:to>
                                    </p:set>
                                    <p:anim calcmode="lin" valueType="num">
                                      <p:cBhvr additive="base">
                                        <p:cTn id="91" dur="500" fill="hold"/>
                                        <p:tgtEl>
                                          <p:spTgt spid="45"/>
                                        </p:tgtEl>
                                        <p:attrNameLst>
                                          <p:attrName>ppt_x</p:attrName>
                                        </p:attrNameLst>
                                      </p:cBhvr>
                                      <p:tavLst>
                                        <p:tav tm="0">
                                          <p:val>
                                            <p:strVal val="#ppt_x"/>
                                          </p:val>
                                        </p:tav>
                                        <p:tav tm="100000">
                                          <p:val>
                                            <p:strVal val="#ppt_x"/>
                                          </p:val>
                                        </p:tav>
                                      </p:tavLst>
                                    </p:anim>
                                    <p:anim calcmode="lin" valueType="num">
                                      <p:cBhvr additive="base">
                                        <p:cTn id="92" dur="500" fill="hold"/>
                                        <p:tgtEl>
                                          <p:spTgt spid="45"/>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13"/>
                                        </p:tgtEl>
                                        <p:attrNameLst>
                                          <p:attrName>style.visibility</p:attrName>
                                        </p:attrNameLst>
                                      </p:cBhvr>
                                      <p:to>
                                        <p:strVal val="visible"/>
                                      </p:to>
                                    </p:set>
                                    <p:anim calcmode="lin" valueType="num">
                                      <p:cBhvr additive="base">
                                        <p:cTn id="97" dur="500" fill="hold"/>
                                        <p:tgtEl>
                                          <p:spTgt spid="13"/>
                                        </p:tgtEl>
                                        <p:attrNameLst>
                                          <p:attrName>ppt_x</p:attrName>
                                        </p:attrNameLst>
                                      </p:cBhvr>
                                      <p:tavLst>
                                        <p:tav tm="0">
                                          <p:val>
                                            <p:strVal val="#ppt_x"/>
                                          </p:val>
                                        </p:tav>
                                        <p:tav tm="100000">
                                          <p:val>
                                            <p:strVal val="#ppt_x"/>
                                          </p:val>
                                        </p:tav>
                                      </p:tavLst>
                                    </p:anim>
                                    <p:anim calcmode="lin" valueType="num">
                                      <p:cBhvr additive="base">
                                        <p:cTn id="9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15"/>
                                        </p:tgtEl>
                                        <p:attrNameLst>
                                          <p:attrName>style.visibility</p:attrName>
                                        </p:attrNameLst>
                                      </p:cBhvr>
                                      <p:to>
                                        <p:strVal val="visible"/>
                                      </p:to>
                                    </p:set>
                                    <p:anim calcmode="lin" valueType="num">
                                      <p:cBhvr additive="base">
                                        <p:cTn id="103" dur="500" fill="hold"/>
                                        <p:tgtEl>
                                          <p:spTgt spid="15"/>
                                        </p:tgtEl>
                                        <p:attrNameLst>
                                          <p:attrName>ppt_x</p:attrName>
                                        </p:attrNameLst>
                                      </p:cBhvr>
                                      <p:tavLst>
                                        <p:tav tm="0">
                                          <p:val>
                                            <p:strVal val="#ppt_x"/>
                                          </p:val>
                                        </p:tav>
                                        <p:tav tm="100000">
                                          <p:val>
                                            <p:strVal val="#ppt_x"/>
                                          </p:val>
                                        </p:tav>
                                      </p:tavLst>
                                    </p:anim>
                                    <p:anim calcmode="lin" valueType="num">
                                      <p:cBhvr additive="base">
                                        <p:cTn id="104"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46"/>
                                        </p:tgtEl>
                                        <p:attrNameLst>
                                          <p:attrName>style.visibility</p:attrName>
                                        </p:attrNameLst>
                                      </p:cBhvr>
                                      <p:to>
                                        <p:strVal val="visible"/>
                                      </p:to>
                                    </p:set>
                                    <p:anim calcmode="lin" valueType="num">
                                      <p:cBhvr additive="base">
                                        <p:cTn id="109" dur="500" fill="hold"/>
                                        <p:tgtEl>
                                          <p:spTgt spid="46"/>
                                        </p:tgtEl>
                                        <p:attrNameLst>
                                          <p:attrName>ppt_x</p:attrName>
                                        </p:attrNameLst>
                                      </p:cBhvr>
                                      <p:tavLst>
                                        <p:tav tm="0">
                                          <p:val>
                                            <p:strVal val="#ppt_x"/>
                                          </p:val>
                                        </p:tav>
                                        <p:tav tm="100000">
                                          <p:val>
                                            <p:strVal val="#ppt_x"/>
                                          </p:val>
                                        </p:tav>
                                      </p:tavLst>
                                    </p:anim>
                                    <p:anim calcmode="lin" valueType="num">
                                      <p:cBhvr additive="base">
                                        <p:cTn id="110" dur="500" fill="hold"/>
                                        <p:tgtEl>
                                          <p:spTgt spid="46"/>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47"/>
                                        </p:tgtEl>
                                        <p:attrNameLst>
                                          <p:attrName>style.visibility</p:attrName>
                                        </p:attrNameLst>
                                      </p:cBhvr>
                                      <p:to>
                                        <p:strVal val="visible"/>
                                      </p:to>
                                    </p:set>
                                    <p:anim calcmode="lin" valueType="num">
                                      <p:cBhvr additive="base">
                                        <p:cTn id="115" dur="500" fill="hold"/>
                                        <p:tgtEl>
                                          <p:spTgt spid="47"/>
                                        </p:tgtEl>
                                        <p:attrNameLst>
                                          <p:attrName>ppt_x</p:attrName>
                                        </p:attrNameLst>
                                      </p:cBhvr>
                                      <p:tavLst>
                                        <p:tav tm="0">
                                          <p:val>
                                            <p:strVal val="#ppt_x"/>
                                          </p:val>
                                        </p:tav>
                                        <p:tav tm="100000">
                                          <p:val>
                                            <p:strVal val="#ppt_x"/>
                                          </p:val>
                                        </p:tav>
                                      </p:tavLst>
                                    </p:anim>
                                    <p:anim calcmode="lin" valueType="num">
                                      <p:cBhvr additive="base">
                                        <p:cTn id="116" dur="500" fill="hold"/>
                                        <p:tgtEl>
                                          <p:spTgt spid="47"/>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25"/>
                                        </p:tgtEl>
                                        <p:attrNameLst>
                                          <p:attrName>style.visibility</p:attrName>
                                        </p:attrNameLst>
                                      </p:cBhvr>
                                      <p:to>
                                        <p:strVal val="visible"/>
                                      </p:to>
                                    </p:set>
                                    <p:anim calcmode="lin" valueType="num">
                                      <p:cBhvr additive="base">
                                        <p:cTn id="121" dur="500" fill="hold"/>
                                        <p:tgtEl>
                                          <p:spTgt spid="25"/>
                                        </p:tgtEl>
                                        <p:attrNameLst>
                                          <p:attrName>ppt_x</p:attrName>
                                        </p:attrNameLst>
                                      </p:cBhvr>
                                      <p:tavLst>
                                        <p:tav tm="0">
                                          <p:val>
                                            <p:strVal val="#ppt_x"/>
                                          </p:val>
                                        </p:tav>
                                        <p:tav tm="100000">
                                          <p:val>
                                            <p:strVal val="#ppt_x"/>
                                          </p:val>
                                        </p:tav>
                                      </p:tavLst>
                                    </p:anim>
                                    <p:anim calcmode="lin" valueType="num">
                                      <p:cBhvr additive="base">
                                        <p:cTn id="12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23"/>
                                        </p:tgtEl>
                                        <p:attrNameLst>
                                          <p:attrName>style.visibility</p:attrName>
                                        </p:attrNameLst>
                                      </p:cBhvr>
                                      <p:to>
                                        <p:strVal val="visible"/>
                                      </p:to>
                                    </p:set>
                                    <p:anim calcmode="lin" valueType="num">
                                      <p:cBhvr additive="base">
                                        <p:cTn id="127" dur="500" fill="hold"/>
                                        <p:tgtEl>
                                          <p:spTgt spid="23"/>
                                        </p:tgtEl>
                                        <p:attrNameLst>
                                          <p:attrName>ppt_x</p:attrName>
                                        </p:attrNameLst>
                                      </p:cBhvr>
                                      <p:tavLst>
                                        <p:tav tm="0">
                                          <p:val>
                                            <p:strVal val="#ppt_x"/>
                                          </p:val>
                                        </p:tav>
                                        <p:tav tm="100000">
                                          <p:val>
                                            <p:strVal val="#ppt_x"/>
                                          </p:val>
                                        </p:tav>
                                      </p:tavLst>
                                    </p:anim>
                                    <p:anim calcmode="lin" valueType="num">
                                      <p:cBhvr additive="base">
                                        <p:cTn id="12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23" grpId="0" animBg="1"/>
      <p:bldP spid="30" grpId="0" animBg="1"/>
      <p:bldP spid="39" grpId="0"/>
      <p:bldP spid="40" grpId="0"/>
      <p:bldP spid="42" grpId="0"/>
      <p:bldP spid="43" grpId="0"/>
      <p:bldP spid="44" grpId="0"/>
      <p:bldP spid="45" grpId="0"/>
      <p:bldP spid="46" grpId="0"/>
      <p:bldP spid="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821362"/>
          </a:xfrm>
        </p:spPr>
        <p:txBody>
          <a:bodyPr/>
          <a:lstStyle/>
          <a:p>
            <a:r>
              <a:rPr lang="en-US" dirty="0">
                <a:solidFill>
                  <a:srgbClr val="00B0F0"/>
                </a:solidFill>
              </a:rPr>
              <a:t>Thank you</a:t>
            </a:r>
            <a:br>
              <a:rPr lang="en-US" dirty="0">
                <a:solidFill>
                  <a:srgbClr val="00B0F0"/>
                </a:solidFill>
              </a:rPr>
            </a:br>
            <a:r>
              <a:rPr lang="en-US" dirty="0">
                <a:solidFill>
                  <a:srgbClr val="00B0F0"/>
                </a:solidFill>
              </a:rPr>
              <a:t>Any Questions???</a:t>
            </a:r>
            <a:endParaRPr lang="en-US" dirty="0"/>
          </a:p>
        </p:txBody>
      </p:sp>
    </p:spTree>
    <p:extLst>
      <p:ext uri="{BB962C8B-B14F-4D97-AF65-F5344CB8AC3E}">
        <p14:creationId xmlns:p14="http://schemas.microsoft.com/office/powerpoint/2010/main" val="400416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1501</TotalTime>
  <Words>624</Words>
  <Application>Microsoft Office PowerPoint</Application>
  <PresentationFormat>On-screen Show (4:3)</PresentationFormat>
  <Paragraphs>136</Paragraphs>
  <Slides>16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Recursion</vt:lpstr>
      <vt:lpstr>Recursion</vt:lpstr>
      <vt:lpstr>Recursion</vt:lpstr>
      <vt:lpstr>Recursive Method</vt:lpstr>
      <vt:lpstr>Recursive Method</vt:lpstr>
      <vt:lpstr>Recursive Method</vt:lpstr>
      <vt:lpstr>Call Stack</vt:lpstr>
      <vt:lpstr>Display Character n Times</vt:lpstr>
      <vt:lpstr> Display Character n Times (Call Stack)</vt:lpstr>
      <vt:lpstr>Factorial</vt:lpstr>
      <vt:lpstr>Factorial (Call Stack)</vt:lpstr>
      <vt:lpstr>Power function</vt:lpstr>
      <vt:lpstr>Power (Call Stack)</vt:lpstr>
      <vt:lpstr>Display Content of Array </vt:lpstr>
      <vt:lpstr>Display Array ( Call Stack)</vt:lpstr>
      <vt:lpstr>Thank you 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Recursion</dc:title>
  <dc:creator>fawad</dc:creator>
  <cp:lastModifiedBy>Mariha Asad</cp:lastModifiedBy>
  <cp:revision>46</cp:revision>
  <dcterms:created xsi:type="dcterms:W3CDTF">2006-08-16T00:00:00Z</dcterms:created>
  <dcterms:modified xsi:type="dcterms:W3CDTF">2021-11-16T07:18:48Z</dcterms:modified>
</cp:coreProperties>
</file>