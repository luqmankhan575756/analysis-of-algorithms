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836E-2C2F-4715-A313-729C720B0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B335E-B4FF-43D6-8264-4E04236D1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8A7AE-CEB0-4554-998F-18FF0E12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20E08-C2C5-4EAE-BF56-7C53BB930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21D9D-38F4-4948-8A9E-7C11B004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0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B203-CBF4-4A7A-A033-5C9F011FA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62C5D-06FD-4F7B-A50E-BAD85174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FC704-A655-4E4F-AADD-67CF0C16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12733-1761-4F38-8B66-42F1B98E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7490C-BA65-4484-9773-BBE0821E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7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48E7E-07C8-4457-ABF8-9D36CD04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D52A5-4509-4D19-A321-C99D36782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8D1FE-0561-45B7-9A18-66C23B87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166FA-60FF-42DA-BED3-5F0E3D61B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FDF1E-2144-4CC8-8805-E25B0CFA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3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5B976-623E-4F59-B4F6-1523DBFB7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FB94-16CE-4AB0-89E0-6A9F0FCFA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3AC12-196C-43A1-AB75-CD7354E04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0C61B-A8B0-499C-AD0A-DC185495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6E1AB-FB87-4A73-96B2-2DCCC394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FF696-B1F3-4AC9-94FD-A0CA4BE11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5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B710-6F36-426D-AF01-8DC84730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4E91-0E41-419A-A352-4880205F9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B8457-1FAD-468E-A55D-64D9B938B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5DD0A-EF5A-4DBE-8ACA-212C66162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490E0F-2A06-4247-8B10-A9631BF46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D6AA1-9869-4F9C-8102-D668D43E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D4760-D708-42D6-9C5F-474B5194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35E9A5-E219-4C84-8360-0B92318A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4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E73D-FEEE-4CC5-B157-ECB14323E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06990-8A77-4DB6-AD40-4F5E077E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B40FA-1A40-4762-B9DA-3D94968AF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50ED9-F256-4C99-8FA3-5069897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0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2BC03-6239-4D2C-B407-E213A64E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77AA27-4DE6-435C-98D6-11170806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B4661-FD52-4CDA-BB7C-A2546C10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8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0922-FC29-4092-B96A-74682F1A1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E5D36-F193-4716-B98E-37A61615D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CFDE4-099E-4DC4-A9B3-8B4B98CB2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71C51-EF15-4B99-8370-05C989C9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EADE8-27E9-4649-BDA4-0B74150B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A04D4-4A10-4C4E-A7E7-9F7C0AAC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4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3D1D5-CB78-4CA7-B3AF-563B8B31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07A69-6ED0-43AB-91AC-E00A9976C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B34F3-6C2F-47B0-9823-A548D7BB0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509F6-24FC-4E62-B2AE-1EB358F5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55BA1-8F45-486F-AADD-EB4C89CB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BE8B3-1844-4DD0-ADAD-AA70FA2C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4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39BF-8995-445D-81D6-3F90CA42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E3D84-C690-4691-9A76-43D3C1009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F726E-D217-46C3-BCEE-B06FDD6B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DB065-AD14-4100-8376-62DF894A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6BD5E-0853-464B-B3BE-50E3088A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9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4D12FD-E0D8-4AEC-920F-296041AE0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49A9A-1977-4743-A2FA-8BCA77734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BD1E6-FA97-4162-9DB0-4F4E85E7B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61EA7-5520-46DC-BFCF-A9CA62CB9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097D-3862-4E55-B210-CDBCD63A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3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FF824-1AEB-4366-BB08-52B0FDC7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DFA-D95A-435D-B9B0-A5C89EE06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C70A0-8D4A-405B-AEE7-DCDB85E9E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EB748-80CE-452A-9062-2DEB3067D799}" type="datetimeFigureOut">
              <a:rPr lang="en-US" smtClean="0"/>
              <a:t>10/28/2021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3E8FC-FE6D-4404-8C0E-59F9BBFFF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DC3D-81FA-49C8-BA6E-CC1755074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825B0-F602-4752-8669-FBB67D092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47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0E72F-A3C2-43F9-853F-6B4D41CD1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Asymptotic Analysis and Time Complexity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66849-6FC6-4B95-8EAF-EF58B97C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  <a:p>
            <a:r>
              <a:rPr lang="en-US" dirty="0"/>
              <a:t>Lecture # 3/4</a:t>
            </a:r>
          </a:p>
          <a:p>
            <a:r>
              <a:rPr lang="en-US" dirty="0"/>
              <a:t>Mariha </a:t>
            </a:r>
            <a:r>
              <a:rPr lang="en-US" dirty="0" err="1"/>
              <a:t>Asad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96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81D4F-E4AF-4AB6-83E3-4FEC88A36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Big-Oh (O)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0866-F8F2-4359-A818-4F0B287B3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 1: Let a function f(n) = 2n+3, find out the upper bound of this function</a:t>
            </a:r>
          </a:p>
          <a:p>
            <a:pPr marL="0" indent="0">
              <a:buNone/>
            </a:pPr>
            <a:r>
              <a:rPr lang="en-US" dirty="0"/>
              <a:t>	f(n) = O(g(n)) if there exist a positive constants </a:t>
            </a:r>
            <a:r>
              <a:rPr lang="en-US" dirty="0">
                <a:solidFill>
                  <a:srgbClr val="FF0000"/>
                </a:solidFill>
              </a:rPr>
              <a:t>c and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such that</a:t>
            </a:r>
          </a:p>
          <a:p>
            <a:pPr marL="0" indent="0" algn="ctr">
              <a:buNone/>
            </a:pPr>
            <a:r>
              <a:rPr lang="en-US" dirty="0"/>
              <a:t>0 ≤  f(n) ≤ c  g(n) for all </a:t>
            </a:r>
            <a:r>
              <a:rPr lang="en-US" dirty="0">
                <a:solidFill>
                  <a:srgbClr val="FF0000"/>
                </a:solidFill>
              </a:rPr>
              <a:t>n ≥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</a:p>
          <a:p>
            <a:pPr marL="0" indent="0">
              <a:buNone/>
            </a:pPr>
            <a:r>
              <a:rPr lang="en-US" b="1" baseline="-25000" dirty="0">
                <a:solidFill>
                  <a:srgbClr val="FF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2n + 3 </a:t>
            </a:r>
            <a:r>
              <a:rPr lang="en-US" dirty="0"/>
              <a:t>≤</a:t>
            </a:r>
            <a:r>
              <a:rPr lang="en-US" b="1" dirty="0">
                <a:solidFill>
                  <a:srgbClr val="FF0000"/>
                </a:solidFill>
              </a:rPr>
              <a:t> 10 n  for all   n </a:t>
            </a:r>
            <a:r>
              <a:rPr lang="en-US" dirty="0">
                <a:solidFill>
                  <a:srgbClr val="FF0000"/>
                </a:solidFill>
              </a:rPr>
              <a:t>≥1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c = 10 , g(n) = n </a:t>
            </a:r>
            <a:endParaRPr lang="en-US" b="1" dirty="0"/>
          </a:p>
          <a:p>
            <a:pPr marL="0" indent="0" algn="ctr">
              <a:buNone/>
            </a:pPr>
            <a:r>
              <a:rPr lang="en-US" dirty="0"/>
              <a:t>So f(n) = O(n)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47EB5-7E62-4264-AB89-4863E4CD2561}"/>
              </a:ext>
            </a:extLst>
          </p:cNvPr>
          <p:cNvSpPr/>
          <p:nvPr/>
        </p:nvSpPr>
        <p:spPr>
          <a:xfrm>
            <a:off x="8707902" y="3713871"/>
            <a:ext cx="2461846" cy="16740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f(n)  = O(n)</a:t>
            </a:r>
          </a:p>
          <a:p>
            <a:pPr algn="ctr"/>
            <a:r>
              <a:rPr lang="en-US" b="1" dirty="0"/>
              <a:t>f(n) = O(n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</a:p>
          <a:p>
            <a:pPr algn="ctr"/>
            <a:r>
              <a:rPr lang="en-US" b="1" dirty="0"/>
              <a:t>f(n) = O(n</a:t>
            </a:r>
            <a:r>
              <a:rPr lang="en-US" b="1" baseline="30000" dirty="0"/>
              <a:t>3</a:t>
            </a:r>
            <a:r>
              <a:rPr lang="en-US" b="1" dirty="0"/>
              <a:t>)</a:t>
            </a:r>
          </a:p>
          <a:p>
            <a:pPr algn="ctr"/>
            <a:r>
              <a:rPr lang="en-US" b="1" strike="sngStrike" dirty="0"/>
              <a:t>f(n) = O(</a:t>
            </a:r>
            <a:r>
              <a:rPr lang="en-US" b="1" strike="sngStrike" dirty="0" err="1"/>
              <a:t>logn</a:t>
            </a:r>
            <a:r>
              <a:rPr lang="en-US" b="1" strike="sngStrike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BBD26-E813-4224-AC17-8455F6803F4E}"/>
              </a:ext>
            </a:extLst>
          </p:cNvPr>
          <p:cNvSpPr/>
          <p:nvPr/>
        </p:nvSpPr>
        <p:spPr>
          <a:xfrm>
            <a:off x="1252025" y="3823519"/>
            <a:ext cx="2461846" cy="195892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2n + 3 </a:t>
            </a:r>
            <a:r>
              <a:rPr lang="en-US" dirty="0"/>
              <a:t>≤</a:t>
            </a:r>
            <a:r>
              <a:rPr lang="en-US" b="1" dirty="0">
                <a:solidFill>
                  <a:srgbClr val="FF0000"/>
                </a:solidFill>
              </a:rPr>
              <a:t> 5 n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N=1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5 </a:t>
            </a:r>
            <a:r>
              <a:rPr lang="en-US" dirty="0"/>
              <a:t>≤</a:t>
            </a:r>
            <a:r>
              <a:rPr lang="en-US" b="1" dirty="0">
                <a:solidFill>
                  <a:srgbClr val="FF0000"/>
                </a:solidFill>
              </a:rPr>
              <a:t> 5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2n + 3 </a:t>
            </a:r>
            <a:r>
              <a:rPr lang="en-US" dirty="0"/>
              <a:t>≤</a:t>
            </a:r>
            <a:r>
              <a:rPr lang="en-US" b="1" dirty="0">
                <a:solidFill>
                  <a:srgbClr val="FF0000"/>
                </a:solidFill>
              </a:rPr>
              <a:t> 2n + 3n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003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A89F-D3E8-42F8-A051-BB913153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Big-Omega(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71D7-991F-4FD2-8A38-3EE3C2BF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205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: Let a function f(n) = 2n+3, find out the lower bound of this function</a:t>
            </a:r>
          </a:p>
          <a:p>
            <a:pPr marL="0" indent="0">
              <a:buNone/>
            </a:pPr>
            <a:r>
              <a:rPr lang="en-US" dirty="0"/>
              <a:t>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b="0" i="0" dirty="0">
                <a:effectLst/>
                <a:latin typeface="Arial" panose="020B0604020202020204" pitchFamily="34" charset="0"/>
              </a:rPr>
              <a:t>(g(n)) if there exist positive constants 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 and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such 	that</a:t>
            </a:r>
          </a:p>
          <a:p>
            <a:pPr marL="0" indent="0">
              <a:buNone/>
            </a:pPr>
            <a:r>
              <a:rPr lang="en-US" dirty="0"/>
              <a:t> 0 ≤ c  g(n) ≤ f(n) for all </a:t>
            </a:r>
            <a:r>
              <a:rPr lang="en-US" dirty="0">
                <a:solidFill>
                  <a:srgbClr val="FF0000"/>
                </a:solidFill>
              </a:rPr>
              <a:t>n ≥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2n +3 </a:t>
            </a:r>
            <a:r>
              <a:rPr lang="en-US" dirty="0">
                <a:solidFill>
                  <a:srgbClr val="FF0000"/>
                </a:solidFill>
              </a:rPr>
              <a:t>≥ 1* n for all n ≥1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c = 1 , g(n) = n </a:t>
            </a:r>
            <a:endParaRPr lang="en-US" b="1" dirty="0"/>
          </a:p>
          <a:p>
            <a:pPr marL="0" indent="0" algn="ctr">
              <a:buNone/>
            </a:pPr>
            <a:r>
              <a:rPr lang="en-US" dirty="0"/>
              <a:t>So 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dirty="0"/>
              <a:t>(n)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A1C331-2986-4F10-A659-F3250EEE3DB5}"/>
              </a:ext>
            </a:extLst>
          </p:cNvPr>
          <p:cNvSpPr/>
          <p:nvPr/>
        </p:nvSpPr>
        <p:spPr>
          <a:xfrm>
            <a:off x="8876715" y="3826411"/>
            <a:ext cx="2658794" cy="171051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f(n) = </a:t>
            </a:r>
            <a:r>
              <a:rPr lang="el-GR" b="1" i="0" dirty="0">
                <a:effectLst/>
                <a:latin typeface="Arial" panose="020B0604020202020204" pitchFamily="34" charset="0"/>
              </a:rPr>
              <a:t>Ω</a:t>
            </a:r>
            <a:r>
              <a:rPr lang="en-US" b="1" dirty="0"/>
              <a:t>(n)</a:t>
            </a:r>
          </a:p>
          <a:p>
            <a:pPr algn="ctr"/>
            <a:r>
              <a:rPr lang="en-US" b="1" dirty="0"/>
              <a:t>f(n) = </a:t>
            </a:r>
            <a:r>
              <a:rPr lang="el-GR" b="1" i="0" dirty="0">
                <a:effectLst/>
                <a:latin typeface="Arial" panose="020B0604020202020204" pitchFamily="34" charset="0"/>
              </a:rPr>
              <a:t>Ω</a:t>
            </a:r>
            <a:r>
              <a:rPr lang="en-US" b="1" dirty="0"/>
              <a:t>(</a:t>
            </a:r>
            <a:r>
              <a:rPr lang="en-US" b="1" dirty="0" err="1"/>
              <a:t>logn</a:t>
            </a:r>
            <a:r>
              <a:rPr lang="en-US" b="1" dirty="0"/>
              <a:t>)</a:t>
            </a:r>
          </a:p>
          <a:p>
            <a:pPr algn="ctr"/>
            <a:r>
              <a:rPr lang="en-US" b="1" strike="sngStrike" dirty="0"/>
              <a:t>f(n) = </a:t>
            </a:r>
            <a:r>
              <a:rPr lang="el-GR" b="1" i="0" strike="sngStrike" dirty="0">
                <a:effectLst/>
                <a:latin typeface="Arial" panose="020B0604020202020204" pitchFamily="34" charset="0"/>
              </a:rPr>
              <a:t>Ω</a:t>
            </a:r>
            <a:r>
              <a:rPr lang="en-US" b="1" strike="sngStrike" dirty="0"/>
              <a:t>(n</a:t>
            </a:r>
            <a:r>
              <a:rPr lang="en-US" b="1" strike="sngStrike" baseline="30000" dirty="0"/>
              <a:t>2</a:t>
            </a:r>
            <a:r>
              <a:rPr lang="en-US" b="1" strike="sngStrike" dirty="0"/>
              <a:t>)</a:t>
            </a:r>
          </a:p>
          <a:p>
            <a:pPr algn="ctr"/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B06EF-E42E-47BA-9016-2B1BB69BB0F7}"/>
              </a:ext>
            </a:extLst>
          </p:cNvPr>
          <p:cNvSpPr/>
          <p:nvPr/>
        </p:nvSpPr>
        <p:spPr>
          <a:xfrm>
            <a:off x="1125415" y="3826411"/>
            <a:ext cx="2968283" cy="19132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2n +3 </a:t>
            </a:r>
            <a:r>
              <a:rPr lang="en-US" dirty="0">
                <a:solidFill>
                  <a:srgbClr val="FF0000"/>
                </a:solidFill>
              </a:rPr>
              <a:t>≥ 2* n n=1 T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	n=2 T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	n=6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3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618E2-0C89-4A20-957F-980D28A0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Big-Theta (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6D65-8243-4ABC-86BD-13CDDADE2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52052" cy="44767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: Let a function f(n) = 2n+3, find out the tight bound of this function</a:t>
            </a:r>
          </a:p>
          <a:p>
            <a:pPr marL="0" indent="0">
              <a:buNone/>
            </a:pPr>
            <a:r>
              <a:rPr lang="en-US" dirty="0"/>
              <a:t>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b="0" i="0" dirty="0">
                <a:effectLst/>
                <a:latin typeface="Arial" panose="020B0604020202020204" pitchFamily="34" charset="0"/>
              </a:rPr>
              <a:t>(g(n)) if there exist positive constants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,c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and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such that</a:t>
            </a:r>
          </a:p>
          <a:p>
            <a:pPr marL="0" indent="0" algn="ctr">
              <a:buNone/>
            </a:pPr>
            <a:r>
              <a:rPr lang="en-US" dirty="0"/>
              <a:t>0 ≤ c</a:t>
            </a:r>
            <a:r>
              <a:rPr lang="en-US" b="1" baseline="-25000" dirty="0"/>
              <a:t>1</a:t>
            </a:r>
            <a:r>
              <a:rPr lang="en-US" dirty="0"/>
              <a:t>  g(n) ≤ f(n) ≤ c</a:t>
            </a:r>
            <a:r>
              <a:rPr lang="en-US" b="1" baseline="-25000" dirty="0"/>
              <a:t>2</a:t>
            </a:r>
            <a:r>
              <a:rPr lang="en-US" dirty="0"/>
              <a:t>  g(n) for all </a:t>
            </a:r>
            <a:r>
              <a:rPr lang="en-US" dirty="0">
                <a:solidFill>
                  <a:srgbClr val="FF0000"/>
                </a:solidFill>
              </a:rPr>
              <a:t>n ≥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</a:p>
          <a:p>
            <a:pPr marL="0" indent="0" algn="ctr">
              <a:buNone/>
            </a:pPr>
            <a:r>
              <a:rPr lang="en-US" dirty="0"/>
              <a:t>1 * n ≤ 2n + 3 ≤ 5* n for all </a:t>
            </a:r>
            <a:r>
              <a:rPr lang="en-US" dirty="0">
                <a:solidFill>
                  <a:srgbClr val="FF0000"/>
                </a:solidFill>
              </a:rPr>
              <a:t>n ≥ 1</a:t>
            </a:r>
            <a:endParaRPr lang="en-US" b="1" baseline="-250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When c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 = 1, c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 = 5, g(n) = n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So 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b="0" i="0" dirty="0">
                <a:effectLst/>
                <a:latin typeface="Arial" panose="020B0604020202020204" pitchFamily="34" charset="0"/>
              </a:rPr>
              <a:t>(n)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F852B-C229-4E1A-85D3-4BCEF1263DA5}"/>
              </a:ext>
            </a:extLst>
          </p:cNvPr>
          <p:cNvSpPr/>
          <p:nvPr/>
        </p:nvSpPr>
        <p:spPr>
          <a:xfrm>
            <a:off x="8827477" y="3896750"/>
            <a:ext cx="2602523" cy="18569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 cannot use any other thing except n here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l-GR" b="1" i="0" dirty="0">
                <a:effectLst/>
                <a:latin typeface="Arial" panose="020B0604020202020204" pitchFamily="34" charset="0"/>
              </a:rPr>
              <a:t>θ</a:t>
            </a:r>
            <a:r>
              <a:rPr lang="en-US" b="1" i="0" dirty="0">
                <a:effectLst/>
                <a:latin typeface="Arial" panose="020B0604020202020204" pitchFamily="34" charset="0"/>
              </a:rPr>
              <a:t>(n)</a:t>
            </a:r>
            <a:endParaRPr lang="en-US" b="1" dirty="0">
              <a:solidFill>
                <a:srgbClr val="FF0000"/>
              </a:solidFill>
            </a:endParaRPr>
          </a:p>
          <a:p>
            <a:pPr algn="ctr"/>
            <a:r>
              <a:rPr lang="en-US" b="1" strike="sngStrike" dirty="0">
                <a:solidFill>
                  <a:srgbClr val="FF0000"/>
                </a:solidFill>
              </a:rPr>
              <a:t>f(n) = </a:t>
            </a:r>
            <a:r>
              <a:rPr lang="el-GR" b="1" i="0" strike="sngStrike" dirty="0">
                <a:effectLst/>
                <a:latin typeface="Arial" panose="020B0604020202020204" pitchFamily="34" charset="0"/>
              </a:rPr>
              <a:t>θ</a:t>
            </a:r>
            <a:r>
              <a:rPr lang="en-US" b="1" i="0" strike="sngStrike" dirty="0">
                <a:effectLst/>
                <a:latin typeface="Arial" panose="020B0604020202020204" pitchFamily="34" charset="0"/>
              </a:rPr>
              <a:t>(n</a:t>
            </a:r>
            <a:r>
              <a:rPr lang="en-US" b="1" i="0" strike="sngStrike" baseline="30000" dirty="0">
                <a:effectLst/>
                <a:latin typeface="Arial" panose="020B0604020202020204" pitchFamily="34" charset="0"/>
              </a:rPr>
              <a:t>2</a:t>
            </a:r>
            <a:r>
              <a:rPr lang="en-US" b="1" i="0" strike="sngStrike" dirty="0">
                <a:effectLst/>
                <a:latin typeface="Arial" panose="020B0604020202020204" pitchFamily="34" charset="0"/>
              </a:rPr>
              <a:t>)</a:t>
            </a:r>
            <a:endParaRPr lang="en-US" b="1" strike="sngStrike" dirty="0">
              <a:solidFill>
                <a:srgbClr val="FF0000"/>
              </a:solidFill>
            </a:endParaRPr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8886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E35F-7717-4115-9964-5DD7E9AF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ABE91-8717-4116-9948-CF8599183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a function f(n) = 2n</a:t>
            </a:r>
            <a:r>
              <a:rPr lang="en-US" b="1" baseline="30000" dirty="0"/>
              <a:t>2</a:t>
            </a:r>
            <a:r>
              <a:rPr lang="en-US" dirty="0"/>
              <a:t> + 3n + 4 find out upper, lower and tight bound of it</a:t>
            </a:r>
          </a:p>
          <a:p>
            <a:pPr marL="0" indent="0">
              <a:buNone/>
            </a:pPr>
            <a:r>
              <a:rPr lang="en-US" dirty="0"/>
              <a:t>For Big-Oh (O)</a:t>
            </a:r>
          </a:p>
          <a:p>
            <a:pPr marL="0" indent="0" algn="ctr">
              <a:buNone/>
            </a:pPr>
            <a:r>
              <a:rPr lang="en-US" dirty="0"/>
              <a:t>2n</a:t>
            </a:r>
            <a:r>
              <a:rPr lang="en-US" b="1" baseline="30000" dirty="0"/>
              <a:t>2</a:t>
            </a:r>
            <a:r>
              <a:rPr lang="en-US" dirty="0"/>
              <a:t> + 3n + 4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dirty="0"/>
              <a:t>≤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dirty="0"/>
              <a:t>2n</a:t>
            </a:r>
            <a:r>
              <a:rPr lang="en-US" b="1" baseline="30000" dirty="0"/>
              <a:t>2</a:t>
            </a:r>
            <a:r>
              <a:rPr lang="en-US" dirty="0"/>
              <a:t> + 3n</a:t>
            </a:r>
            <a:r>
              <a:rPr lang="en-US" b="1" baseline="30000" dirty="0"/>
              <a:t>2</a:t>
            </a:r>
            <a:r>
              <a:rPr lang="en-US" dirty="0"/>
              <a:t> + 4n</a:t>
            </a:r>
            <a:r>
              <a:rPr lang="en-US" b="1" baseline="30000" dirty="0"/>
              <a:t>2</a:t>
            </a:r>
          </a:p>
          <a:p>
            <a:pPr marL="0" indent="0" algn="ctr">
              <a:buNone/>
            </a:pPr>
            <a:r>
              <a:rPr lang="en-US" dirty="0"/>
              <a:t>2n</a:t>
            </a:r>
            <a:r>
              <a:rPr lang="en-US" b="1" baseline="30000" dirty="0"/>
              <a:t>2</a:t>
            </a:r>
            <a:r>
              <a:rPr lang="en-US" dirty="0"/>
              <a:t> + 3n + 4 ≤ 9 n</a:t>
            </a:r>
            <a:r>
              <a:rPr lang="en-US" b="1" baseline="30000" dirty="0"/>
              <a:t>2</a:t>
            </a:r>
            <a:r>
              <a:rPr lang="en-US" b="1" dirty="0"/>
              <a:t> for all n </a:t>
            </a:r>
            <a:r>
              <a:rPr lang="en-US" dirty="0">
                <a:solidFill>
                  <a:srgbClr val="FF0000"/>
                </a:solidFill>
              </a:rPr>
              <a:t>≥ 1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c = 9 , g(n)= </a:t>
            </a:r>
            <a:r>
              <a:rPr lang="en-US" dirty="0"/>
              <a:t>n</a:t>
            </a:r>
            <a:r>
              <a:rPr lang="en-US" b="1" baseline="30000" dirty="0"/>
              <a:t>2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So f(n) = O(</a:t>
            </a:r>
            <a:r>
              <a:rPr lang="en-US" dirty="0"/>
              <a:t>n</a:t>
            </a:r>
            <a:r>
              <a:rPr lang="en-US" b="1" baseline="30000" dirty="0"/>
              <a:t>2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93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1DC-6EF5-4839-9957-D9C68137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6CE49-1E14-4FE8-9530-E72980D05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Big-Omega (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dirty="0"/>
              <a:t>):</a:t>
            </a:r>
          </a:p>
          <a:p>
            <a:pPr marL="0" indent="0" algn="ctr">
              <a:buNone/>
            </a:pPr>
            <a:r>
              <a:rPr lang="en-US" dirty="0"/>
              <a:t>	2n</a:t>
            </a:r>
            <a:r>
              <a:rPr lang="en-US" b="1" baseline="30000" dirty="0"/>
              <a:t>2</a:t>
            </a:r>
            <a:r>
              <a:rPr lang="en-US" dirty="0"/>
              <a:t> + 3n + 4</a:t>
            </a:r>
            <a:r>
              <a:rPr lang="en-US" b="1" dirty="0">
                <a:solidFill>
                  <a:srgbClr val="FF0000"/>
                </a:solidFill>
              </a:rPr>
              <a:t> ≥  1 * 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  <a:r>
              <a:rPr lang="en-US" b="1" dirty="0"/>
              <a:t> for all n </a:t>
            </a:r>
            <a:r>
              <a:rPr lang="en-US" dirty="0">
                <a:solidFill>
                  <a:srgbClr val="FF0000"/>
                </a:solidFill>
              </a:rPr>
              <a:t>≥ 1</a:t>
            </a:r>
            <a:r>
              <a:rPr lang="en-US" b="1" dirty="0"/>
              <a:t> </a:t>
            </a:r>
            <a:endParaRPr lang="en-US" b="1" baseline="30000" dirty="0"/>
          </a:p>
          <a:p>
            <a:pPr marL="0" indent="0" algn="ctr">
              <a:buNone/>
            </a:pPr>
            <a:r>
              <a:rPr lang="en-US" dirty="0"/>
              <a:t>c=1, g(n) =  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</a:p>
          <a:p>
            <a:pPr marL="0" indent="0" algn="ctr">
              <a:buNone/>
            </a:pPr>
            <a:r>
              <a:rPr lang="en-US" b="1" dirty="0"/>
              <a:t>So 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b="0" i="0" dirty="0">
                <a:effectLst/>
                <a:latin typeface="Arial" panose="020B0604020202020204" pitchFamily="34" charset="0"/>
              </a:rPr>
              <a:t>(</a:t>
            </a:r>
            <a:r>
              <a:rPr lang="en-US" dirty="0"/>
              <a:t>n</a:t>
            </a:r>
            <a:r>
              <a:rPr lang="en-US" b="1" baseline="30000" dirty="0"/>
              <a:t>2</a:t>
            </a:r>
            <a:r>
              <a:rPr lang="en-US" b="0" i="0" dirty="0">
                <a:effectLst/>
                <a:latin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</a:rPr>
              <a:t>For Big-Theta</a:t>
            </a:r>
            <a:r>
              <a:rPr lang="en-US" b="1" dirty="0"/>
              <a:t> (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b="1" dirty="0"/>
              <a:t>) :</a:t>
            </a:r>
          </a:p>
          <a:p>
            <a:pPr marL="0" indent="0" algn="ctr">
              <a:buNone/>
            </a:pPr>
            <a:r>
              <a:rPr lang="en-US" dirty="0"/>
              <a:t>1 * n</a:t>
            </a:r>
            <a:r>
              <a:rPr lang="en-US" b="1" baseline="30000" dirty="0"/>
              <a:t>2</a:t>
            </a:r>
            <a:r>
              <a:rPr lang="en-US" dirty="0"/>
              <a:t> ≤ 2n + 3n + 4 ≤ 9 * n</a:t>
            </a:r>
            <a:r>
              <a:rPr lang="en-US" b="1" baseline="30000" dirty="0"/>
              <a:t>2</a:t>
            </a:r>
            <a:r>
              <a:rPr lang="en-US" dirty="0"/>
              <a:t> </a:t>
            </a:r>
            <a:r>
              <a:rPr lang="en-US" b="1" dirty="0"/>
              <a:t>for all n </a:t>
            </a:r>
            <a:r>
              <a:rPr lang="en-US" dirty="0">
                <a:solidFill>
                  <a:srgbClr val="FF0000"/>
                </a:solidFill>
              </a:rPr>
              <a:t>≥ 1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When c</a:t>
            </a:r>
            <a:r>
              <a:rPr lang="en-US" b="1" baseline="-25000" dirty="0">
                <a:solidFill>
                  <a:srgbClr val="FF0000"/>
                </a:solidFill>
              </a:rPr>
              <a:t>1 </a:t>
            </a:r>
            <a:r>
              <a:rPr lang="en-US" b="1" dirty="0">
                <a:solidFill>
                  <a:srgbClr val="FF0000"/>
                </a:solidFill>
              </a:rPr>
              <a:t>= 1, c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=2, g(n) = 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</a:p>
          <a:p>
            <a:pPr marL="0" indent="0" algn="ctr">
              <a:buNone/>
            </a:pPr>
            <a:r>
              <a:rPr lang="en-US" b="1" dirty="0"/>
              <a:t>			So f(n)= 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b="0" i="0" dirty="0">
                <a:effectLst/>
                <a:latin typeface="Arial" panose="020B0604020202020204" pitchFamily="34" charset="0"/>
              </a:rPr>
              <a:t>(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  <a:r>
              <a:rPr lang="en-US" b="0" i="0" dirty="0">
                <a:effectLst/>
                <a:latin typeface="Arial" panose="020B0604020202020204" pitchFamily="34" charset="0"/>
              </a:rPr>
              <a:t>)</a:t>
            </a:r>
            <a:r>
              <a:rPr lang="en-US" b="1" baseline="30000" dirty="0"/>
              <a:t>			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9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3F7B-8570-4562-85A0-5D67712B6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E507-C9A9-4884-8676-B0E9AD6F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Let a function f(n) = n</a:t>
            </a:r>
            <a:r>
              <a:rPr lang="en-US" b="1" baseline="30000" dirty="0"/>
              <a:t>2</a:t>
            </a:r>
            <a:r>
              <a:rPr lang="en-US" b="1" dirty="0"/>
              <a:t>logn</a:t>
            </a:r>
            <a:r>
              <a:rPr lang="en-US" dirty="0"/>
              <a:t> + n  find out upper, lower and tight bound of it</a:t>
            </a:r>
          </a:p>
          <a:p>
            <a:pPr marL="0" indent="0" algn="ctr">
              <a:buNone/>
            </a:pPr>
            <a:r>
              <a:rPr lang="en-US" dirty="0"/>
              <a:t>1 * n</a:t>
            </a:r>
            <a:r>
              <a:rPr lang="en-US" b="1" baseline="30000" dirty="0"/>
              <a:t>2 </a:t>
            </a:r>
            <a:r>
              <a:rPr lang="en-US" b="1" dirty="0" err="1"/>
              <a:t>logn</a:t>
            </a:r>
            <a:r>
              <a:rPr lang="en-US" dirty="0"/>
              <a:t> ≤ n</a:t>
            </a:r>
            <a:r>
              <a:rPr lang="en-US" b="1" baseline="30000" dirty="0"/>
              <a:t>2</a:t>
            </a:r>
            <a:r>
              <a:rPr lang="en-US" b="1" dirty="0"/>
              <a:t>logn</a:t>
            </a:r>
            <a:r>
              <a:rPr lang="en-US" dirty="0"/>
              <a:t> + n ≤ 10 n</a:t>
            </a:r>
            <a:r>
              <a:rPr lang="en-US" b="1" baseline="30000" dirty="0"/>
              <a:t>2 </a:t>
            </a:r>
            <a:r>
              <a:rPr lang="en-US" b="1" dirty="0" err="1"/>
              <a:t>logn</a:t>
            </a:r>
            <a:r>
              <a:rPr lang="en-US" dirty="0"/>
              <a:t> </a:t>
            </a:r>
            <a:r>
              <a:rPr lang="en-US" b="1" dirty="0"/>
              <a:t>for all n </a:t>
            </a:r>
            <a:r>
              <a:rPr lang="en-US" dirty="0">
                <a:solidFill>
                  <a:srgbClr val="FF0000"/>
                </a:solidFill>
              </a:rPr>
              <a:t>≥ 1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When c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= 1, c</a:t>
            </a:r>
            <a:r>
              <a:rPr lang="en-US" b="1" baseline="-25000" dirty="0">
                <a:solidFill>
                  <a:srgbClr val="FF0000"/>
                </a:solidFill>
              </a:rPr>
              <a:t>2 </a:t>
            </a:r>
            <a:r>
              <a:rPr lang="en-US" b="1" dirty="0">
                <a:solidFill>
                  <a:srgbClr val="FF0000"/>
                </a:solidFill>
              </a:rPr>
              <a:t>=10, g(n) = 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  <a:r>
              <a:rPr lang="en-US" b="1" dirty="0" err="1"/>
              <a:t>logn</a:t>
            </a:r>
            <a:r>
              <a:rPr lang="en-US" b="1" baseline="30000" dirty="0"/>
              <a:t> </a:t>
            </a:r>
          </a:p>
          <a:p>
            <a:pPr marL="0" indent="0" algn="ctr">
              <a:buNone/>
            </a:pPr>
            <a:r>
              <a:rPr lang="en-US" b="1" dirty="0"/>
              <a:t>So f(n)= 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b="0" i="0" dirty="0">
                <a:effectLst/>
                <a:latin typeface="Arial" panose="020B0604020202020204" pitchFamily="34" charset="0"/>
              </a:rPr>
              <a:t>(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  <a:r>
              <a:rPr lang="en-US" b="1" dirty="0" err="1"/>
              <a:t>logn</a:t>
            </a:r>
            <a:r>
              <a:rPr lang="en-US" b="1" baseline="30000" dirty="0"/>
              <a:t> </a:t>
            </a:r>
            <a:r>
              <a:rPr lang="en-US" b="0" i="0" dirty="0">
                <a:effectLst/>
                <a:latin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</a:rPr>
              <a:t>f(n)= o(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  <a:r>
              <a:rPr lang="en-US" b="1" dirty="0" err="1"/>
              <a:t>logn</a:t>
            </a:r>
            <a:r>
              <a:rPr lang="en-US" dirty="0">
                <a:latin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</a:rPr>
              <a:t>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b="0" i="0" dirty="0">
                <a:effectLst/>
                <a:latin typeface="Arial" panose="020B0604020202020204" pitchFamily="34" charset="0"/>
              </a:rPr>
              <a:t>(</a:t>
            </a:r>
            <a:r>
              <a:rPr lang="en-US" dirty="0"/>
              <a:t>n</a:t>
            </a:r>
            <a:r>
              <a:rPr lang="en-US" b="1" baseline="30000" dirty="0"/>
              <a:t>2 </a:t>
            </a:r>
            <a:r>
              <a:rPr lang="en-US" b="1" dirty="0" err="1"/>
              <a:t>logn</a:t>
            </a:r>
            <a:r>
              <a:rPr lang="en-US" b="0" i="0" dirty="0">
                <a:effectLst/>
                <a:latin typeface="Arial" panose="020B0604020202020204" pitchFamily="34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23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05F4-8016-41C9-9790-029668B0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D4D2-DC17-493B-803A-BA32D2366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f(n) = n!</a:t>
            </a:r>
          </a:p>
          <a:p>
            <a:pPr marL="0" indent="0" algn="ctr">
              <a:buNone/>
            </a:pPr>
            <a:r>
              <a:rPr lang="en-US" dirty="0"/>
              <a:t>1 ≤  </a:t>
            </a:r>
            <a:r>
              <a:rPr lang="en-US" b="1" dirty="0">
                <a:solidFill>
                  <a:srgbClr val="7030A0"/>
                </a:solidFill>
              </a:rPr>
              <a:t>n! </a:t>
            </a:r>
            <a:r>
              <a:rPr lang="en-US" dirty="0"/>
              <a:t> ≤ n*n*n*…*n</a:t>
            </a:r>
            <a:r>
              <a:rPr lang="en-US" b="1" baseline="30000" dirty="0"/>
              <a:t>  </a:t>
            </a:r>
            <a:r>
              <a:rPr lang="en-US" dirty="0"/>
              <a:t>  </a:t>
            </a:r>
            <a:r>
              <a:rPr lang="en-US" b="1" dirty="0"/>
              <a:t>for all n </a:t>
            </a:r>
            <a:r>
              <a:rPr lang="en-US" dirty="0">
                <a:solidFill>
                  <a:srgbClr val="FF0000"/>
                </a:solidFill>
              </a:rPr>
              <a:t>≥ 1</a:t>
            </a:r>
          </a:p>
          <a:p>
            <a:pPr marL="514350" indent="-514350" algn="ctr">
              <a:buAutoNum type="arabicPlain"/>
            </a:pPr>
            <a:r>
              <a:rPr lang="en-US" dirty="0"/>
              <a:t>≤  </a:t>
            </a:r>
            <a:r>
              <a:rPr lang="en-US" b="1" dirty="0">
                <a:solidFill>
                  <a:srgbClr val="7030A0"/>
                </a:solidFill>
              </a:rPr>
              <a:t>1*2*3*4*….*n</a:t>
            </a:r>
            <a:r>
              <a:rPr lang="en-US" dirty="0"/>
              <a:t>  ≤ n*n*n*…*n</a:t>
            </a:r>
          </a:p>
          <a:p>
            <a:pPr marL="0" indent="0" algn="ctr">
              <a:buNone/>
            </a:pPr>
            <a:r>
              <a:rPr lang="en-US" dirty="0"/>
              <a:t>1  ≤ </a:t>
            </a:r>
            <a:r>
              <a:rPr lang="en-US" b="1" dirty="0"/>
              <a:t>n!</a:t>
            </a:r>
            <a:r>
              <a:rPr lang="en-US" dirty="0"/>
              <a:t>  ≤ </a:t>
            </a:r>
            <a:r>
              <a:rPr lang="en-US" dirty="0" err="1"/>
              <a:t>n</a:t>
            </a:r>
            <a:r>
              <a:rPr lang="en-US" b="1" baseline="30000" dirty="0" err="1"/>
              <a:t>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When c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= 1, c</a:t>
            </a:r>
            <a:r>
              <a:rPr lang="en-US" b="1" baseline="-25000" dirty="0">
                <a:solidFill>
                  <a:srgbClr val="FF0000"/>
                </a:solidFill>
              </a:rPr>
              <a:t>2 </a:t>
            </a:r>
            <a:r>
              <a:rPr lang="en-US" b="1" dirty="0">
                <a:solidFill>
                  <a:srgbClr val="FF0000"/>
                </a:solidFill>
              </a:rPr>
              <a:t>=1, g(n) = ?</a:t>
            </a:r>
            <a:endParaRPr lang="en-US" b="1" baseline="30000" dirty="0"/>
          </a:p>
          <a:p>
            <a:pPr marL="0" indent="0" algn="ctr">
              <a:buNone/>
            </a:pPr>
            <a:r>
              <a:rPr lang="en-US" b="1" dirty="0"/>
              <a:t>So </a:t>
            </a:r>
            <a:r>
              <a:rPr lang="en-US" dirty="0">
                <a:latin typeface="Arial" panose="020B0604020202020204" pitchFamily="34" charset="0"/>
              </a:rPr>
              <a:t>f(n)= O(</a:t>
            </a:r>
            <a:r>
              <a:rPr lang="en-US" dirty="0" err="1"/>
              <a:t>n</a:t>
            </a:r>
            <a:r>
              <a:rPr lang="en-US" b="1" baseline="30000" dirty="0" err="1"/>
              <a:t>n</a:t>
            </a:r>
            <a:r>
              <a:rPr lang="en-US" dirty="0">
                <a:latin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</a:rPr>
              <a:t>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b="0" i="0" dirty="0">
                <a:effectLst/>
                <a:latin typeface="Arial" panose="020B0604020202020204" pitchFamily="34" charset="0"/>
              </a:rPr>
              <a:t>(1)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67C34-45C8-409C-BE38-FD55359C88B0}"/>
              </a:ext>
            </a:extLst>
          </p:cNvPr>
          <p:cNvSpPr/>
          <p:nvPr/>
        </p:nvSpPr>
        <p:spPr>
          <a:xfrm>
            <a:off x="8834511" y="3429000"/>
            <a:ext cx="2293034" cy="19307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 are not getting a single value of g(n) so we cannot find </a:t>
            </a:r>
            <a:r>
              <a:rPr lang="el-GR" b="1" i="0" dirty="0">
                <a:effectLst/>
                <a:latin typeface="Arial" panose="020B0604020202020204" pitchFamily="34" charset="0"/>
              </a:rPr>
              <a:t>θ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3751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DB30-4687-4D7C-B33E-AA013BC7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979B2-FD75-41A9-97A8-80977E49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f(n) = </a:t>
            </a:r>
            <a:r>
              <a:rPr lang="en-US" dirty="0" err="1"/>
              <a:t>logn</a:t>
            </a:r>
            <a:r>
              <a:rPr lang="en-US" dirty="0"/>
              <a:t>!</a:t>
            </a:r>
          </a:p>
          <a:p>
            <a:pPr marL="0" indent="0" algn="ctr">
              <a:buNone/>
            </a:pPr>
            <a:r>
              <a:rPr lang="en-US" dirty="0"/>
              <a:t>1 ≤  </a:t>
            </a:r>
            <a:r>
              <a:rPr lang="en-US" b="1" dirty="0">
                <a:solidFill>
                  <a:srgbClr val="7030A0"/>
                </a:solidFill>
              </a:rPr>
              <a:t>n! </a:t>
            </a:r>
            <a:r>
              <a:rPr lang="en-US" dirty="0"/>
              <a:t> ≤ n*n*n*…*n</a:t>
            </a:r>
            <a:r>
              <a:rPr lang="en-US" b="1" baseline="30000" dirty="0"/>
              <a:t>  </a:t>
            </a:r>
            <a:r>
              <a:rPr lang="en-US" dirty="0"/>
              <a:t>  </a:t>
            </a:r>
            <a:r>
              <a:rPr lang="en-US" b="1" dirty="0"/>
              <a:t>for all n </a:t>
            </a:r>
            <a:r>
              <a:rPr lang="en-US" dirty="0">
                <a:solidFill>
                  <a:srgbClr val="FF0000"/>
                </a:solidFill>
              </a:rPr>
              <a:t>≥ 1</a:t>
            </a:r>
          </a:p>
          <a:p>
            <a:pPr marL="0" indent="0" algn="ctr">
              <a:buNone/>
            </a:pPr>
            <a:r>
              <a:rPr lang="en-US" dirty="0"/>
              <a:t>log 1 ≤  log(</a:t>
            </a:r>
            <a:r>
              <a:rPr lang="en-US" b="1" dirty="0">
                <a:solidFill>
                  <a:srgbClr val="7030A0"/>
                </a:solidFill>
              </a:rPr>
              <a:t>1*2*3*4*….*n)</a:t>
            </a:r>
            <a:r>
              <a:rPr lang="en-US" dirty="0"/>
              <a:t>  ≤ log(n*n*n*…*n)</a:t>
            </a:r>
          </a:p>
          <a:p>
            <a:pPr marL="0" indent="0" algn="ctr">
              <a:buNone/>
            </a:pPr>
            <a:r>
              <a:rPr lang="en-US" dirty="0"/>
              <a:t>0  ≤ log </a:t>
            </a:r>
            <a:r>
              <a:rPr lang="en-US" b="1" dirty="0"/>
              <a:t>n!</a:t>
            </a:r>
            <a:r>
              <a:rPr lang="en-US" dirty="0"/>
              <a:t>  ≤ </a:t>
            </a:r>
            <a:r>
              <a:rPr lang="en-US" dirty="0" err="1"/>
              <a:t>logn</a:t>
            </a:r>
            <a:r>
              <a:rPr lang="en-US" b="1" baseline="30000" dirty="0" err="1"/>
              <a:t>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When c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= 1, c</a:t>
            </a:r>
            <a:r>
              <a:rPr lang="en-US" b="1" baseline="-25000" dirty="0">
                <a:solidFill>
                  <a:srgbClr val="FF0000"/>
                </a:solidFill>
              </a:rPr>
              <a:t>2 </a:t>
            </a:r>
            <a:r>
              <a:rPr lang="en-US" b="1" dirty="0">
                <a:solidFill>
                  <a:srgbClr val="FF0000"/>
                </a:solidFill>
              </a:rPr>
              <a:t>=1, g(n) = ?</a:t>
            </a:r>
            <a:endParaRPr lang="en-US" b="1" baseline="30000" dirty="0"/>
          </a:p>
          <a:p>
            <a:pPr marL="0" indent="0" algn="ctr">
              <a:buNone/>
            </a:pPr>
            <a:r>
              <a:rPr lang="en-US" b="1" dirty="0"/>
              <a:t>So </a:t>
            </a:r>
            <a:r>
              <a:rPr lang="en-US" dirty="0">
                <a:latin typeface="Arial" panose="020B0604020202020204" pitchFamily="34" charset="0"/>
              </a:rPr>
              <a:t>f(n)= O(</a:t>
            </a:r>
            <a:r>
              <a:rPr lang="en-US" dirty="0" err="1">
                <a:latin typeface="Arial" panose="020B0604020202020204" pitchFamily="34" charset="0"/>
              </a:rPr>
              <a:t>log</a:t>
            </a:r>
            <a:r>
              <a:rPr lang="en-US" dirty="0" err="1"/>
              <a:t>n</a:t>
            </a:r>
            <a:r>
              <a:rPr lang="en-US" b="1" baseline="30000" dirty="0" err="1"/>
              <a:t>n</a:t>
            </a:r>
            <a:r>
              <a:rPr lang="en-US" dirty="0">
                <a:latin typeface="Arial" panose="020B0604020202020204" pitchFamily="34" charset="0"/>
              </a:rPr>
              <a:t>) which O(n </a:t>
            </a:r>
            <a:r>
              <a:rPr lang="en-US" dirty="0" err="1">
                <a:latin typeface="Arial" panose="020B0604020202020204" pitchFamily="34" charset="0"/>
              </a:rPr>
              <a:t>logn</a:t>
            </a:r>
            <a:r>
              <a:rPr lang="en-US" dirty="0">
                <a:latin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</a:rPr>
              <a:t>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b="0" i="0" dirty="0">
                <a:effectLst/>
                <a:latin typeface="Arial" panose="020B0604020202020204" pitchFamily="34" charset="0"/>
              </a:rPr>
              <a:t>(1)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4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                         n+1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n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f(n) = n+1+n = 2n+1</a:t>
            </a:r>
          </a:p>
          <a:p>
            <a:pPr marL="0" indent="0">
              <a:buNone/>
            </a:pPr>
            <a:r>
              <a:rPr lang="en-US" dirty="0"/>
              <a:t>So f(n) = O(n)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22A657-BDE0-4B4D-80B3-AA8C1423334D}"/>
              </a:ext>
            </a:extLst>
          </p:cNvPr>
          <p:cNvCxnSpPr>
            <a:cxnSpLocks/>
          </p:cNvCxnSpPr>
          <p:nvPr/>
        </p:nvCxnSpPr>
        <p:spPr>
          <a:xfrm>
            <a:off x="3671666" y="2082019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B08036-2DD4-4D5E-8139-C0D2605FCC3E}"/>
              </a:ext>
            </a:extLst>
          </p:cNvPr>
          <p:cNvCxnSpPr>
            <a:cxnSpLocks/>
          </p:cNvCxnSpPr>
          <p:nvPr/>
        </p:nvCxnSpPr>
        <p:spPr>
          <a:xfrm>
            <a:off x="3671666" y="3064413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366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=n; </a:t>
            </a:r>
            <a:r>
              <a:rPr lang="en-US" dirty="0" err="1"/>
              <a:t>i</a:t>
            </a:r>
            <a:r>
              <a:rPr lang="en-US" dirty="0"/>
              <a:t> &gt;0; </a:t>
            </a:r>
            <a:r>
              <a:rPr lang="en-US" dirty="0" err="1"/>
              <a:t>i</a:t>
            </a:r>
            <a:r>
              <a:rPr lang="en-US" dirty="0"/>
              <a:t>--)                         n+1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n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f(n) = n+1+n = 2n+1</a:t>
            </a:r>
          </a:p>
          <a:p>
            <a:pPr marL="0" indent="0">
              <a:buNone/>
            </a:pPr>
            <a:r>
              <a:rPr lang="en-US" dirty="0"/>
              <a:t>So f(n) = O(n)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22A657-BDE0-4B4D-80B3-AA8C1423334D}"/>
              </a:ext>
            </a:extLst>
          </p:cNvPr>
          <p:cNvCxnSpPr>
            <a:cxnSpLocks/>
          </p:cNvCxnSpPr>
          <p:nvPr/>
        </p:nvCxnSpPr>
        <p:spPr>
          <a:xfrm>
            <a:off x="3671666" y="2082019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B08036-2DD4-4D5E-8139-C0D2605FCC3E}"/>
              </a:ext>
            </a:extLst>
          </p:cNvPr>
          <p:cNvCxnSpPr>
            <a:cxnSpLocks/>
          </p:cNvCxnSpPr>
          <p:nvPr/>
        </p:nvCxnSpPr>
        <p:spPr>
          <a:xfrm>
            <a:off x="3671666" y="3064413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32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=i+2)                         n/2+1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stmt</a:t>
            </a:r>
            <a:r>
              <a:rPr lang="en-US" dirty="0"/>
              <a:t>;                                 n/2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f(n) = n/2+1+n/2 = n+1</a:t>
            </a:r>
          </a:p>
          <a:p>
            <a:pPr marL="0" indent="0">
              <a:buNone/>
            </a:pPr>
            <a:r>
              <a:rPr lang="en-US" dirty="0"/>
              <a:t>So f(n) = O(n)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22A657-BDE0-4B4D-80B3-AA8C1423334D}"/>
              </a:ext>
            </a:extLst>
          </p:cNvPr>
          <p:cNvCxnSpPr>
            <a:cxnSpLocks/>
          </p:cNvCxnSpPr>
          <p:nvPr/>
        </p:nvCxnSpPr>
        <p:spPr>
          <a:xfrm>
            <a:off x="3671666" y="2082019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B08036-2DD4-4D5E-8139-C0D2605FCC3E}"/>
              </a:ext>
            </a:extLst>
          </p:cNvPr>
          <p:cNvCxnSpPr>
            <a:cxnSpLocks/>
          </p:cNvCxnSpPr>
          <p:nvPr/>
        </p:nvCxnSpPr>
        <p:spPr>
          <a:xfrm>
            <a:off x="3671666" y="3064413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397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6804-7B86-422A-9B64-77421E37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 of Code Snippets(4)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B8EB-2225-4C58-BCA8-F437926C7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++)                         			n+1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for (j=0; j &lt;n; </a:t>
            </a:r>
            <a:r>
              <a:rPr lang="en-US" dirty="0" err="1"/>
              <a:t>j++</a:t>
            </a:r>
            <a:r>
              <a:rPr lang="en-US" dirty="0"/>
              <a:t>)				n * n+1</a:t>
            </a:r>
          </a:p>
          <a:p>
            <a:pPr marL="0" indent="0">
              <a:buNone/>
            </a:pPr>
            <a:r>
              <a:rPr lang="en-US" dirty="0"/>
              <a:t>	{ </a:t>
            </a:r>
            <a:r>
              <a:rPr lang="en-US" dirty="0" err="1"/>
              <a:t>stmt</a:t>
            </a:r>
            <a:r>
              <a:rPr lang="en-US" dirty="0"/>
              <a:t>;}					n * n</a:t>
            </a:r>
          </a:p>
          <a:p>
            <a:pPr marL="0" indent="0">
              <a:buNone/>
            </a:pPr>
            <a:r>
              <a:rPr lang="en-US" dirty="0"/>
              <a:t>	                              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f(n) = n+1 + n</a:t>
            </a:r>
            <a:r>
              <a:rPr lang="en-US" b="1" baseline="30000" dirty="0"/>
              <a:t>2</a:t>
            </a:r>
            <a:r>
              <a:rPr lang="en-US" dirty="0"/>
              <a:t> + 1 + n</a:t>
            </a:r>
            <a:r>
              <a:rPr lang="en-US" b="1" baseline="30000" dirty="0"/>
              <a:t>2 </a:t>
            </a:r>
            <a:r>
              <a:rPr lang="en-US" b="1" dirty="0"/>
              <a:t> = 2</a:t>
            </a:r>
            <a:r>
              <a:rPr lang="en-US" dirty="0"/>
              <a:t> n</a:t>
            </a:r>
            <a:r>
              <a:rPr lang="en-US" b="1" baseline="30000" dirty="0"/>
              <a:t>2</a:t>
            </a:r>
            <a:r>
              <a:rPr lang="en-US" b="1" dirty="0"/>
              <a:t> + n + 2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So f(n) = O(n</a:t>
            </a:r>
            <a:r>
              <a:rPr lang="en-US" b="1" baseline="30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22A657-BDE0-4B4D-80B3-AA8C1423334D}"/>
              </a:ext>
            </a:extLst>
          </p:cNvPr>
          <p:cNvCxnSpPr>
            <a:cxnSpLocks/>
          </p:cNvCxnSpPr>
          <p:nvPr/>
        </p:nvCxnSpPr>
        <p:spPr>
          <a:xfrm>
            <a:off x="5294140" y="2096087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B08036-2DD4-4D5E-8139-C0D2605FCC3E}"/>
              </a:ext>
            </a:extLst>
          </p:cNvPr>
          <p:cNvCxnSpPr>
            <a:cxnSpLocks/>
          </p:cNvCxnSpPr>
          <p:nvPr/>
        </p:nvCxnSpPr>
        <p:spPr>
          <a:xfrm>
            <a:off x="5294140" y="3008142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FE2D6D-C4FB-412B-9106-45A42B63F7D2}"/>
              </a:ext>
            </a:extLst>
          </p:cNvPr>
          <p:cNvCxnSpPr>
            <a:cxnSpLocks/>
          </p:cNvCxnSpPr>
          <p:nvPr/>
        </p:nvCxnSpPr>
        <p:spPr>
          <a:xfrm>
            <a:off x="5294140" y="3666979"/>
            <a:ext cx="13364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3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547D-06E9-4322-8378-E6671E877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4327"/>
          </a:xfrm>
        </p:spPr>
        <p:txBody>
          <a:bodyPr/>
          <a:lstStyle/>
          <a:p>
            <a:pPr algn="ctr"/>
            <a:r>
              <a:rPr lang="en-US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77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1153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Asymptotic Analysis and Time Complexity</vt:lpstr>
      <vt:lpstr>Big-Oh (O)</vt:lpstr>
      <vt:lpstr>Big-Omega(Ω)</vt:lpstr>
      <vt:lpstr>Big-Theta (θ)</vt:lpstr>
      <vt:lpstr>Example 2</vt:lpstr>
      <vt:lpstr>Example 2</vt:lpstr>
      <vt:lpstr>Example 3</vt:lpstr>
      <vt:lpstr>Example 4</vt:lpstr>
      <vt:lpstr>Example 5</vt:lpstr>
      <vt:lpstr>Time Complexity of code Snippets(1)</vt:lpstr>
      <vt:lpstr>Time Complexity of code Snippets(2)</vt:lpstr>
      <vt:lpstr>Time Complexity of Code Snippets(3)</vt:lpstr>
      <vt:lpstr>Time Complexity of Code Snippets(4)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Analysis and Time Complexity</dc:title>
  <dc:creator>Mariha</dc:creator>
  <cp:lastModifiedBy>Mariha Asad</cp:lastModifiedBy>
  <cp:revision>76</cp:revision>
  <dcterms:created xsi:type="dcterms:W3CDTF">2020-11-02T03:17:20Z</dcterms:created>
  <dcterms:modified xsi:type="dcterms:W3CDTF">2021-10-28T03:51:42Z</dcterms:modified>
</cp:coreProperties>
</file>