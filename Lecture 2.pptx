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65CCA-951C-452F-B70A-EF5B363B0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F8D71C-FE89-4D6D-B2A7-CECEBD50A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F290-6C9C-4A2A-AD37-CB50AB89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67310-B957-47C5-A314-690D9509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29BF-6F6E-4F3F-842C-2CDF5A7E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32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3528-D6BB-404C-966C-72BD6FC7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B2449-793C-4438-978C-636CA8173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98179-C1A7-4FA0-8B40-6B52AFE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EAB83-816A-48BA-A42B-47129AB3D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F78A1-204A-48D9-A2D1-54DC68C2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4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510A-7826-4316-BE1C-45408B2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07AA6-208B-4CD1-B828-BEEF9AE34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D776-67DC-43E0-AAE6-C05519FCA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35566-C596-43EE-A6E9-5E7CC691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45F62-DE2F-4D8F-9506-A1CEE169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5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CFD71-DB41-47E2-8FC1-92E38E2BD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15BC8-D691-4375-B123-DE1BD392D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4C0721-29F5-4F11-9387-ECED492C3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7F807-79E4-43AB-A4DA-08620AB5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98C4B-3DF2-4916-9167-1B61DC935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573FD-B536-4BAC-9ECD-7387D92E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57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70C03-1BAB-44F0-823C-6F90185B6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29FE2-26BD-4D54-8D65-9896F5FB2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0F6E5-C301-4B90-83A5-DE001A987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B3E54-5DA1-4324-A3CA-9B57C2575D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A59381-6707-44FC-99AC-7B148C9C1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9D9565-8687-44B7-BD9A-DBFB0807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F50B-ABB9-4F2C-9F3C-16E67DF7C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AB23D5-728C-455A-BE37-C488ADD1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7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5CE6-BBBE-44EF-A48D-DEEE3BB03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2E377-BF94-44A6-B307-9D3BD818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2439B8-EF65-4C6F-B814-34F4DB87D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D5DBD2-6729-41FE-9C4E-8C3BBD079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64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5AB23-9B1B-428A-9C56-4AA57CFE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187F0-7A85-4A9E-9552-4706EEF1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A9115-6959-4014-9CEF-64E2251FB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29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D030-591E-4910-A864-9C4D1415F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7575-DBA3-4B15-AA01-6C56E4EA2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B8113-EFA6-43E9-B78E-0CDA60387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6F5D6-7B30-438E-A8D3-5E6AA1DE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7F494-1796-4F1B-A03A-018BA67E5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B984-C391-41B6-9093-FAF60E232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56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D474D-2B47-4C1E-9B24-72EDBB7BA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6A71A-E87E-479C-94BF-192587C04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7C83C-BE06-497D-893E-DD1501767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E403AC-803E-43BF-8577-FD48B1A2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2C0C3-2EF9-4227-BCD2-09674EF1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1750C-3B0A-4E22-9E8D-E9DE2329E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21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E7E5-6B39-41AD-8CA9-B1461ECC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09B5B-F0C0-44A9-8583-13348AECD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C9EF0-0316-43DB-9D73-8BB1EB71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4842-9CA6-4C4F-8638-41E951273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7C561-793C-4866-85C3-EB17CABC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4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35B420-760C-4A8D-8332-3357E0141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3FD5D-7C00-4199-B8E4-3DE39C84F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64A4E-E314-49B2-B2DC-CF0CBF93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82A39-ACFD-4DED-8C88-D049D362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03F5-53B3-4F2C-A766-4095C0C4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45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4F805-586C-417E-ACB6-CEE38A7FA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38A1-0493-48D8-89F3-57B3CA56A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D0FC3-45B3-4A05-8745-B76EE37855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BB77-38FA-46AF-9B4A-A816472C8579}" type="datetimeFigureOut">
              <a:rPr lang="en-US" smtClean="0"/>
              <a:t>10/12/2021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A47C0-C423-4587-BD08-092FCEF14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8E8A5-0910-4DC1-BDBA-D2A62AE87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C9227-57D9-4649-B3AA-D91C5A408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7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E061-BE64-4E85-A864-612F193D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Complexity and Growth of a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4A5A5-E12F-497D-9BC3-217C70C15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Algorithms</a:t>
            </a:r>
          </a:p>
          <a:p>
            <a:r>
              <a:rPr lang="en-US" dirty="0"/>
              <a:t>Teacher : Mariha Asad</a:t>
            </a:r>
          </a:p>
        </p:txBody>
      </p:sp>
    </p:spTree>
    <p:extLst>
      <p:ext uri="{BB962C8B-B14F-4D97-AF65-F5344CB8AC3E}">
        <p14:creationId xmlns:p14="http://schemas.microsoft.com/office/powerpoint/2010/main" val="844987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63BF-F288-4661-B874-1A216872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Required by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7B3DF-2F6F-47C2-9A55-F65E6D44F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Best case:</a:t>
            </a:r>
          </a:p>
          <a:p>
            <a:pPr marL="0" indent="0">
              <a:buNone/>
            </a:pPr>
            <a:r>
              <a:rPr lang="en-US" dirty="0"/>
              <a:t>	Minimum time required for program execution</a:t>
            </a:r>
          </a:p>
          <a:p>
            <a:pPr marL="0" indent="0">
              <a:buNone/>
            </a:pPr>
            <a:r>
              <a:rPr lang="en-US" dirty="0"/>
              <a:t>Average case:</a:t>
            </a:r>
          </a:p>
          <a:p>
            <a:pPr marL="0" indent="0">
              <a:buNone/>
            </a:pPr>
            <a:r>
              <a:rPr lang="en-US" dirty="0"/>
              <a:t>	Average time required for program execution</a:t>
            </a:r>
          </a:p>
          <a:p>
            <a:pPr marL="0" indent="0">
              <a:buNone/>
            </a:pPr>
            <a:r>
              <a:rPr lang="en-US" dirty="0"/>
              <a:t>Worst case:</a:t>
            </a:r>
          </a:p>
          <a:p>
            <a:pPr marL="0" indent="0">
              <a:buNone/>
            </a:pPr>
            <a:r>
              <a:rPr lang="en-US" dirty="0"/>
              <a:t>	Maximum time required for program execution</a:t>
            </a:r>
          </a:p>
        </p:txBody>
      </p:sp>
    </p:spTree>
    <p:extLst>
      <p:ext uri="{BB962C8B-B14F-4D97-AF65-F5344CB8AC3E}">
        <p14:creationId xmlns:p14="http://schemas.microsoft.com/office/powerpoint/2010/main" val="2853122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0EC6-8A1F-4FD6-9755-CA2B2A328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BF34-A50A-4F33-9EF4-992C23269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effectLst/>
                <a:latin typeface="+mj-lt"/>
              </a:rPr>
              <a:t>Time Complexity of algorithm/code is </a:t>
            </a:r>
            <a:r>
              <a:rPr lang="en-US" b="1" i="0" dirty="0">
                <a:effectLst/>
                <a:latin typeface="+mj-lt"/>
              </a:rPr>
              <a:t>not</a:t>
            </a:r>
            <a:r>
              <a:rPr lang="en-US" b="0" i="0" dirty="0">
                <a:effectLst/>
                <a:latin typeface="+mj-lt"/>
              </a:rPr>
              <a:t> equal to the actual time required to execute a particular </a:t>
            </a:r>
            <a:r>
              <a:rPr lang="en-US" b="0" i="0" dirty="0">
                <a:solidFill>
                  <a:srgbClr val="00B050"/>
                </a:solidFill>
                <a:effectLst/>
                <a:latin typeface="+mj-lt"/>
              </a:rPr>
              <a:t>code but the number of times a statement execute</a:t>
            </a:r>
            <a:r>
              <a:rPr lang="en-US" b="0" i="0" dirty="0">
                <a:effectLst/>
                <a:latin typeface="+mj-lt"/>
              </a:rPr>
              <a:t>s.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Now, the question arises if time complexity is not the actual time require executing the code then what is it?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+mj-lt"/>
              </a:rPr>
              <a:t>The answer is </a:t>
            </a:r>
            <a:r>
              <a:rPr lang="en-US" dirty="0">
                <a:latin typeface="+mj-lt"/>
              </a:rPr>
              <a:t>: Instead of measuring actual time required in executing each statement in the code, we consider </a:t>
            </a:r>
            <a:r>
              <a:rPr lang="en-US" dirty="0">
                <a:solidFill>
                  <a:srgbClr val="FF0000"/>
                </a:solidFill>
                <a:latin typeface="+mj-lt"/>
              </a:rPr>
              <a:t>how many times each statement execute</a:t>
            </a:r>
            <a:r>
              <a:rPr lang="en-US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7333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D24CE-C6EB-4B00-A640-1E25912D8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E5882-95EF-4160-A3EE-9E75AB59A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	int a;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cin</a:t>
            </a:r>
            <a:r>
              <a:rPr lang="en-US" dirty="0"/>
              <a:t>&gt;&gt; a;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“Hello world”;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907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4D003-806E-45C6-9153-4059AD1A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31949-D75D-468B-AE2A-C80C2E108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r>
              <a:rPr lang="en-US" dirty="0"/>
              <a:t>int main(){</a:t>
            </a:r>
          </a:p>
          <a:p>
            <a:pPr marL="0" indent="0">
              <a:buNone/>
            </a:pPr>
            <a:r>
              <a:rPr lang="en-US" dirty="0"/>
              <a:t>	int n =4;</a:t>
            </a:r>
          </a:p>
          <a:p>
            <a:pPr marL="0" indent="0">
              <a:buNone/>
            </a:pPr>
            <a:r>
              <a:rPr lang="en-US" dirty="0"/>
              <a:t>	for(int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n; </a:t>
            </a:r>
            <a:r>
              <a:rPr lang="en-US" dirty="0" err="1"/>
              <a:t>i</a:t>
            </a:r>
            <a:r>
              <a:rPr lang="en-US" dirty="0"/>
              <a:t>++ )	n+1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 &lt;&lt; “Hello world”;}	n</a:t>
            </a:r>
          </a:p>
          <a:p>
            <a:pPr marL="0" indent="0">
              <a:buNone/>
            </a:pPr>
            <a:r>
              <a:rPr lang="en-US" dirty="0"/>
              <a:t>	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87321-7E3A-4F84-B6D7-F2854F0E8289}"/>
              </a:ext>
            </a:extLst>
          </p:cNvPr>
          <p:cNvSpPr/>
          <p:nvPr/>
        </p:nvSpPr>
        <p:spPr>
          <a:xfrm>
            <a:off x="6990347" y="2153653"/>
            <a:ext cx="3729790" cy="2466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n=4</a:t>
            </a:r>
          </a:p>
          <a:p>
            <a:pPr algn="ctr"/>
            <a:r>
              <a:rPr lang="en-US" dirty="0"/>
              <a:t>2n+1 = 9</a:t>
            </a:r>
          </a:p>
          <a:p>
            <a:pPr algn="ctr"/>
            <a:r>
              <a:rPr lang="en-US" dirty="0"/>
              <a:t>0&lt;4</a:t>
            </a:r>
          </a:p>
          <a:p>
            <a:pPr algn="ctr"/>
            <a:r>
              <a:rPr lang="en-US" dirty="0"/>
              <a:t>1&lt;4</a:t>
            </a:r>
          </a:p>
          <a:p>
            <a:pPr algn="ctr"/>
            <a:r>
              <a:rPr lang="en-US" dirty="0"/>
              <a:t>2&lt;4</a:t>
            </a:r>
          </a:p>
          <a:p>
            <a:pPr algn="ctr"/>
            <a:r>
              <a:rPr lang="en-US" dirty="0"/>
              <a:t>3&lt;4</a:t>
            </a:r>
          </a:p>
          <a:p>
            <a:pPr algn="ctr"/>
            <a:r>
              <a:rPr lang="en-US" dirty="0"/>
              <a:t>4&lt;4</a:t>
            </a:r>
          </a:p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02712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B0D2F-840F-42AE-B5F9-AD63CEAD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3DBB-E6D4-40EF-9572-E2E18927B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Constant O(1):</a:t>
            </a:r>
          </a:p>
          <a:p>
            <a:pPr marL="0" indent="0">
              <a:buNone/>
            </a:pPr>
            <a:r>
              <a:rPr lang="en-US" dirty="0"/>
              <a:t>Time taken is independent of the amount of data</a:t>
            </a:r>
          </a:p>
          <a:p>
            <a:r>
              <a:rPr lang="en-US" dirty="0"/>
              <a:t>Stack push and pop</a:t>
            </a:r>
          </a:p>
          <a:p>
            <a:r>
              <a:rPr lang="en-US" dirty="0"/>
              <a:t>Queue enqueue and dequeue</a:t>
            </a:r>
          </a:p>
          <a:p>
            <a:r>
              <a:rPr lang="en-US" dirty="0"/>
              <a:t>Insert a node in the start of linked list</a:t>
            </a:r>
          </a:p>
        </p:txBody>
      </p:sp>
    </p:spTree>
    <p:extLst>
      <p:ext uri="{BB962C8B-B14F-4D97-AF65-F5344CB8AC3E}">
        <p14:creationId xmlns:p14="http://schemas.microsoft.com/office/powerpoint/2010/main" val="141448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94B2-75D9-453A-88CC-1750B27E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FA66-406C-4F34-A639-80ADF7AF9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Logarithmic O(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Time taken is proportional to the logarithmic of amount of data</a:t>
            </a:r>
          </a:p>
          <a:p>
            <a:r>
              <a:rPr lang="en-US" dirty="0"/>
              <a:t>Binary search (a sorted list)</a:t>
            </a:r>
          </a:p>
          <a:p>
            <a:r>
              <a:rPr lang="en-US" dirty="0"/>
              <a:t>Search a binary tree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3DD44-9877-4763-B94D-2B23A4FF2271}"/>
              </a:ext>
            </a:extLst>
          </p:cNvPr>
          <p:cNvSpPr/>
          <p:nvPr/>
        </p:nvSpPr>
        <p:spPr>
          <a:xfrm>
            <a:off x="6545179" y="3845426"/>
            <a:ext cx="3717758" cy="2466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 8 = 3</a:t>
            </a:r>
          </a:p>
          <a:p>
            <a:pPr algn="ctr"/>
            <a:r>
              <a:rPr lang="en-US" dirty="0"/>
              <a:t>Log</a:t>
            </a:r>
            <a:r>
              <a:rPr lang="en-US" baseline="-25000" dirty="0"/>
              <a:t>2</a:t>
            </a:r>
            <a:r>
              <a:rPr lang="en-US" dirty="0"/>
              <a:t> 8 = Log</a:t>
            </a:r>
            <a:r>
              <a:rPr lang="en-US" baseline="-25000" dirty="0"/>
              <a:t>2 </a:t>
            </a:r>
            <a:r>
              <a:rPr lang="en-US" dirty="0"/>
              <a:t>2</a:t>
            </a:r>
            <a:r>
              <a:rPr lang="en-US" baseline="30000" dirty="0"/>
              <a:t>3</a:t>
            </a:r>
          </a:p>
          <a:p>
            <a:pPr algn="ctr"/>
            <a:endParaRPr lang="en-US" baseline="30000" dirty="0"/>
          </a:p>
          <a:p>
            <a:pPr algn="ctr"/>
            <a:r>
              <a:rPr lang="en-US" baseline="30000" dirty="0"/>
              <a:t>n=8</a:t>
            </a:r>
          </a:p>
          <a:p>
            <a:pPr algn="ctr"/>
            <a:r>
              <a:rPr lang="en-US" baseline="30000" dirty="0"/>
              <a:t>3</a:t>
            </a:r>
          </a:p>
          <a:p>
            <a:pPr algn="ctr"/>
            <a:r>
              <a:rPr lang="en-US" baseline="30000" dirty="0" err="1"/>
              <a:t>Logn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76479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EA04C-F65E-4D6E-98FE-B3C7F7685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FF910-4CCC-458F-BD83-54804AD5B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Linear O(n)</a:t>
            </a:r>
          </a:p>
          <a:p>
            <a:pPr marL="0" indent="0">
              <a:buNone/>
            </a:pPr>
            <a:r>
              <a:rPr lang="en-US" dirty="0"/>
              <a:t>Time taken is directly proportional to the amount of data</a:t>
            </a:r>
          </a:p>
          <a:p>
            <a:r>
              <a:rPr lang="en-US" dirty="0"/>
              <a:t>Linear search</a:t>
            </a:r>
          </a:p>
          <a:p>
            <a:r>
              <a:rPr lang="en-US" dirty="0"/>
              <a:t>Count items in a list</a:t>
            </a:r>
          </a:p>
          <a:p>
            <a:r>
              <a:rPr lang="en-US" dirty="0"/>
              <a:t>Compare a pair of strings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3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9D9E-583E-478F-B681-996457EF2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BFAF8-97CC-4EF2-9830-35B8E339C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Linearithmic</a:t>
            </a:r>
            <a:r>
              <a:rPr lang="en-US" dirty="0"/>
              <a:t> O(n </a:t>
            </a:r>
            <a:r>
              <a:rPr lang="en-US" dirty="0" err="1"/>
              <a:t>logn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Time taken is proportional to the logarithmic of data. Multiplied by the amount of data</a:t>
            </a:r>
          </a:p>
          <a:p>
            <a:r>
              <a:rPr lang="en-US" dirty="0"/>
              <a:t>Merge sort</a:t>
            </a:r>
          </a:p>
          <a:p>
            <a:r>
              <a:rPr lang="en-US" dirty="0"/>
              <a:t>Quick sort </a:t>
            </a:r>
          </a:p>
        </p:txBody>
      </p:sp>
    </p:spTree>
    <p:extLst>
      <p:ext uri="{BB962C8B-B14F-4D97-AF65-F5344CB8AC3E}">
        <p14:creationId xmlns:p14="http://schemas.microsoft.com/office/powerpoint/2010/main" val="207619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A7D0-AEBC-4176-B3CA-EC4146B5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C8A72-ECFC-49AD-9908-A54C3CB13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Quardratic</a:t>
            </a:r>
            <a:r>
              <a:rPr lang="en-US" dirty="0"/>
              <a:t>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Time taken is proportional to the square of amount of data</a:t>
            </a:r>
          </a:p>
          <a:p>
            <a:r>
              <a:rPr lang="en-US" dirty="0"/>
              <a:t>Bubble sort</a:t>
            </a:r>
          </a:p>
          <a:p>
            <a:r>
              <a:rPr lang="en-US" dirty="0"/>
              <a:t>Insertion sort</a:t>
            </a:r>
          </a:p>
          <a:p>
            <a:r>
              <a:rPr lang="en-US" dirty="0"/>
              <a:t>Selection sort</a:t>
            </a:r>
          </a:p>
          <a:p>
            <a:r>
              <a:rPr lang="en-US" dirty="0"/>
              <a:t>Traverse a 2D Array</a:t>
            </a:r>
          </a:p>
        </p:txBody>
      </p:sp>
    </p:spTree>
    <p:extLst>
      <p:ext uri="{BB962C8B-B14F-4D97-AF65-F5344CB8AC3E}">
        <p14:creationId xmlns:p14="http://schemas.microsoft.com/office/powerpoint/2010/main" val="2818022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E962F-4469-428A-AFCA-4B4C5066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3E9CC-7EEF-41DB-A14C-6B31CF9E7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Polynomial O(</a:t>
            </a:r>
            <a:r>
              <a:rPr lang="en-US" dirty="0" err="1"/>
              <a:t>n</a:t>
            </a:r>
            <a:r>
              <a:rPr lang="en-US" baseline="30000" dirty="0" err="1"/>
              <a:t>k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Time taken is proportional to the amount of data raised to the power of a constant</a:t>
            </a:r>
          </a:p>
        </p:txBody>
      </p:sp>
    </p:spTree>
    <p:extLst>
      <p:ext uri="{BB962C8B-B14F-4D97-AF65-F5344CB8AC3E}">
        <p14:creationId xmlns:p14="http://schemas.microsoft.com/office/powerpoint/2010/main" val="205079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AFCA-FD4F-4ECC-8555-92DC1B04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1F509-0482-4DAC-9BBD-1965753AB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Exponential O(</a:t>
            </a:r>
            <a:r>
              <a:rPr lang="en-US" dirty="0" err="1"/>
              <a:t>k</a:t>
            </a:r>
            <a:r>
              <a:rPr lang="en-US" b="1" baseline="30000" dirty="0" err="1"/>
              <a:t>n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Time taken is proportional to constant raised to the power of amount of data</a:t>
            </a:r>
          </a:p>
          <a:p>
            <a:r>
              <a:rPr lang="en-US" dirty="0"/>
              <a:t>N-Queen problem</a:t>
            </a:r>
          </a:p>
          <a:p>
            <a:r>
              <a:rPr lang="en-US" dirty="0"/>
              <a:t>Traveling Salesman Problem</a:t>
            </a:r>
          </a:p>
        </p:txBody>
      </p:sp>
    </p:spTree>
    <p:extLst>
      <p:ext uri="{BB962C8B-B14F-4D97-AF65-F5344CB8AC3E}">
        <p14:creationId xmlns:p14="http://schemas.microsoft.com/office/powerpoint/2010/main" val="3651291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D03A-0EEE-43B9-B1F9-EAAB6ABAE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Time Complexity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DDCC2A6-37F9-4BC6-B68B-B7E235459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613242"/>
              </p:ext>
            </p:extLst>
          </p:nvPr>
        </p:nvGraphicFramePr>
        <p:xfrm>
          <a:off x="1195754" y="1825624"/>
          <a:ext cx="9172136" cy="43922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6068">
                  <a:extLst>
                    <a:ext uri="{9D8B030D-6E8A-4147-A177-3AD203B41FA5}">
                      <a16:colId xmlns:a16="http://schemas.microsoft.com/office/drawing/2014/main" val="460233697"/>
                    </a:ext>
                  </a:extLst>
                </a:gridCol>
                <a:gridCol w="4586068">
                  <a:extLst>
                    <a:ext uri="{9D8B030D-6E8A-4147-A177-3AD203B41FA5}">
                      <a16:colId xmlns:a16="http://schemas.microsoft.com/office/drawing/2014/main" val="3322152868"/>
                    </a:ext>
                  </a:extLst>
                </a:gridCol>
              </a:tblGrid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897718"/>
                  </a:ext>
                </a:extLst>
              </a:tr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Logarithmic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</a:t>
                      </a:r>
                      <a:r>
                        <a:rPr lang="en-US" b="1" dirty="0" err="1"/>
                        <a:t>logn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0813414"/>
                  </a:ext>
                </a:extLst>
              </a:tr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9924487"/>
                  </a:ext>
                </a:extLst>
              </a:tr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Quadratic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O(n</a:t>
                      </a:r>
                      <a:r>
                        <a:rPr lang="en-US" b="1" baseline="30000" dirty="0"/>
                        <a:t>2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595717"/>
                  </a:ext>
                </a:extLst>
              </a:tr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Polynomial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</a:t>
                      </a:r>
                      <a:r>
                        <a:rPr lang="en-US" b="1" dirty="0" err="1"/>
                        <a:t>n</a:t>
                      </a:r>
                      <a:r>
                        <a:rPr lang="en-US" sz="2000" b="1" baseline="30000" dirty="0" err="1"/>
                        <a:t>k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273179"/>
                  </a:ext>
                </a:extLst>
              </a:tr>
              <a:tr h="73204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Exponential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O(</a:t>
                      </a:r>
                      <a:r>
                        <a:rPr lang="en-US" b="1" dirty="0" err="1"/>
                        <a:t>k</a:t>
                      </a:r>
                      <a:r>
                        <a:rPr lang="en-US" sz="2400" b="1" baseline="30000" dirty="0" err="1"/>
                        <a:t>n</a:t>
                      </a:r>
                      <a:r>
                        <a:rPr lang="en-US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3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194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82A7-A5E2-4062-A978-ED9647D96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Growth of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B661-8DA1-4DCC-8F5A-E3309C31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Asymptotic notation:</a:t>
            </a:r>
          </a:p>
          <a:p>
            <a:pPr marL="0" indent="0">
              <a:buNone/>
            </a:pPr>
            <a:r>
              <a:rPr lang="en-US" dirty="0"/>
              <a:t>	The notation is used to describe the running time of an algorithm</a:t>
            </a:r>
          </a:p>
          <a:p>
            <a:r>
              <a:rPr lang="en-US" dirty="0"/>
              <a:t>This notation is convenient for describing the worst running time of algorithm</a:t>
            </a:r>
          </a:p>
          <a:p>
            <a:r>
              <a:rPr lang="en-US" dirty="0"/>
              <a:t>Asymptotic notation is bound to input size (depend on input size).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Arial" panose="020B0604020202020204" pitchFamily="34" charset="0"/>
              </a:rPr>
              <a:t>Ο </a:t>
            </a:r>
            <a:r>
              <a:rPr lang="en-US" b="0" i="0" dirty="0">
                <a:effectLst/>
                <a:latin typeface="Arial" panose="020B0604020202020204" pitchFamily="34" charset="0"/>
              </a:rPr>
              <a:t>Notation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Arial" panose="020B0604020202020204" pitchFamily="34" charset="0"/>
              </a:rPr>
              <a:t>Ω </a:t>
            </a:r>
            <a:r>
              <a:rPr lang="en-US" b="0" i="0" dirty="0">
                <a:effectLst/>
                <a:latin typeface="Arial" panose="020B0604020202020204" pitchFamily="34" charset="0"/>
              </a:rPr>
              <a:t>Notation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l-GR" b="0" i="0" dirty="0">
                <a:effectLst/>
                <a:latin typeface="Arial" panose="020B0604020202020204" pitchFamily="34" charset="0"/>
              </a:rPr>
              <a:t>θ </a:t>
            </a:r>
            <a:r>
              <a:rPr lang="en-US" b="0" i="0" dirty="0">
                <a:effectLst/>
                <a:latin typeface="Arial" panose="020B0604020202020204" pitchFamily="34" charset="0"/>
              </a:rPr>
              <a:t>Notation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96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38E0-FA87-4B50-99B8-78516B4A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Asymptotic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62D9F-ADA8-4B12-868B-AA887FBD3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High level idea</a:t>
            </a:r>
          </a:p>
          <a:p>
            <a:r>
              <a:rPr lang="en-US" dirty="0"/>
              <a:t>Suppress </a:t>
            </a:r>
            <a:r>
              <a:rPr lang="en-US" dirty="0">
                <a:solidFill>
                  <a:srgbClr val="FF0000"/>
                </a:solidFill>
              </a:rPr>
              <a:t>constant factors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lower order terms</a:t>
            </a:r>
          </a:p>
          <a:p>
            <a:pPr lvl="1"/>
            <a:r>
              <a:rPr lang="en-US" dirty="0"/>
              <a:t>Constant factors: too system dependent</a:t>
            </a:r>
          </a:p>
          <a:p>
            <a:pPr lvl="1"/>
            <a:r>
              <a:rPr lang="en-US" dirty="0"/>
              <a:t>Lower order terms: irrelevant for large inputs</a:t>
            </a:r>
          </a:p>
          <a:p>
            <a:r>
              <a:rPr lang="en-US" dirty="0"/>
              <a:t>Representing a function in a communicable form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an</a:t>
            </a:r>
            <a:r>
              <a:rPr lang="en-US" b="1" baseline="30000" dirty="0"/>
              <a:t>2</a:t>
            </a:r>
            <a:r>
              <a:rPr lang="en-US" dirty="0"/>
              <a:t> + bn + c  is just O(n</a:t>
            </a:r>
            <a:r>
              <a:rPr lang="en-US" b="1" baseline="30000" dirty="0"/>
              <a:t>2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441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4B3C-C176-4C44-8C4B-B7906E195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Asymptotic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C1105-C197-4F8C-8867-21AF66392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Lets assume an algorithm can be represented as f(n);</a:t>
            </a:r>
          </a:p>
          <a:p>
            <a:pPr marL="0" indent="0">
              <a:buNone/>
            </a:pPr>
            <a:r>
              <a:rPr lang="en-US" dirty="0"/>
              <a:t>Where n is the input size. We need to calculate the running time of f(n).</a:t>
            </a:r>
          </a:p>
          <a:p>
            <a:r>
              <a:rPr lang="en-US" dirty="0"/>
              <a:t>We define another function lets call it </a:t>
            </a:r>
            <a:r>
              <a:rPr lang="en-US" dirty="0">
                <a:solidFill>
                  <a:srgbClr val="FF0000"/>
                </a:solidFill>
              </a:rPr>
              <a:t>g(n) </a:t>
            </a:r>
            <a:r>
              <a:rPr lang="en-US" dirty="0"/>
              <a:t>which represents the </a:t>
            </a:r>
            <a:r>
              <a:rPr lang="en-US" dirty="0">
                <a:solidFill>
                  <a:srgbClr val="FF0000"/>
                </a:solidFill>
              </a:rPr>
              <a:t>running time </a:t>
            </a:r>
            <a:r>
              <a:rPr lang="en-US" dirty="0"/>
              <a:t>of the algorithm.</a:t>
            </a:r>
          </a:p>
          <a:p>
            <a:r>
              <a:rPr lang="en-US" dirty="0"/>
              <a:t>Now three inequalities are possible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f(n) &lt; g(n)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f(n) = g(n)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f(n) &gt; g(n)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3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8AAEF-A633-4233-8E8C-514551B3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Asymptotic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1742-050D-459D-82FD-32ECE4997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Big-Oh (O)</a:t>
            </a:r>
          </a:p>
          <a:p>
            <a:r>
              <a:rPr lang="en-US" dirty="0"/>
              <a:t>Upper bound of f(n)</a:t>
            </a:r>
          </a:p>
          <a:p>
            <a:r>
              <a:rPr lang="en-US" dirty="0"/>
              <a:t>Definition:</a:t>
            </a:r>
          </a:p>
          <a:p>
            <a:pPr marL="0" indent="0">
              <a:buNone/>
            </a:pPr>
            <a:r>
              <a:rPr lang="en-US" dirty="0"/>
              <a:t>	f(n) = O(g(n)) if there exist  positive constants </a:t>
            </a:r>
            <a:r>
              <a:rPr lang="en-US" dirty="0">
                <a:solidFill>
                  <a:srgbClr val="FF0000"/>
                </a:solidFill>
              </a:rPr>
              <a:t>c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that</a:t>
            </a:r>
          </a:p>
          <a:p>
            <a:pPr marL="0" indent="0" algn="ctr">
              <a:buNone/>
            </a:pPr>
            <a:r>
              <a:rPr lang="en-US" dirty="0"/>
              <a:t>0 ≤  f(n) ≤ c  g(n)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237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7A73-E993-4DFB-A1AB-BA5E04AD5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Big-Oh (O)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947CB2-316E-446A-BCDF-4667D9C0BA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2010263"/>
            <a:ext cx="5486400" cy="3698192"/>
          </a:xfrm>
        </p:spPr>
      </p:pic>
    </p:spTree>
    <p:extLst>
      <p:ext uri="{BB962C8B-B14F-4D97-AF65-F5344CB8AC3E}">
        <p14:creationId xmlns:p14="http://schemas.microsoft.com/office/powerpoint/2010/main" val="2066274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35407-BA72-4057-8FD9-A9F572830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Asymptotic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7DBBF-F3DF-4341-A57A-D5BFC249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Big-Omega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dirty="0"/>
              <a:t>)</a:t>
            </a:r>
          </a:p>
          <a:p>
            <a:r>
              <a:rPr lang="en-US" dirty="0"/>
              <a:t>Lower bound of f(n)</a:t>
            </a:r>
          </a:p>
          <a:p>
            <a:pPr marL="0" indent="0">
              <a:buNone/>
            </a:pPr>
            <a:r>
              <a:rPr lang="en-US" dirty="0"/>
              <a:t>Definition:</a:t>
            </a:r>
          </a:p>
          <a:p>
            <a:pPr marL="0" indent="0">
              <a:buNone/>
            </a:pPr>
            <a:r>
              <a:rPr lang="en-US" dirty="0"/>
              <a:t>	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b="0" i="0" dirty="0">
                <a:effectLst/>
                <a:latin typeface="Arial" panose="020B0604020202020204" pitchFamily="34" charset="0"/>
              </a:rPr>
              <a:t>(g(n)) if there exist positive constants 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	that 0 ≤ c  g(n) ≤ f(n)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84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3E5A2-5380-4945-A24F-EC6F1CEF4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Big-Omega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Ω</a:t>
            </a:r>
            <a:r>
              <a:rPr lang="en-US" dirty="0"/>
              <a:t>)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4E74FB-7041-4735-806D-FF820D41C4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313" y="2315133"/>
            <a:ext cx="4500776" cy="3565162"/>
          </a:xfrm>
        </p:spPr>
      </p:pic>
    </p:spTree>
    <p:extLst>
      <p:ext uri="{BB962C8B-B14F-4D97-AF65-F5344CB8AC3E}">
        <p14:creationId xmlns:p14="http://schemas.microsoft.com/office/powerpoint/2010/main" val="1778678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F0C0-B3B5-44AC-94F7-77578C89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Asymptotic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4CAAD-CA8E-4B95-993D-CBB6DC1BCF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Big-Theta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dirty="0"/>
              <a:t>):</a:t>
            </a:r>
          </a:p>
          <a:p>
            <a:r>
              <a:rPr lang="en-US" dirty="0"/>
              <a:t>Tight bound of f(n)</a:t>
            </a:r>
          </a:p>
          <a:p>
            <a:pPr marL="0" indent="0">
              <a:buNone/>
            </a:pPr>
            <a:r>
              <a:rPr lang="en-US" dirty="0"/>
              <a:t>Definition:</a:t>
            </a:r>
          </a:p>
          <a:p>
            <a:pPr marL="0" indent="0">
              <a:buNone/>
            </a:pPr>
            <a:r>
              <a:rPr lang="en-US" dirty="0"/>
              <a:t>f(n) = 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b="0" i="0" dirty="0">
                <a:effectLst/>
                <a:latin typeface="Arial" panose="020B0604020202020204" pitchFamily="34" charset="0"/>
              </a:rPr>
              <a:t>(g(n)) if there exist positive constants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b="1" baseline="-25000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,c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and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such that</a:t>
            </a:r>
          </a:p>
          <a:p>
            <a:pPr marL="0" indent="0" algn="ctr">
              <a:buNone/>
            </a:pPr>
            <a:r>
              <a:rPr lang="en-US" dirty="0"/>
              <a:t>0 ≤ c</a:t>
            </a:r>
            <a:r>
              <a:rPr lang="en-US" b="1" baseline="-25000" dirty="0"/>
              <a:t>1</a:t>
            </a:r>
            <a:r>
              <a:rPr lang="en-US" dirty="0"/>
              <a:t>  g(n) ≤ f(n) ≤ c</a:t>
            </a:r>
            <a:r>
              <a:rPr lang="en-US" b="1" baseline="-25000" dirty="0"/>
              <a:t>2</a:t>
            </a:r>
            <a:r>
              <a:rPr lang="en-US" dirty="0"/>
              <a:t>  g(n) for all </a:t>
            </a:r>
            <a:r>
              <a:rPr lang="en-US" dirty="0">
                <a:solidFill>
                  <a:srgbClr val="FF0000"/>
                </a:solidFill>
              </a:rPr>
              <a:t>n ≥ n</a:t>
            </a:r>
            <a:r>
              <a:rPr lang="en-US" b="1" baseline="-25000" dirty="0">
                <a:solidFill>
                  <a:srgbClr val="FF0000"/>
                </a:solidFill>
              </a:rPr>
              <a:t>0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837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0549-4506-4AB1-A3F6-4DB4D786E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Big-Theta (</a:t>
            </a:r>
            <a:r>
              <a:rPr lang="el-GR" b="0" i="0" dirty="0">
                <a:effectLst/>
                <a:latin typeface="Arial" panose="020B0604020202020204" pitchFamily="34" charset="0"/>
              </a:rPr>
              <a:t>θ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18592-DCA1-47FD-9591-706BB027B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3F912-6D6F-4785-AB4C-C78F0BD7D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263" y="2207739"/>
            <a:ext cx="4427406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90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807D-C362-407E-81CF-3D5C3600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27712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14405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839</Words>
  <Application>Microsoft Office PowerPoint</Application>
  <PresentationFormat>Widescreen</PresentationFormat>
  <Paragraphs>142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Time Complexity and Growth of a Function</vt:lpstr>
      <vt:lpstr>Time Required by Algorithm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Time Complexity</vt:lpstr>
      <vt:lpstr>Growth of a Function</vt:lpstr>
      <vt:lpstr>Asymptotic notation</vt:lpstr>
      <vt:lpstr>Asymptotic Analysis</vt:lpstr>
      <vt:lpstr>Asymptotic Analysis</vt:lpstr>
      <vt:lpstr>Big-Oh (O)</vt:lpstr>
      <vt:lpstr>Asymptotic Analysis</vt:lpstr>
      <vt:lpstr>Big-Omega (Ω)</vt:lpstr>
      <vt:lpstr>Asymptotic Analysis</vt:lpstr>
      <vt:lpstr>Big-Theta (θ)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Complexity and Growth of a Function</dc:title>
  <dc:creator>Mariha</dc:creator>
  <cp:lastModifiedBy>Mariha Asad</cp:lastModifiedBy>
  <cp:revision>92</cp:revision>
  <dcterms:created xsi:type="dcterms:W3CDTF">2020-11-01T08:43:21Z</dcterms:created>
  <dcterms:modified xsi:type="dcterms:W3CDTF">2021-10-12T08:46:13Z</dcterms:modified>
</cp:coreProperties>
</file>