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63C2-C837-40B6-9DB5-40691C419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11725-413F-4CAA-9469-746FCF364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6994F-A0E3-4312-B3EF-61248DE78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E1986-1EF6-467D-AD4A-7EF05C8C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87361-0F4E-490E-813C-E93CE236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0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3481-A4BE-4F92-A6C8-BCFC36FA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0D79-69CC-4632-9067-9D5EAD8FE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7ADDA-EEF5-4A5B-B274-540F4293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AEBD2-26D0-4A3A-825D-A8BEF955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7FFF2-0EFA-4B23-8F01-6CA4DCB5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4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27D6-86BA-4C08-AB4C-77EDB410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9BB5A-9C05-4769-BAE8-79D79F037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CFEB3-312F-46A3-A6C6-9881C8989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52055-9780-4CB1-8697-87965DAB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6F650-00E5-4ACA-BF65-47C8AF2B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2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ABE3-49EB-4D65-BE86-70F7E516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D409-A046-4C12-A100-4F718F8D1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77C21-23AB-4940-81EF-B2BE97FD9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2A3C8-89DB-4B21-886A-B916FD54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4CA00-7928-4C5C-B113-F4D453CC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6B842-5617-483B-99D5-9B0E2350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7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E9C8-6940-45FA-8B4D-EDBDAB09B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8D3B1-5B5F-435C-9281-0EBA2B7CF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4E729-61AF-461B-8A32-3FFC31456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CB7EE-50F1-445B-802D-0B0864092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EE8E1-744D-44B9-8C37-7696AD129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7234D-4E9E-4DC1-80C4-CF1AC4FE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C2D47-11BE-427E-A3DC-3A08DD4B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56121-7E8C-41F5-9C39-D2C57B5EA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1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3A34-4F06-4F97-8606-E386E4F6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604F3-864A-4588-945E-DBC1EB4D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D8580-5423-4AC3-8ED5-04B9A176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DA0DB-A447-48BA-A411-DF6B0CB6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6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A9920-CCA8-4A51-B683-129731938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5BE6C-7628-4DA8-AC27-B6920284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33F66-5FBB-4AA2-8CF1-395F4F5A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76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5A72-82EB-4913-95E8-D8A1497AB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BE950-24B7-4A36-8C8F-40B4472D6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8F2E3-5982-49CA-826B-50DAE0C65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13229-00CC-42B3-AA05-0AECC611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125B5-F039-4A8B-962E-A9526F6F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5A899-E946-4092-941A-E9510A3F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0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20B3-2CA5-41E6-B5D7-1879DF002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241DC-BF66-4F79-BE59-D0D733035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A207B-A7F0-4520-9676-D08C8365E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46D3B-F5C4-40AB-A4AA-3885629D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E7CC6-C0BB-4FD4-B9E0-18F4805D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F1FFA-5CE3-4ACC-8055-A869FEE4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7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83F4-6F2F-414E-8DD3-BAAA3796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8DC85-52E7-4407-93C4-0C2549E8D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F6E1-908D-46CC-8DEE-AEB0DF70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83F80-12B9-430C-B27A-EAD73431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1E018-604B-4CD7-8433-8391B9A8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6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72406-9C89-4B9E-9864-277171622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A743E-E6D5-46B8-9CC0-A5E0CEBC6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F43B4-150B-474E-B257-6F600DAE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E1AEB-1246-4DA5-9E3A-939E59405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A8791-33FB-4AF5-8A32-559F2DEF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4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2B8F0-7548-4986-9890-3D0C9AECA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5C6F7-1043-40F7-B4D4-01E26DF18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960A-B73D-4F50-BF01-110018069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E3BF1-06B0-49FE-B9AB-5135061513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393B6-8DD1-41EF-A328-0C574D4DF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A9A7C-2CF2-4BBD-8693-20FA2DC68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A47DE-0F41-4CA4-843D-03C069BD2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1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ABCBE-99A0-4EF8-940C-182EB0684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Recurrence Relation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Substitution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8D828-6375-4A5E-8C76-6B98272EA0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of Algorithms	</a:t>
            </a:r>
          </a:p>
          <a:p>
            <a:r>
              <a:rPr lang="en-US"/>
              <a:t>Mariha Asad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6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71F9-267B-46C9-9554-F8D78400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Recurrence Relation (Example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30FA-D462-4B7B-B31C-B3760B4D7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void Test(int n)			T(n)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if(n&gt;0)			1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 &lt;&lt; n;		 1</a:t>
            </a:r>
          </a:p>
          <a:p>
            <a:pPr marL="0" indent="0">
              <a:buNone/>
            </a:pPr>
            <a:r>
              <a:rPr lang="en-US" dirty="0"/>
              <a:t>		Test(n-1);			T(n-1)</a:t>
            </a:r>
          </a:p>
          <a:p>
            <a:pPr marL="0" indent="0">
              <a:buNone/>
            </a:pPr>
            <a:r>
              <a:rPr lang="en-US" dirty="0"/>
              <a:t>		Test(n-1);			T(n-1)</a:t>
            </a:r>
          </a:p>
          <a:p>
            <a:pPr marL="0" indent="0">
              <a:buNone/>
            </a:pPr>
            <a:r>
              <a:rPr lang="en-US" dirty="0"/>
              <a:t>	}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9D1C29-E81F-4FE6-A111-BDCD8EDDB860}"/>
              </a:ext>
            </a:extLst>
          </p:cNvPr>
          <p:cNvCxnSpPr>
            <a:cxnSpLocks/>
          </p:cNvCxnSpPr>
          <p:nvPr/>
        </p:nvCxnSpPr>
        <p:spPr>
          <a:xfrm>
            <a:off x="4164037" y="2053883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2A3935-5802-4329-8394-202197F9E46B}"/>
              </a:ext>
            </a:extLst>
          </p:cNvPr>
          <p:cNvCxnSpPr>
            <a:cxnSpLocks/>
          </p:cNvCxnSpPr>
          <p:nvPr/>
        </p:nvCxnSpPr>
        <p:spPr>
          <a:xfrm>
            <a:off x="4164037" y="2923735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711493-AEF6-4810-94BE-008395042D89}"/>
              </a:ext>
            </a:extLst>
          </p:cNvPr>
          <p:cNvCxnSpPr>
            <a:cxnSpLocks/>
          </p:cNvCxnSpPr>
          <p:nvPr/>
        </p:nvCxnSpPr>
        <p:spPr>
          <a:xfrm>
            <a:off x="4316437" y="3906129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B53F17-DF00-47F5-816A-1165A620FBDD}"/>
              </a:ext>
            </a:extLst>
          </p:cNvPr>
          <p:cNvCxnSpPr>
            <a:cxnSpLocks/>
          </p:cNvCxnSpPr>
          <p:nvPr/>
        </p:nvCxnSpPr>
        <p:spPr>
          <a:xfrm>
            <a:off x="4468837" y="4410222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D7D731-4A06-4259-A021-3DA0AA129CA1}"/>
              </a:ext>
            </a:extLst>
          </p:cNvPr>
          <p:cNvCxnSpPr>
            <a:cxnSpLocks/>
          </p:cNvCxnSpPr>
          <p:nvPr/>
        </p:nvCxnSpPr>
        <p:spPr>
          <a:xfrm>
            <a:off x="4492283" y="4900246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34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CB62-F044-4F4A-93AA-CDD147D9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Solving Recurrence Relation (Example 1)</a:t>
            </a:r>
            <a:br>
              <a:rPr lang="en-US" dirty="0"/>
            </a:br>
            <a:r>
              <a:rPr lang="en-US" dirty="0"/>
              <a:t>Using 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75EF7-1C91-46F6-AB48-C6C45CFF2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312"/>
            <a:ext cx="10515600" cy="51347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T(n) = 2T(n-1) + 1  when n&gt;0	</a:t>
            </a:r>
            <a:r>
              <a:rPr lang="en-US" b="1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b="1" dirty="0"/>
              <a:t>T(0) = 1 	when n =0 (for base case)</a:t>
            </a:r>
          </a:p>
          <a:p>
            <a:pPr marL="0" indent="0">
              <a:buNone/>
            </a:pPr>
            <a:r>
              <a:rPr lang="en-US" dirty="0"/>
              <a:t>Substituting T(n-1) in </a:t>
            </a:r>
            <a:r>
              <a:rPr lang="en-US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dirty="0"/>
              <a:t>T(n) = 2 [2T(n-2) + 1] + 1</a:t>
            </a:r>
          </a:p>
          <a:p>
            <a:pPr marL="0" indent="0">
              <a:buNone/>
            </a:pPr>
            <a:r>
              <a:rPr lang="en-US" dirty="0"/>
              <a:t>T(n) = 2</a:t>
            </a:r>
            <a:r>
              <a:rPr lang="en-US" b="1" baseline="30000" dirty="0"/>
              <a:t>2</a:t>
            </a:r>
            <a:r>
              <a:rPr lang="en-US" dirty="0"/>
              <a:t> T(n-2) + 2 + 1	</a:t>
            </a:r>
            <a:r>
              <a:rPr lang="en-US" dirty="0">
                <a:solidFill>
                  <a:srgbClr val="FF0000"/>
                </a:solidFill>
              </a:rPr>
              <a:t> eq 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Substituting T(n-2) in </a:t>
            </a:r>
            <a:r>
              <a:rPr lang="en-US" dirty="0">
                <a:solidFill>
                  <a:srgbClr val="FF0000"/>
                </a:solidFill>
              </a:rPr>
              <a:t>eq 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T(n) = 2</a:t>
            </a:r>
            <a:r>
              <a:rPr lang="en-US" b="1" baseline="30000" dirty="0"/>
              <a:t>2</a:t>
            </a:r>
            <a:r>
              <a:rPr lang="en-US" dirty="0"/>
              <a:t>[2 T(n-3) + 1] + 2 + 1</a:t>
            </a:r>
          </a:p>
          <a:p>
            <a:pPr marL="0" indent="0">
              <a:buNone/>
            </a:pPr>
            <a:r>
              <a:rPr lang="en-US" dirty="0"/>
              <a:t>T(n) = 2</a:t>
            </a:r>
            <a:r>
              <a:rPr lang="en-US" b="1" baseline="30000" dirty="0"/>
              <a:t>3 </a:t>
            </a:r>
            <a:r>
              <a:rPr lang="en-US" dirty="0"/>
              <a:t>T(n-3) + 2</a:t>
            </a:r>
            <a:r>
              <a:rPr lang="en-US" b="1" baseline="30000" dirty="0"/>
              <a:t>2</a:t>
            </a:r>
            <a:r>
              <a:rPr lang="en-US" dirty="0"/>
              <a:t> + 2 + 1 </a:t>
            </a:r>
            <a:r>
              <a:rPr lang="en-US" dirty="0">
                <a:solidFill>
                  <a:srgbClr val="FF0000"/>
                </a:solidFill>
              </a:rPr>
              <a:t>eq 3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Continues for k times it will become</a:t>
            </a:r>
          </a:p>
          <a:p>
            <a:pPr marL="0" indent="0">
              <a:buNone/>
            </a:pPr>
            <a:r>
              <a:rPr lang="en-US" dirty="0"/>
              <a:t>T(n)  = 2</a:t>
            </a:r>
            <a:r>
              <a:rPr lang="en-US" b="1" baseline="30000" dirty="0"/>
              <a:t>k </a:t>
            </a:r>
            <a:r>
              <a:rPr lang="en-US" dirty="0"/>
              <a:t>T(n-k) + 2</a:t>
            </a:r>
            <a:r>
              <a:rPr lang="en-US" b="1" baseline="30000" dirty="0"/>
              <a:t>k-1  </a:t>
            </a:r>
            <a:r>
              <a:rPr lang="en-US" b="1" dirty="0"/>
              <a:t>+ …</a:t>
            </a:r>
            <a:r>
              <a:rPr lang="en-US" b="1" baseline="30000" dirty="0"/>
              <a:t> </a:t>
            </a:r>
            <a:r>
              <a:rPr lang="en-US" b="1" dirty="0"/>
              <a:t>+</a:t>
            </a:r>
            <a:r>
              <a:rPr lang="en-US" b="1" baseline="30000" dirty="0"/>
              <a:t> </a:t>
            </a:r>
            <a:r>
              <a:rPr lang="en-US" dirty="0"/>
              <a:t>2</a:t>
            </a:r>
            <a:r>
              <a:rPr lang="en-US" b="1" baseline="30000" dirty="0"/>
              <a:t>2</a:t>
            </a:r>
            <a:r>
              <a:rPr lang="en-US" dirty="0"/>
              <a:t> + 2 + 1</a:t>
            </a:r>
          </a:p>
          <a:p>
            <a:pPr marL="0" indent="0">
              <a:buNone/>
            </a:pPr>
            <a:r>
              <a:rPr lang="en-US" dirty="0"/>
              <a:t>Assume n-k = 0 :. n=k</a:t>
            </a:r>
          </a:p>
          <a:p>
            <a:pPr marL="0" indent="0">
              <a:buNone/>
            </a:pPr>
            <a:r>
              <a:rPr lang="en-US" dirty="0"/>
              <a:t>T(n) = 2</a:t>
            </a:r>
            <a:r>
              <a:rPr lang="en-US" b="1" baseline="30000" dirty="0"/>
              <a:t>n </a:t>
            </a:r>
            <a:r>
              <a:rPr lang="en-US" dirty="0"/>
              <a:t>T(n-n) + 2</a:t>
            </a:r>
            <a:r>
              <a:rPr lang="en-US" b="1" baseline="30000" dirty="0"/>
              <a:t>n-1  </a:t>
            </a:r>
            <a:r>
              <a:rPr lang="en-US" b="1" dirty="0"/>
              <a:t>+ </a:t>
            </a:r>
            <a:r>
              <a:rPr lang="en-US" dirty="0"/>
              <a:t>2</a:t>
            </a:r>
            <a:r>
              <a:rPr lang="en-US" b="1" baseline="30000" dirty="0"/>
              <a:t>n-2</a:t>
            </a:r>
            <a:r>
              <a:rPr lang="en-US" b="1" dirty="0"/>
              <a:t> …</a:t>
            </a:r>
            <a:r>
              <a:rPr lang="en-US" b="1" baseline="30000" dirty="0"/>
              <a:t> </a:t>
            </a:r>
            <a:r>
              <a:rPr lang="en-US" b="1" dirty="0"/>
              <a:t>+</a:t>
            </a:r>
            <a:r>
              <a:rPr lang="en-US" b="1" baseline="30000" dirty="0"/>
              <a:t> </a:t>
            </a:r>
            <a:r>
              <a:rPr lang="en-US" dirty="0"/>
              <a:t>2</a:t>
            </a:r>
            <a:r>
              <a:rPr lang="en-US" b="1" baseline="30000" dirty="0"/>
              <a:t>2</a:t>
            </a:r>
            <a:r>
              <a:rPr lang="en-US" dirty="0"/>
              <a:t> + 2 + 1</a:t>
            </a:r>
          </a:p>
          <a:p>
            <a:pPr marL="0" indent="0">
              <a:buNone/>
            </a:pPr>
            <a:r>
              <a:rPr lang="en-US" dirty="0"/>
              <a:t>T(n) = 2</a:t>
            </a:r>
            <a:r>
              <a:rPr lang="en-US" b="1" baseline="30000" dirty="0"/>
              <a:t>n </a:t>
            </a:r>
            <a:r>
              <a:rPr lang="en-US" dirty="0"/>
              <a:t>T(0) + 2</a:t>
            </a:r>
            <a:r>
              <a:rPr lang="en-US" b="1" baseline="30000" dirty="0"/>
              <a:t>n-1  </a:t>
            </a:r>
            <a:r>
              <a:rPr lang="en-US" b="1" dirty="0"/>
              <a:t>+ </a:t>
            </a:r>
            <a:r>
              <a:rPr lang="en-US" dirty="0"/>
              <a:t>2</a:t>
            </a:r>
            <a:r>
              <a:rPr lang="en-US" b="1" baseline="30000" dirty="0"/>
              <a:t>n-2</a:t>
            </a:r>
            <a:r>
              <a:rPr lang="en-US" b="1" dirty="0"/>
              <a:t> …</a:t>
            </a:r>
            <a:r>
              <a:rPr lang="en-US" b="1" baseline="30000" dirty="0"/>
              <a:t> </a:t>
            </a:r>
            <a:r>
              <a:rPr lang="en-US" b="1" dirty="0"/>
              <a:t>+</a:t>
            </a:r>
            <a:r>
              <a:rPr lang="en-US" b="1" baseline="30000" dirty="0"/>
              <a:t> </a:t>
            </a:r>
            <a:r>
              <a:rPr lang="en-US" dirty="0"/>
              <a:t>2</a:t>
            </a:r>
            <a:r>
              <a:rPr lang="en-US" b="1" baseline="30000" dirty="0"/>
              <a:t>2</a:t>
            </a:r>
            <a:r>
              <a:rPr lang="en-US" dirty="0"/>
              <a:t> + 2</a:t>
            </a:r>
            <a:r>
              <a:rPr lang="en-US" b="1" baseline="30000" dirty="0"/>
              <a:t>1</a:t>
            </a:r>
            <a:r>
              <a:rPr lang="en-US" dirty="0"/>
              <a:t> + 2</a:t>
            </a:r>
            <a:r>
              <a:rPr lang="en-US" b="1" baseline="30000" dirty="0"/>
              <a:t>0</a:t>
            </a:r>
          </a:p>
          <a:p>
            <a:pPr marL="0" indent="0">
              <a:buNone/>
            </a:pPr>
            <a:r>
              <a:rPr lang="en-US" b="1" dirty="0"/>
              <a:t>T(n) = 2</a:t>
            </a:r>
            <a:r>
              <a:rPr lang="en-US" b="1" baseline="30000" dirty="0"/>
              <a:t>n </a:t>
            </a:r>
            <a:r>
              <a:rPr lang="en-US" b="1" dirty="0"/>
              <a:t> X 1 + 2</a:t>
            </a:r>
            <a:r>
              <a:rPr lang="en-US" b="1" baseline="30000" dirty="0"/>
              <a:t>n </a:t>
            </a:r>
            <a:r>
              <a:rPr lang="en-US" b="1" dirty="0"/>
              <a:t> - 1</a:t>
            </a:r>
          </a:p>
          <a:p>
            <a:pPr marL="0" indent="0">
              <a:buNone/>
            </a:pPr>
            <a:r>
              <a:rPr lang="en-US" b="1" dirty="0"/>
              <a:t>T(n) = 2</a:t>
            </a:r>
            <a:r>
              <a:rPr lang="en-US" b="1" baseline="30000" dirty="0"/>
              <a:t>n  </a:t>
            </a:r>
            <a:r>
              <a:rPr lang="en-US" b="1" dirty="0"/>
              <a:t>+  2</a:t>
            </a:r>
            <a:r>
              <a:rPr lang="en-US" b="1" baseline="30000" dirty="0"/>
              <a:t>n </a:t>
            </a:r>
            <a:r>
              <a:rPr lang="en-US" b="1" dirty="0"/>
              <a:t> - 1  = (2 X 2</a:t>
            </a:r>
            <a:r>
              <a:rPr lang="en-US" b="1" baseline="30000" dirty="0"/>
              <a:t>n  </a:t>
            </a:r>
            <a:r>
              <a:rPr lang="en-US" b="1" dirty="0"/>
              <a:t>-1) It becomes T(n) = 2</a:t>
            </a:r>
            <a:r>
              <a:rPr lang="en-US" b="1" baseline="30000" dirty="0"/>
              <a:t>n+1 </a:t>
            </a:r>
            <a:r>
              <a:rPr lang="en-US" b="1" dirty="0"/>
              <a:t>– 1  so it is </a:t>
            </a:r>
            <a:r>
              <a:rPr lang="en-US" sz="3800" b="1" dirty="0">
                <a:solidFill>
                  <a:srgbClr val="FF0000"/>
                </a:solidFill>
              </a:rPr>
              <a:t>O(2</a:t>
            </a:r>
            <a:r>
              <a:rPr lang="en-US" sz="3800" b="1" baseline="30000" dirty="0">
                <a:solidFill>
                  <a:srgbClr val="FF0000"/>
                </a:solidFill>
              </a:rPr>
              <a:t>n</a:t>
            </a:r>
            <a:r>
              <a:rPr lang="en-US" sz="3800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EBE32F-6B2E-41AC-9C82-D24554560A91}"/>
              </a:ext>
            </a:extLst>
          </p:cNvPr>
          <p:cNvSpPr/>
          <p:nvPr/>
        </p:nvSpPr>
        <p:spPr>
          <a:xfrm>
            <a:off x="5849815" y="1690687"/>
            <a:ext cx="4302370" cy="24358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T(n) = 2T(n-1) + 1</a:t>
            </a:r>
          </a:p>
          <a:p>
            <a:pPr algn="ctr"/>
            <a:r>
              <a:rPr lang="en-US" b="1" dirty="0"/>
              <a:t>T(n-1) = 2 T(n-1-1) + 1</a:t>
            </a:r>
          </a:p>
          <a:p>
            <a:pPr algn="ctr"/>
            <a:r>
              <a:rPr lang="en-US" b="1" dirty="0"/>
              <a:t>T(n-1) = 2T(n-2) + 1</a:t>
            </a:r>
          </a:p>
          <a:p>
            <a:pPr algn="ctr"/>
            <a:r>
              <a:rPr lang="en-US" b="1" dirty="0"/>
              <a:t>T(n-2) = 2 T(n-2 -1) + 1</a:t>
            </a:r>
          </a:p>
          <a:p>
            <a:pPr algn="ctr"/>
            <a:r>
              <a:rPr lang="en-US" b="1" dirty="0"/>
              <a:t>T(n-2) = 2 T(n-3) + 1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17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933C-7F87-46C3-A313-7EC116F2F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Recurrence Relation (Example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EAC6A-4A31-419C-99A3-A92352C01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Void Test(int n)			T(n)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if(n&gt;1)			1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 &lt;&lt; n;		 1</a:t>
            </a:r>
          </a:p>
          <a:p>
            <a:pPr marL="0" indent="0">
              <a:buNone/>
            </a:pPr>
            <a:r>
              <a:rPr lang="en-US" dirty="0"/>
              <a:t>		Test(n/2);		 T(n/2)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B7695D-DC86-4D7F-8A75-FAECCC078009}"/>
              </a:ext>
            </a:extLst>
          </p:cNvPr>
          <p:cNvCxnSpPr>
            <a:cxnSpLocks/>
          </p:cNvCxnSpPr>
          <p:nvPr/>
        </p:nvCxnSpPr>
        <p:spPr>
          <a:xfrm>
            <a:off x="4065183" y="2115667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5A4637-688D-4CF1-A729-204EB851FC5E}"/>
              </a:ext>
            </a:extLst>
          </p:cNvPr>
          <p:cNvCxnSpPr>
            <a:cxnSpLocks/>
          </p:cNvCxnSpPr>
          <p:nvPr/>
        </p:nvCxnSpPr>
        <p:spPr>
          <a:xfrm>
            <a:off x="4164037" y="3058899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B01E5E-EA61-42FF-B426-F26087FD71CD}"/>
              </a:ext>
            </a:extLst>
          </p:cNvPr>
          <p:cNvCxnSpPr>
            <a:cxnSpLocks/>
          </p:cNvCxnSpPr>
          <p:nvPr/>
        </p:nvCxnSpPr>
        <p:spPr>
          <a:xfrm>
            <a:off x="4316437" y="4125699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805612-1FB9-4960-A3E7-EA99C3D0E317}"/>
              </a:ext>
            </a:extLst>
          </p:cNvPr>
          <p:cNvCxnSpPr>
            <a:cxnSpLocks/>
          </p:cNvCxnSpPr>
          <p:nvPr/>
        </p:nvCxnSpPr>
        <p:spPr>
          <a:xfrm>
            <a:off x="4316437" y="4648802"/>
            <a:ext cx="1237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746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1FBF-86AB-434B-895E-7C14FEA7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Solving Recurrence Relation (Example 2)</a:t>
            </a:r>
            <a:br>
              <a:rPr lang="en-US" dirty="0"/>
            </a:br>
            <a:r>
              <a:rPr lang="en-US" dirty="0"/>
              <a:t>Using 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646B7-ED6B-472E-9F99-9CADF574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T(n) = T(n/2) + 1 </a:t>
            </a:r>
            <a:r>
              <a:rPr lang="en-US" dirty="0"/>
              <a:t>when n&gt;1 </a:t>
            </a:r>
            <a:r>
              <a:rPr lang="en-US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b="1" dirty="0"/>
              <a:t>T(1) = 1</a:t>
            </a:r>
            <a:r>
              <a:rPr lang="en-US" dirty="0"/>
              <a:t>	when n=1 (for base case)</a:t>
            </a:r>
          </a:p>
          <a:p>
            <a:pPr marL="0" indent="0">
              <a:buNone/>
            </a:pPr>
            <a:r>
              <a:rPr lang="en-US" dirty="0"/>
              <a:t>Substituting T(n/2) in </a:t>
            </a:r>
            <a:r>
              <a:rPr lang="en-US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dirty="0"/>
              <a:t>T(n) = [ T(n/</a:t>
            </a:r>
            <a:r>
              <a:rPr lang="en-US" b="1" dirty="0"/>
              <a:t>2</a:t>
            </a:r>
            <a:r>
              <a:rPr lang="en-US" b="1" baseline="30000" dirty="0"/>
              <a:t>2</a:t>
            </a:r>
            <a:r>
              <a:rPr lang="en-US" dirty="0"/>
              <a:t>) + 1] + 1</a:t>
            </a:r>
          </a:p>
          <a:p>
            <a:pPr marL="0" indent="0">
              <a:buNone/>
            </a:pPr>
            <a:r>
              <a:rPr lang="en-US" dirty="0"/>
              <a:t>T(n) = T(n/</a:t>
            </a:r>
            <a:r>
              <a:rPr lang="en-US" b="1" dirty="0"/>
              <a:t> 2</a:t>
            </a:r>
            <a:r>
              <a:rPr lang="en-US" b="1" baseline="30000" dirty="0"/>
              <a:t>2</a:t>
            </a:r>
            <a:r>
              <a:rPr lang="en-US" dirty="0"/>
              <a:t>) + 2  </a:t>
            </a:r>
            <a:r>
              <a:rPr lang="en-US" dirty="0">
                <a:solidFill>
                  <a:srgbClr val="FF0000"/>
                </a:solidFill>
              </a:rPr>
              <a:t>eq 2</a:t>
            </a:r>
          </a:p>
          <a:p>
            <a:pPr marL="0" indent="0">
              <a:buNone/>
            </a:pPr>
            <a:r>
              <a:rPr lang="en-US" dirty="0"/>
              <a:t>Substituting T(n/</a:t>
            </a:r>
            <a:r>
              <a:rPr lang="en-US" b="1" dirty="0"/>
              <a:t> 2</a:t>
            </a:r>
            <a:r>
              <a:rPr lang="en-US" b="1" baseline="30000" dirty="0"/>
              <a:t>2</a:t>
            </a:r>
            <a:r>
              <a:rPr lang="en-US" dirty="0"/>
              <a:t>) in </a:t>
            </a:r>
            <a:r>
              <a:rPr lang="en-US" dirty="0">
                <a:solidFill>
                  <a:srgbClr val="FF0000"/>
                </a:solidFill>
              </a:rPr>
              <a:t>eq 2</a:t>
            </a:r>
          </a:p>
          <a:p>
            <a:pPr marL="0" indent="0">
              <a:buNone/>
            </a:pPr>
            <a:r>
              <a:rPr lang="en-US" dirty="0"/>
              <a:t>T(n) =  T(n/</a:t>
            </a:r>
            <a:r>
              <a:rPr lang="en-US" b="1" dirty="0"/>
              <a:t> 2</a:t>
            </a:r>
            <a:r>
              <a:rPr lang="en-US" b="1" baseline="30000" dirty="0"/>
              <a:t>3</a:t>
            </a:r>
            <a:r>
              <a:rPr lang="en-US" dirty="0"/>
              <a:t>) + 3  </a:t>
            </a:r>
            <a:r>
              <a:rPr lang="en-US" dirty="0">
                <a:solidFill>
                  <a:srgbClr val="FF0000"/>
                </a:solidFill>
              </a:rPr>
              <a:t>eq 3</a:t>
            </a:r>
          </a:p>
          <a:p>
            <a:pPr marL="0" indent="0">
              <a:buNone/>
            </a:pPr>
            <a:r>
              <a:rPr lang="en-US" dirty="0"/>
              <a:t>T(n) = T(n/</a:t>
            </a:r>
            <a:r>
              <a:rPr lang="en-US" b="1" dirty="0"/>
              <a:t> 2</a:t>
            </a:r>
            <a:r>
              <a:rPr lang="en-US" b="1" baseline="30000" dirty="0"/>
              <a:t>k</a:t>
            </a:r>
            <a:r>
              <a:rPr lang="en-US" dirty="0"/>
              <a:t>) + k  </a:t>
            </a:r>
            <a:r>
              <a:rPr lang="en-US" dirty="0">
                <a:solidFill>
                  <a:srgbClr val="FF0000"/>
                </a:solidFill>
              </a:rPr>
              <a:t>eq 4</a:t>
            </a:r>
          </a:p>
          <a:p>
            <a:pPr marL="0" indent="0">
              <a:buNone/>
            </a:pPr>
            <a:r>
              <a:rPr lang="en-US" dirty="0"/>
              <a:t>Assume n/</a:t>
            </a:r>
            <a:r>
              <a:rPr lang="en-US" b="1" dirty="0"/>
              <a:t> 2</a:t>
            </a:r>
            <a:r>
              <a:rPr lang="en-US" b="1" baseline="30000" dirty="0"/>
              <a:t>k </a:t>
            </a:r>
            <a:r>
              <a:rPr lang="en-US" b="1" dirty="0"/>
              <a:t> = 1 </a:t>
            </a:r>
            <a:r>
              <a:rPr lang="en-US" b="1" dirty="0">
                <a:sym typeface="Wingdings" panose="05000000000000000000" pitchFamily="2" charset="2"/>
              </a:rPr>
              <a:t> n= </a:t>
            </a:r>
            <a:r>
              <a:rPr lang="en-US" b="1" dirty="0"/>
              <a:t>2</a:t>
            </a:r>
            <a:r>
              <a:rPr lang="en-US" b="1" baseline="30000" dirty="0"/>
              <a:t>k </a:t>
            </a:r>
            <a:r>
              <a:rPr lang="en-US" b="1" dirty="0"/>
              <a:t> </a:t>
            </a:r>
            <a:r>
              <a:rPr lang="en-US" b="1" dirty="0">
                <a:sym typeface="Wingdings" panose="05000000000000000000" pitchFamily="2" charset="2"/>
              </a:rPr>
              <a:t> k = </a:t>
            </a:r>
            <a:r>
              <a:rPr lang="en-US" b="1" dirty="0" err="1">
                <a:sym typeface="Wingdings" panose="05000000000000000000" pitchFamily="2" charset="2"/>
              </a:rPr>
              <a:t>logn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T(n) =  T(1) + </a:t>
            </a:r>
            <a:r>
              <a:rPr lang="en-US" dirty="0" err="1">
                <a:sym typeface="Wingdings" panose="05000000000000000000" pitchFamily="2" charset="2"/>
              </a:rPr>
              <a:t>logn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T(n) = 1 + </a:t>
            </a:r>
            <a:r>
              <a:rPr lang="en-US" dirty="0" err="1">
                <a:sym typeface="Wingdings" panose="05000000000000000000" pitchFamily="2" charset="2"/>
              </a:rPr>
              <a:t>logn</a:t>
            </a:r>
            <a:r>
              <a:rPr lang="en-US" dirty="0">
                <a:sym typeface="Wingdings" panose="05000000000000000000" pitchFamily="2" charset="2"/>
              </a:rPr>
              <a:t>  so it is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O(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logn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303D7A-69BB-4DBB-93F4-82049CB9FCCD}"/>
              </a:ext>
            </a:extLst>
          </p:cNvPr>
          <p:cNvSpPr/>
          <p:nvPr/>
        </p:nvSpPr>
        <p:spPr>
          <a:xfrm>
            <a:off x="6283569" y="2286000"/>
            <a:ext cx="4267200" cy="236806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T(n) = T(n/2) + 1</a:t>
            </a:r>
          </a:p>
          <a:p>
            <a:pPr algn="ctr"/>
            <a:r>
              <a:rPr lang="en-US" b="1" dirty="0"/>
              <a:t>T(</a:t>
            </a:r>
            <a:r>
              <a:rPr lang="en-US" dirty="0"/>
              <a:t>n/</a:t>
            </a:r>
            <a:r>
              <a:rPr lang="en-US" b="1" dirty="0"/>
              <a:t>2</a:t>
            </a:r>
            <a:r>
              <a:rPr lang="en-US" b="1" baseline="30000" dirty="0"/>
              <a:t>2</a:t>
            </a:r>
            <a:r>
              <a:rPr lang="en-US" b="1" dirty="0"/>
              <a:t>) = T(</a:t>
            </a:r>
            <a:r>
              <a:rPr lang="en-US" dirty="0"/>
              <a:t>n/</a:t>
            </a:r>
            <a:r>
              <a:rPr lang="en-US" b="1" dirty="0"/>
              <a:t>2</a:t>
            </a:r>
            <a:r>
              <a:rPr lang="en-US" b="1" baseline="30000" dirty="0"/>
              <a:t>2 </a:t>
            </a:r>
            <a:r>
              <a:rPr lang="en-US" b="1" dirty="0"/>
              <a:t>/2) + 1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94582-7087-43E4-80C8-36AA66ED1CD2}"/>
              </a:ext>
            </a:extLst>
          </p:cNvPr>
          <p:cNvSpPr/>
          <p:nvPr/>
        </p:nvSpPr>
        <p:spPr>
          <a:xfrm>
            <a:off x="6764215" y="4788999"/>
            <a:ext cx="2520462" cy="13187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ym typeface="Wingdings" panose="05000000000000000000" pitchFamily="2" charset="2"/>
              </a:rPr>
              <a:t>n= </a:t>
            </a:r>
            <a:r>
              <a:rPr lang="en-US" b="1" dirty="0"/>
              <a:t>2</a:t>
            </a:r>
            <a:r>
              <a:rPr lang="en-US" b="1" baseline="30000" dirty="0"/>
              <a:t>k</a:t>
            </a:r>
          </a:p>
          <a:p>
            <a:pPr algn="ctr"/>
            <a:r>
              <a:rPr lang="en-US" dirty="0"/>
              <a:t>Log n = log </a:t>
            </a:r>
            <a:r>
              <a:rPr lang="en-US" b="1" dirty="0"/>
              <a:t>2</a:t>
            </a:r>
            <a:r>
              <a:rPr lang="en-US" b="1" baseline="30000" dirty="0"/>
              <a:t>k</a:t>
            </a:r>
          </a:p>
          <a:p>
            <a:pPr algn="ctr"/>
            <a:endParaRPr lang="en-US" b="1" baseline="30000" dirty="0"/>
          </a:p>
          <a:p>
            <a:pPr algn="ctr"/>
            <a:r>
              <a:rPr lang="en-US" b="1" baseline="30000" dirty="0" err="1"/>
              <a:t>Logn</a:t>
            </a:r>
            <a:r>
              <a:rPr lang="en-US" b="1" baseline="30000" dirty="0"/>
              <a:t> = k log 2</a:t>
            </a:r>
          </a:p>
          <a:p>
            <a:pPr algn="ctr"/>
            <a:r>
              <a:rPr lang="en-US" b="1" baseline="30000" dirty="0"/>
              <a:t>K = log n</a:t>
            </a:r>
          </a:p>
        </p:txBody>
      </p:sp>
    </p:spTree>
    <p:extLst>
      <p:ext uri="{BB962C8B-B14F-4D97-AF65-F5344CB8AC3E}">
        <p14:creationId xmlns:p14="http://schemas.microsoft.com/office/powerpoint/2010/main" val="84689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432F-CF7E-47A1-B113-7DE881FD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Solving Recurrence Relation (Example 3)</a:t>
            </a:r>
            <a:br>
              <a:rPr lang="en-US" dirty="0"/>
            </a:br>
            <a:r>
              <a:rPr lang="en-US" dirty="0"/>
              <a:t>Using 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F3672-6B19-4F42-A6C0-63CB09702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101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T(n) = T(n/2) + n	</a:t>
            </a:r>
            <a:r>
              <a:rPr lang="en-US" b="1" dirty="0">
                <a:solidFill>
                  <a:srgbClr val="FF0000"/>
                </a:solidFill>
              </a:rPr>
              <a:t>eq 1</a:t>
            </a:r>
          </a:p>
          <a:p>
            <a:pPr marL="0" indent="0">
              <a:buNone/>
            </a:pPr>
            <a:r>
              <a:rPr lang="en-US" b="1" dirty="0"/>
              <a:t>T(1) = 1</a:t>
            </a:r>
          </a:p>
          <a:p>
            <a:pPr marL="0" indent="0">
              <a:buNone/>
            </a:pPr>
            <a:r>
              <a:rPr lang="en-US" dirty="0"/>
              <a:t>T(n) = [T(n/ 2</a:t>
            </a:r>
            <a:r>
              <a:rPr lang="en-US" b="1" baseline="30000" dirty="0"/>
              <a:t>2</a:t>
            </a:r>
            <a:r>
              <a:rPr lang="en-US" dirty="0"/>
              <a:t>) + n/2 ] + n</a:t>
            </a:r>
          </a:p>
          <a:p>
            <a:pPr marL="0" indent="0">
              <a:buNone/>
            </a:pPr>
            <a:r>
              <a:rPr lang="en-US" dirty="0"/>
              <a:t>T(n) = T(n/2</a:t>
            </a:r>
            <a:r>
              <a:rPr lang="en-US" b="1" baseline="30000" dirty="0"/>
              <a:t>2</a:t>
            </a:r>
            <a:r>
              <a:rPr lang="en-US" dirty="0"/>
              <a:t>) + n/2 + n </a:t>
            </a:r>
            <a:r>
              <a:rPr lang="en-US" dirty="0">
                <a:solidFill>
                  <a:srgbClr val="FF0000"/>
                </a:solidFill>
              </a:rPr>
              <a:t>eq 2</a:t>
            </a:r>
          </a:p>
          <a:p>
            <a:pPr marL="0" indent="0">
              <a:buNone/>
            </a:pPr>
            <a:r>
              <a:rPr lang="en-US" dirty="0"/>
              <a:t>T(n) = [T(n/ 2</a:t>
            </a:r>
            <a:r>
              <a:rPr lang="en-US" b="1" baseline="30000" dirty="0"/>
              <a:t>3</a:t>
            </a:r>
            <a:r>
              <a:rPr lang="en-US" dirty="0"/>
              <a:t>) + n/ 2</a:t>
            </a:r>
            <a:r>
              <a:rPr lang="en-US" b="1" baseline="30000" dirty="0"/>
              <a:t>2</a:t>
            </a:r>
            <a:r>
              <a:rPr lang="en-US" dirty="0"/>
              <a:t>] + n/2 + n</a:t>
            </a:r>
          </a:p>
          <a:p>
            <a:pPr marL="0" indent="0">
              <a:buNone/>
            </a:pPr>
            <a:r>
              <a:rPr lang="en-US" dirty="0"/>
              <a:t>T(n) = T(n/ 2</a:t>
            </a:r>
            <a:r>
              <a:rPr lang="en-US" b="1" baseline="30000" dirty="0"/>
              <a:t>3</a:t>
            </a:r>
            <a:r>
              <a:rPr lang="en-US" dirty="0"/>
              <a:t>) + n/ 2</a:t>
            </a:r>
            <a:r>
              <a:rPr lang="en-US" b="1" baseline="30000" dirty="0"/>
              <a:t>2</a:t>
            </a:r>
            <a:r>
              <a:rPr lang="en-US" dirty="0"/>
              <a:t> + n/2 + n </a:t>
            </a:r>
            <a:r>
              <a:rPr lang="en-US" dirty="0">
                <a:solidFill>
                  <a:srgbClr val="FF0000"/>
                </a:solidFill>
              </a:rPr>
              <a:t>eq 3</a:t>
            </a:r>
          </a:p>
          <a:p>
            <a:pPr marL="0" indent="0">
              <a:buNone/>
            </a:pPr>
            <a:r>
              <a:rPr lang="en-US" dirty="0"/>
              <a:t>T(n) = T(n/ 2</a:t>
            </a:r>
            <a:r>
              <a:rPr lang="en-US" b="1" baseline="30000" dirty="0"/>
              <a:t>k</a:t>
            </a:r>
            <a:r>
              <a:rPr lang="en-US" dirty="0"/>
              <a:t>) + n/ 2</a:t>
            </a:r>
            <a:r>
              <a:rPr lang="en-US" b="1" baseline="30000" dirty="0"/>
              <a:t>k-1  </a:t>
            </a:r>
            <a:r>
              <a:rPr lang="en-US" b="1" dirty="0"/>
              <a:t>+ </a:t>
            </a:r>
            <a:r>
              <a:rPr lang="en-US" dirty="0"/>
              <a:t>n/ 2</a:t>
            </a:r>
            <a:r>
              <a:rPr lang="en-US" b="1" baseline="30000" dirty="0"/>
              <a:t>k-2</a:t>
            </a:r>
            <a:r>
              <a:rPr lang="en-US" dirty="0"/>
              <a:t> +  n/ 2</a:t>
            </a:r>
            <a:r>
              <a:rPr lang="en-US" b="1" baseline="30000" dirty="0"/>
              <a:t>2</a:t>
            </a:r>
            <a:r>
              <a:rPr lang="en-US" dirty="0"/>
              <a:t> + n/2 + n </a:t>
            </a:r>
            <a:r>
              <a:rPr lang="en-US" dirty="0">
                <a:solidFill>
                  <a:srgbClr val="FF0000"/>
                </a:solidFill>
              </a:rPr>
              <a:t>eq 4</a:t>
            </a:r>
          </a:p>
          <a:p>
            <a:pPr marL="0" indent="0">
              <a:buNone/>
            </a:pPr>
            <a:r>
              <a:rPr lang="en-US" dirty="0"/>
              <a:t>Assume n/ 2</a:t>
            </a:r>
            <a:r>
              <a:rPr lang="en-US" b="1" baseline="30000" dirty="0"/>
              <a:t>k </a:t>
            </a:r>
            <a:r>
              <a:rPr lang="en-US" b="1" dirty="0"/>
              <a:t> = 1 </a:t>
            </a:r>
            <a:r>
              <a:rPr lang="en-US" b="1" dirty="0">
                <a:sym typeface="Wingdings" panose="05000000000000000000" pitchFamily="2" charset="2"/>
              </a:rPr>
              <a:t> n = </a:t>
            </a:r>
            <a:r>
              <a:rPr lang="en-US" dirty="0"/>
              <a:t>2</a:t>
            </a:r>
            <a:r>
              <a:rPr lang="en-US" b="1" baseline="30000" dirty="0"/>
              <a:t>k</a:t>
            </a:r>
            <a:r>
              <a:rPr lang="en-US" b="1" dirty="0">
                <a:sym typeface="Wingdings" panose="05000000000000000000" pitchFamily="2" charset="2"/>
              </a:rPr>
              <a:t>  k = </a:t>
            </a:r>
            <a:r>
              <a:rPr lang="en-US" b="1" dirty="0" err="1">
                <a:sym typeface="Wingdings" panose="05000000000000000000" pitchFamily="2" charset="2"/>
              </a:rPr>
              <a:t>logn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T(n) = T(1) + n/ 2</a:t>
            </a:r>
            <a:r>
              <a:rPr lang="en-US" b="1" baseline="30000" dirty="0"/>
              <a:t>k-1  </a:t>
            </a:r>
            <a:r>
              <a:rPr lang="en-US" b="1" dirty="0"/>
              <a:t>+ </a:t>
            </a:r>
            <a:r>
              <a:rPr lang="en-US" dirty="0"/>
              <a:t>n/ 2</a:t>
            </a:r>
            <a:r>
              <a:rPr lang="en-US" b="1" baseline="30000" dirty="0"/>
              <a:t>k-2</a:t>
            </a:r>
            <a:r>
              <a:rPr lang="en-US" dirty="0"/>
              <a:t> + n/ 2</a:t>
            </a:r>
            <a:r>
              <a:rPr lang="en-US" b="1" baseline="30000" dirty="0"/>
              <a:t>2</a:t>
            </a:r>
            <a:r>
              <a:rPr lang="en-US" dirty="0"/>
              <a:t> + n/2 + n</a:t>
            </a:r>
          </a:p>
          <a:p>
            <a:pPr marL="0" indent="0">
              <a:buNone/>
            </a:pPr>
            <a:r>
              <a:rPr lang="en-US" dirty="0"/>
              <a:t>T(n) = T(1) + n [ 1/ 2</a:t>
            </a:r>
            <a:r>
              <a:rPr lang="en-US" b="1" baseline="30000" dirty="0"/>
              <a:t>k-1  </a:t>
            </a:r>
            <a:r>
              <a:rPr lang="en-US" b="1" dirty="0"/>
              <a:t>+ 1</a:t>
            </a:r>
            <a:r>
              <a:rPr lang="en-US" dirty="0"/>
              <a:t>/ 2</a:t>
            </a:r>
            <a:r>
              <a:rPr lang="en-US" b="1" baseline="30000" dirty="0"/>
              <a:t>k-2</a:t>
            </a:r>
            <a:r>
              <a:rPr lang="en-US" dirty="0"/>
              <a:t> + 1/ 2</a:t>
            </a:r>
            <a:r>
              <a:rPr lang="en-US" b="1" baseline="30000" dirty="0"/>
              <a:t>2</a:t>
            </a:r>
            <a:r>
              <a:rPr lang="en-US" dirty="0"/>
              <a:t> + 1/2 + 1 ]</a:t>
            </a:r>
          </a:p>
          <a:p>
            <a:pPr marL="0" indent="0">
              <a:buNone/>
            </a:pPr>
            <a:r>
              <a:rPr lang="en-US" dirty="0"/>
              <a:t>T(n) = 1 + n[ 1 + 1]</a:t>
            </a:r>
          </a:p>
          <a:p>
            <a:pPr marL="0" indent="0">
              <a:buNone/>
            </a:pPr>
            <a:r>
              <a:rPr lang="en-US" dirty="0"/>
              <a:t>T(n) = 1 + 2n  so it is </a:t>
            </a:r>
            <a:r>
              <a:rPr lang="en-US" b="1" dirty="0">
                <a:solidFill>
                  <a:srgbClr val="FF0000"/>
                </a:solidFill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350087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5CD1-948F-4A84-A044-DE35A5CB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Helping Slide for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D3C5A-C3AB-4FF2-9AEB-578BAF8E2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Geometric Progression</a:t>
            </a:r>
          </a:p>
          <a:p>
            <a:pPr marL="0" indent="0">
              <a:buNone/>
            </a:pPr>
            <a:r>
              <a:rPr lang="en-US" dirty="0"/>
              <a:t>ar</a:t>
            </a:r>
            <a:r>
              <a:rPr lang="en-US" b="1" baseline="30000" dirty="0"/>
              <a:t>0</a:t>
            </a:r>
            <a:r>
              <a:rPr lang="en-US" dirty="0"/>
              <a:t> + ar</a:t>
            </a:r>
            <a:r>
              <a:rPr lang="en-US" b="1" baseline="30000" dirty="0"/>
              <a:t>1</a:t>
            </a:r>
            <a:r>
              <a:rPr lang="en-US" dirty="0"/>
              <a:t> + ar</a:t>
            </a:r>
            <a:r>
              <a:rPr lang="en-US" b="1" baseline="30000" dirty="0"/>
              <a:t>2</a:t>
            </a:r>
            <a:r>
              <a:rPr lang="en-US" dirty="0"/>
              <a:t> +  ar</a:t>
            </a:r>
            <a:r>
              <a:rPr lang="en-US" b="1" baseline="30000" dirty="0"/>
              <a:t>3</a:t>
            </a:r>
            <a:r>
              <a:rPr lang="en-US" dirty="0"/>
              <a:t> + …+  ar</a:t>
            </a:r>
            <a:r>
              <a:rPr lang="en-US" b="1" baseline="30000" dirty="0"/>
              <a:t>k</a:t>
            </a:r>
            <a:r>
              <a:rPr lang="en-US" dirty="0"/>
              <a:t> = a (r</a:t>
            </a:r>
            <a:r>
              <a:rPr lang="en-US" b="1" baseline="30000" dirty="0"/>
              <a:t>k+1</a:t>
            </a:r>
            <a:r>
              <a:rPr lang="en-US" dirty="0"/>
              <a:t> - 1)/r-1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b="1" baseline="30000" dirty="0"/>
              <a:t>0</a:t>
            </a:r>
            <a:r>
              <a:rPr lang="en-US" dirty="0"/>
              <a:t> + 2</a:t>
            </a:r>
            <a:r>
              <a:rPr lang="en-US" b="1" baseline="30000" dirty="0"/>
              <a:t>1 </a:t>
            </a:r>
            <a:r>
              <a:rPr lang="en-US" dirty="0"/>
              <a:t>+ 2</a:t>
            </a:r>
            <a:r>
              <a:rPr lang="en-US" b="1" baseline="30000" dirty="0"/>
              <a:t>2</a:t>
            </a:r>
            <a:r>
              <a:rPr lang="en-US" dirty="0"/>
              <a:t> +… 2</a:t>
            </a:r>
            <a:r>
              <a:rPr lang="en-US" b="1" baseline="30000" dirty="0"/>
              <a:t>k 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 = 1, r=2</a:t>
            </a:r>
            <a:r>
              <a:rPr lang="en-US" dirty="0"/>
              <a:t> , k= n-1</a:t>
            </a:r>
          </a:p>
          <a:p>
            <a:pPr marL="0" indent="0">
              <a:buNone/>
            </a:pPr>
            <a:r>
              <a:rPr lang="en-US" dirty="0"/>
              <a:t>1(2</a:t>
            </a:r>
            <a:r>
              <a:rPr lang="en-US" baseline="30000" dirty="0"/>
              <a:t>n-1+1</a:t>
            </a:r>
            <a:r>
              <a:rPr lang="en-US" dirty="0"/>
              <a:t> - 1)/2-1 = </a:t>
            </a:r>
            <a:r>
              <a:rPr lang="en-US" b="1" dirty="0"/>
              <a:t>2</a:t>
            </a:r>
            <a:r>
              <a:rPr lang="en-US" b="1" baseline="30000" dirty="0"/>
              <a:t>n </a:t>
            </a:r>
            <a:r>
              <a:rPr lang="en-US" b="1" dirty="0"/>
              <a:t> -1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78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309F-BF6A-4862-86BD-C333FAB8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Helping Slide for Students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BD0CA4-7897-4088-9622-6B71BF74E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nor/>
                          </m:rPr>
                          <a:rPr lang="en-US" b="1" dirty="0"/>
                          <m:t>1/2</m:t>
                        </m:r>
                        <m:r>
                          <m:rPr>
                            <m:nor/>
                          </m:rPr>
                          <a:rPr lang="en-US" b="1" baseline="30000" dirty="0"/>
                          <m:t>i</m:t>
                        </m:r>
                      </m:e>
                    </m:nary>
                  </m:oMath>
                </a14:m>
                <a:r>
                  <a:rPr lang="en-US" dirty="0"/>
                  <a:t>  = 1</a:t>
                </a:r>
                <a:endParaRPr lang="en-P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BD0CA4-7897-4088-9622-6B71BF74E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4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470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B509-2C7F-4952-81D8-B2791F55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Quiz and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6C251-375B-45AD-B3B9-2B95C4F09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Recurrence relation of a code</a:t>
            </a:r>
          </a:p>
          <a:p>
            <a:r>
              <a:rPr lang="en-US" dirty="0"/>
              <a:t>Solving recurrence relation using substitution method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From Lecture 1 and 2</a:t>
            </a:r>
          </a:p>
        </p:txBody>
      </p:sp>
    </p:spTree>
    <p:extLst>
      <p:ext uri="{BB962C8B-B14F-4D97-AF65-F5344CB8AC3E}">
        <p14:creationId xmlns:p14="http://schemas.microsoft.com/office/powerpoint/2010/main" val="44881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0715-B255-4D0F-AE82-6DBD7405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Helping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E9FF9A-81DC-42A3-8166-5D8540D92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687375"/>
            <a:ext cx="5143500" cy="287858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864DC7-86D0-479B-9BCA-99AEC4AE9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443" y="2605639"/>
            <a:ext cx="3964057" cy="239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2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E806B-C90B-4C0E-9D73-5DDEE727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Helping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A8DFFF-1DA2-4B5D-A982-8E05F041F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443" y="2185124"/>
            <a:ext cx="1647825" cy="35528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96688E-9594-4B0E-86B3-0B2E6FDC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236" y="2185124"/>
            <a:ext cx="47910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42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6BDA-6AE6-48DD-82E2-CB29AD62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Helping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77DB9C-571F-4023-BD83-A99707570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6710" y="2603810"/>
            <a:ext cx="4133850" cy="2847975"/>
          </a:xfrm>
        </p:spPr>
      </p:pic>
    </p:spTree>
    <p:extLst>
      <p:ext uri="{BB962C8B-B14F-4D97-AF65-F5344CB8AC3E}">
        <p14:creationId xmlns:p14="http://schemas.microsoft.com/office/powerpoint/2010/main" val="2366368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6C1E-102B-457C-B942-D9402B02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02043"/>
          </a:xfrm>
        </p:spPr>
        <p:txBody>
          <a:bodyPr/>
          <a:lstStyle/>
          <a:p>
            <a:pPr algn="ctr"/>
            <a:r>
              <a:rPr lang="en-US" b="1" dirty="0"/>
              <a:t>Thanks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66367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1011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Recurrence Relation + Substitution Method</vt:lpstr>
      <vt:lpstr>Recurrence Relation (Example 1)</vt:lpstr>
      <vt:lpstr>Solving Recurrence Relation (Example 1) Using Substitution Method</vt:lpstr>
      <vt:lpstr>Recurrence Relation (Example 2)</vt:lpstr>
      <vt:lpstr>Solving Recurrence Relation (Example 2) Using Substitution Method</vt:lpstr>
      <vt:lpstr>Solving Recurrence Relation (Example 3) Using Substitution Method</vt:lpstr>
      <vt:lpstr>Helping Slide for Students</vt:lpstr>
      <vt:lpstr>Helping Slide for Students</vt:lpstr>
      <vt:lpstr>Quiz and Assignment</vt:lpstr>
      <vt:lpstr>Helping</vt:lpstr>
      <vt:lpstr>Helping</vt:lpstr>
      <vt:lpstr>Helping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Recurrence Relation</dc:title>
  <dc:creator>Mariha</dc:creator>
  <cp:lastModifiedBy>Mariha Asad</cp:lastModifiedBy>
  <cp:revision>49</cp:revision>
  <dcterms:created xsi:type="dcterms:W3CDTF">2020-12-03T05:38:12Z</dcterms:created>
  <dcterms:modified xsi:type="dcterms:W3CDTF">2026-04-23T12:48:41Z</dcterms:modified>
</cp:coreProperties>
</file>