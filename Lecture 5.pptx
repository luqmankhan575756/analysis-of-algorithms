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5" r:id="rId11"/>
    <p:sldId id="266" r:id="rId12"/>
    <p:sldId id="268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87435-D7FF-4704-9CC0-3DD7EBC06859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6CE9D5-1455-463D-9E2F-26278F59A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60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6CE9D5-1455-463D-9E2F-26278F59AC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459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BB82C-1DB4-4B9B-9C48-2B4A2951524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8E1C-9BEC-4510-BE55-59FA08C5E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994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BB82C-1DB4-4B9B-9C48-2B4A2951524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8E1C-9BEC-4510-BE55-59FA08C5E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62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BB82C-1DB4-4B9B-9C48-2B4A2951524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8E1C-9BEC-4510-BE55-59FA08C5E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812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BB82C-1DB4-4B9B-9C48-2B4A2951524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8E1C-9BEC-4510-BE55-59FA08C5E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10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BB82C-1DB4-4B9B-9C48-2B4A2951524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8E1C-9BEC-4510-BE55-59FA08C5E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9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BB82C-1DB4-4B9B-9C48-2B4A2951524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8E1C-9BEC-4510-BE55-59FA08C5E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692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BB82C-1DB4-4B9B-9C48-2B4A2951524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8E1C-9BEC-4510-BE55-59FA08C5E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04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BB82C-1DB4-4B9B-9C48-2B4A2951524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8E1C-9BEC-4510-BE55-59FA08C5E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68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BB82C-1DB4-4B9B-9C48-2B4A2951524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8E1C-9BEC-4510-BE55-59FA08C5E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49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BB82C-1DB4-4B9B-9C48-2B4A2951524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8E1C-9BEC-4510-BE55-59FA08C5E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52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BB82C-1DB4-4B9B-9C48-2B4A2951524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F8E1C-9BEC-4510-BE55-59FA08C5E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84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BB82C-1DB4-4B9B-9C48-2B4A2951524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F8E1C-9BEC-4510-BE55-59FA08C5E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45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Bubble Sort Analysis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Analysis </a:t>
            </a:r>
            <a:r>
              <a:rPr lang="en-US"/>
              <a:t>of Algorithms</a:t>
            </a:r>
            <a:endParaRPr lang="en-US" dirty="0"/>
          </a:p>
          <a:p>
            <a:r>
              <a:rPr lang="en-US" dirty="0" err="1"/>
              <a:t>Mariha</a:t>
            </a:r>
            <a:r>
              <a:rPr lang="en-US" dirty="0"/>
              <a:t> </a:t>
            </a:r>
            <a:r>
              <a:rPr lang="en-US" dirty="0" err="1"/>
              <a:t>Asad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587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Bubble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for(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=n-1; </a:t>
            </a:r>
            <a:r>
              <a:rPr lang="en-US" b="1" dirty="0" err="1"/>
              <a:t>i</a:t>
            </a:r>
            <a:r>
              <a:rPr lang="en-US" b="1" dirty="0"/>
              <a:t>&gt;=1; </a:t>
            </a:r>
            <a:r>
              <a:rPr lang="en-US" b="1" dirty="0" err="1"/>
              <a:t>i</a:t>
            </a:r>
            <a:r>
              <a:rPr lang="en-US" b="1" dirty="0"/>
              <a:t>--)</a:t>
            </a:r>
          </a:p>
          <a:p>
            <a:pPr marL="0" indent="0">
              <a:buNone/>
            </a:pPr>
            <a:r>
              <a:rPr lang="en-US" b="1" dirty="0"/>
              <a:t>{</a:t>
            </a:r>
          </a:p>
          <a:p>
            <a:pPr marL="0" indent="0">
              <a:buNone/>
            </a:pPr>
            <a:r>
              <a:rPr lang="en-US" b="1" dirty="0"/>
              <a:t>	for(</a:t>
            </a:r>
            <a:r>
              <a:rPr lang="en-US" b="1" dirty="0" err="1"/>
              <a:t>int</a:t>
            </a:r>
            <a:r>
              <a:rPr lang="en-US" b="1" dirty="0"/>
              <a:t> j=0; j&lt;</a:t>
            </a:r>
            <a:r>
              <a:rPr lang="en-US" b="1" dirty="0" err="1"/>
              <a:t>i</a:t>
            </a:r>
            <a:r>
              <a:rPr lang="en-US" b="1" dirty="0"/>
              <a:t>; </a:t>
            </a:r>
            <a:r>
              <a:rPr lang="en-US" b="1" dirty="0" err="1"/>
              <a:t>j++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b="1" dirty="0"/>
              <a:t>	{</a:t>
            </a:r>
          </a:p>
          <a:p>
            <a:pPr marL="0" indent="0">
              <a:buNone/>
            </a:pPr>
            <a:r>
              <a:rPr lang="en-US" b="1" dirty="0"/>
              <a:t>		if(</a:t>
            </a:r>
            <a:r>
              <a:rPr lang="en-US" b="1" dirty="0" err="1"/>
              <a:t>arr</a:t>
            </a:r>
            <a:r>
              <a:rPr lang="en-US" b="1" dirty="0"/>
              <a:t>[j] &gt; </a:t>
            </a:r>
            <a:r>
              <a:rPr lang="en-US" b="1" dirty="0" err="1"/>
              <a:t>arr</a:t>
            </a:r>
            <a:r>
              <a:rPr lang="en-US" b="1" dirty="0"/>
              <a:t>[j+1])</a:t>
            </a:r>
          </a:p>
          <a:p>
            <a:pPr marL="0" indent="0">
              <a:buNone/>
            </a:pPr>
            <a:r>
              <a:rPr lang="en-US" b="1" dirty="0"/>
              <a:t>		{</a:t>
            </a:r>
          </a:p>
          <a:p>
            <a:pPr marL="0" indent="0">
              <a:buNone/>
            </a:pPr>
            <a:r>
              <a:rPr lang="en-US" b="1" dirty="0"/>
              <a:t>			swap(</a:t>
            </a:r>
            <a:r>
              <a:rPr lang="en-US" b="1" dirty="0" err="1"/>
              <a:t>arr</a:t>
            </a:r>
            <a:r>
              <a:rPr lang="en-US" b="1" dirty="0"/>
              <a:t>[j] , </a:t>
            </a:r>
            <a:r>
              <a:rPr lang="en-US" b="1" dirty="0" err="1"/>
              <a:t>arr</a:t>
            </a:r>
            <a:r>
              <a:rPr lang="en-US" b="1" dirty="0"/>
              <a:t>[j+1]);</a:t>
            </a:r>
          </a:p>
          <a:p>
            <a:pPr marL="0" indent="0">
              <a:buNone/>
            </a:pPr>
            <a:r>
              <a:rPr lang="en-US" b="1" dirty="0"/>
              <a:t>		}</a:t>
            </a:r>
          </a:p>
          <a:p>
            <a:pPr marL="0" indent="0">
              <a:buNone/>
            </a:pPr>
            <a:r>
              <a:rPr lang="en-US" b="1" dirty="0"/>
              <a:t>	}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7398327" y="1825625"/>
            <a:ext cx="4073237" cy="327284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It works by repeatedly </a:t>
            </a:r>
            <a:r>
              <a:rPr lang="en-US" b="1" dirty="0" err="1"/>
              <a:t>swappig</a:t>
            </a:r>
            <a:r>
              <a:rPr lang="en-US" dirty="0"/>
              <a:t> the </a:t>
            </a:r>
            <a:r>
              <a:rPr lang="en-US" b="1" dirty="0"/>
              <a:t>adjacent elements </a:t>
            </a:r>
            <a:r>
              <a:rPr lang="en-US" dirty="0"/>
              <a:t>if they are in wrong order.</a:t>
            </a:r>
          </a:p>
          <a:p>
            <a:pPr algn="ctr"/>
            <a:r>
              <a:rPr lang="en-US" dirty="0"/>
              <a:t>After one iteration of outer loop one element come its actual place(sorted place) means largest element come at n-1 index.</a:t>
            </a:r>
          </a:p>
        </p:txBody>
      </p:sp>
    </p:spTree>
    <p:extLst>
      <p:ext uri="{BB962C8B-B14F-4D97-AF65-F5344CB8AC3E}">
        <p14:creationId xmlns:p14="http://schemas.microsoft.com/office/powerpoint/2010/main" val="2298032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Bubble Sort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5499439"/>
              </p:ext>
            </p:extLst>
          </p:nvPr>
        </p:nvGraphicFramePr>
        <p:xfrm>
          <a:off x="2660075" y="1922606"/>
          <a:ext cx="6068290" cy="3397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3658">
                  <a:extLst>
                    <a:ext uri="{9D8B030D-6E8A-4147-A177-3AD203B41FA5}">
                      <a16:colId xmlns:a16="http://schemas.microsoft.com/office/drawing/2014/main" val="2919503856"/>
                    </a:ext>
                  </a:extLst>
                </a:gridCol>
                <a:gridCol w="1213658">
                  <a:extLst>
                    <a:ext uri="{9D8B030D-6E8A-4147-A177-3AD203B41FA5}">
                      <a16:colId xmlns:a16="http://schemas.microsoft.com/office/drawing/2014/main" val="1545226259"/>
                    </a:ext>
                  </a:extLst>
                </a:gridCol>
                <a:gridCol w="1213658">
                  <a:extLst>
                    <a:ext uri="{9D8B030D-6E8A-4147-A177-3AD203B41FA5}">
                      <a16:colId xmlns:a16="http://schemas.microsoft.com/office/drawing/2014/main" val="3447536115"/>
                    </a:ext>
                  </a:extLst>
                </a:gridCol>
                <a:gridCol w="1213658">
                  <a:extLst>
                    <a:ext uri="{9D8B030D-6E8A-4147-A177-3AD203B41FA5}">
                      <a16:colId xmlns:a16="http://schemas.microsoft.com/office/drawing/2014/main" val="3304606366"/>
                    </a:ext>
                  </a:extLst>
                </a:gridCol>
                <a:gridCol w="1213658">
                  <a:extLst>
                    <a:ext uri="{9D8B030D-6E8A-4147-A177-3AD203B41FA5}">
                      <a16:colId xmlns:a16="http://schemas.microsoft.com/office/drawing/2014/main" val="3689194442"/>
                    </a:ext>
                  </a:extLst>
                </a:gridCol>
              </a:tblGrid>
              <a:tr h="67950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286494"/>
                  </a:ext>
                </a:extLst>
              </a:tr>
              <a:tr h="67950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785391"/>
                  </a:ext>
                </a:extLst>
              </a:tr>
              <a:tr h="67950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612234"/>
                  </a:ext>
                </a:extLst>
              </a:tr>
              <a:tr h="67950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49579"/>
                  </a:ext>
                </a:extLst>
              </a:tr>
              <a:tr h="67950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91898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9324109" y="1922606"/>
            <a:ext cx="2687782" cy="216448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n=5</a:t>
            </a:r>
          </a:p>
          <a:p>
            <a:pPr algn="ctr"/>
            <a:r>
              <a:rPr lang="en-US" b="1" dirty="0" err="1"/>
              <a:t>i</a:t>
            </a:r>
            <a:r>
              <a:rPr lang="en-US" b="1" dirty="0"/>
              <a:t> = 4</a:t>
            </a:r>
          </a:p>
          <a:p>
            <a:pPr algn="ctr"/>
            <a:r>
              <a:rPr lang="en-US" b="1" dirty="0"/>
              <a:t>Inner loop</a:t>
            </a:r>
          </a:p>
        </p:txBody>
      </p:sp>
    </p:spTree>
    <p:extLst>
      <p:ext uri="{BB962C8B-B14F-4D97-AF65-F5344CB8AC3E}">
        <p14:creationId xmlns:p14="http://schemas.microsoft.com/office/powerpoint/2010/main" val="2630905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Bubble Sort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1094382"/>
              </p:ext>
            </p:extLst>
          </p:nvPr>
        </p:nvGraphicFramePr>
        <p:xfrm>
          <a:off x="2369125" y="1825625"/>
          <a:ext cx="6082150" cy="3300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6430">
                  <a:extLst>
                    <a:ext uri="{9D8B030D-6E8A-4147-A177-3AD203B41FA5}">
                      <a16:colId xmlns:a16="http://schemas.microsoft.com/office/drawing/2014/main" val="1922788860"/>
                    </a:ext>
                  </a:extLst>
                </a:gridCol>
                <a:gridCol w="1216430">
                  <a:extLst>
                    <a:ext uri="{9D8B030D-6E8A-4147-A177-3AD203B41FA5}">
                      <a16:colId xmlns:a16="http://schemas.microsoft.com/office/drawing/2014/main" val="1032537984"/>
                    </a:ext>
                  </a:extLst>
                </a:gridCol>
                <a:gridCol w="1216430">
                  <a:extLst>
                    <a:ext uri="{9D8B030D-6E8A-4147-A177-3AD203B41FA5}">
                      <a16:colId xmlns:a16="http://schemas.microsoft.com/office/drawing/2014/main" val="2982646686"/>
                    </a:ext>
                  </a:extLst>
                </a:gridCol>
                <a:gridCol w="1216430">
                  <a:extLst>
                    <a:ext uri="{9D8B030D-6E8A-4147-A177-3AD203B41FA5}">
                      <a16:colId xmlns:a16="http://schemas.microsoft.com/office/drawing/2014/main" val="2958549620"/>
                    </a:ext>
                  </a:extLst>
                </a:gridCol>
                <a:gridCol w="1216430">
                  <a:extLst>
                    <a:ext uri="{9D8B030D-6E8A-4147-A177-3AD203B41FA5}">
                      <a16:colId xmlns:a16="http://schemas.microsoft.com/office/drawing/2014/main" val="1978780371"/>
                    </a:ext>
                  </a:extLst>
                </a:gridCol>
              </a:tblGrid>
              <a:tr h="82513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248648"/>
                  </a:ext>
                </a:extLst>
              </a:tr>
              <a:tr h="82513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070101"/>
                  </a:ext>
                </a:extLst>
              </a:tr>
              <a:tr h="82513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547803"/>
                  </a:ext>
                </a:extLst>
              </a:tr>
              <a:tr h="82513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96500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324109" y="1922606"/>
            <a:ext cx="2687782" cy="216448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n=5</a:t>
            </a:r>
          </a:p>
          <a:p>
            <a:pPr algn="ctr"/>
            <a:r>
              <a:rPr lang="en-US" b="1" dirty="0" err="1"/>
              <a:t>i</a:t>
            </a:r>
            <a:r>
              <a:rPr lang="en-US" b="1" dirty="0"/>
              <a:t> = 3</a:t>
            </a:r>
          </a:p>
          <a:p>
            <a:pPr algn="ctr"/>
            <a:r>
              <a:rPr lang="en-US" b="1" dirty="0"/>
              <a:t>Inner loop</a:t>
            </a:r>
          </a:p>
        </p:txBody>
      </p:sp>
    </p:spTree>
    <p:extLst>
      <p:ext uri="{BB962C8B-B14F-4D97-AF65-F5344CB8AC3E}">
        <p14:creationId xmlns:p14="http://schemas.microsoft.com/office/powerpoint/2010/main" val="2652795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Bubble Sort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824093"/>
              </p:ext>
            </p:extLst>
          </p:nvPr>
        </p:nvGraphicFramePr>
        <p:xfrm>
          <a:off x="2840180" y="1797916"/>
          <a:ext cx="6165275" cy="29506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3055">
                  <a:extLst>
                    <a:ext uri="{9D8B030D-6E8A-4147-A177-3AD203B41FA5}">
                      <a16:colId xmlns:a16="http://schemas.microsoft.com/office/drawing/2014/main" val="1198072852"/>
                    </a:ext>
                  </a:extLst>
                </a:gridCol>
                <a:gridCol w="1233055">
                  <a:extLst>
                    <a:ext uri="{9D8B030D-6E8A-4147-A177-3AD203B41FA5}">
                      <a16:colId xmlns:a16="http://schemas.microsoft.com/office/drawing/2014/main" val="3405615192"/>
                    </a:ext>
                  </a:extLst>
                </a:gridCol>
                <a:gridCol w="1233055">
                  <a:extLst>
                    <a:ext uri="{9D8B030D-6E8A-4147-A177-3AD203B41FA5}">
                      <a16:colId xmlns:a16="http://schemas.microsoft.com/office/drawing/2014/main" val="842646681"/>
                    </a:ext>
                  </a:extLst>
                </a:gridCol>
                <a:gridCol w="1233055">
                  <a:extLst>
                    <a:ext uri="{9D8B030D-6E8A-4147-A177-3AD203B41FA5}">
                      <a16:colId xmlns:a16="http://schemas.microsoft.com/office/drawing/2014/main" val="639618414"/>
                    </a:ext>
                  </a:extLst>
                </a:gridCol>
                <a:gridCol w="1233055">
                  <a:extLst>
                    <a:ext uri="{9D8B030D-6E8A-4147-A177-3AD203B41FA5}">
                      <a16:colId xmlns:a16="http://schemas.microsoft.com/office/drawing/2014/main" val="1251092690"/>
                    </a:ext>
                  </a:extLst>
                </a:gridCol>
              </a:tblGrid>
              <a:tr h="88313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426913"/>
                  </a:ext>
                </a:extLst>
              </a:tr>
              <a:tr h="118437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6515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97542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324109" y="1922606"/>
            <a:ext cx="2687782" cy="216448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n=5</a:t>
            </a:r>
          </a:p>
          <a:p>
            <a:pPr algn="ctr"/>
            <a:r>
              <a:rPr lang="en-US" b="1" dirty="0" err="1"/>
              <a:t>i</a:t>
            </a:r>
            <a:r>
              <a:rPr lang="en-US" b="1" dirty="0"/>
              <a:t> = 2</a:t>
            </a:r>
          </a:p>
          <a:p>
            <a:pPr algn="ctr"/>
            <a:r>
              <a:rPr lang="en-US" b="1" dirty="0"/>
              <a:t>Inner loop</a:t>
            </a:r>
          </a:p>
        </p:txBody>
      </p:sp>
    </p:spTree>
    <p:extLst>
      <p:ext uri="{BB962C8B-B14F-4D97-AF65-F5344CB8AC3E}">
        <p14:creationId xmlns:p14="http://schemas.microsoft.com/office/powerpoint/2010/main" val="580719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Bubble Sort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734445"/>
              </p:ext>
            </p:extLst>
          </p:nvPr>
        </p:nvGraphicFramePr>
        <p:xfrm>
          <a:off x="2466108" y="1976436"/>
          <a:ext cx="5763495" cy="10284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2699">
                  <a:extLst>
                    <a:ext uri="{9D8B030D-6E8A-4147-A177-3AD203B41FA5}">
                      <a16:colId xmlns:a16="http://schemas.microsoft.com/office/drawing/2014/main" val="3630765276"/>
                    </a:ext>
                  </a:extLst>
                </a:gridCol>
                <a:gridCol w="1152699">
                  <a:extLst>
                    <a:ext uri="{9D8B030D-6E8A-4147-A177-3AD203B41FA5}">
                      <a16:colId xmlns:a16="http://schemas.microsoft.com/office/drawing/2014/main" val="2724953930"/>
                    </a:ext>
                  </a:extLst>
                </a:gridCol>
                <a:gridCol w="1152699">
                  <a:extLst>
                    <a:ext uri="{9D8B030D-6E8A-4147-A177-3AD203B41FA5}">
                      <a16:colId xmlns:a16="http://schemas.microsoft.com/office/drawing/2014/main" val="413982171"/>
                    </a:ext>
                  </a:extLst>
                </a:gridCol>
                <a:gridCol w="1152699">
                  <a:extLst>
                    <a:ext uri="{9D8B030D-6E8A-4147-A177-3AD203B41FA5}">
                      <a16:colId xmlns:a16="http://schemas.microsoft.com/office/drawing/2014/main" val="2684844765"/>
                    </a:ext>
                  </a:extLst>
                </a:gridCol>
                <a:gridCol w="1152699">
                  <a:extLst>
                    <a:ext uri="{9D8B030D-6E8A-4147-A177-3AD203B41FA5}">
                      <a16:colId xmlns:a16="http://schemas.microsoft.com/office/drawing/2014/main" val="2552077202"/>
                    </a:ext>
                  </a:extLst>
                </a:gridCol>
              </a:tblGrid>
              <a:tr h="1028412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25144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324109" y="1922606"/>
            <a:ext cx="2687782" cy="216448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n=5</a:t>
            </a:r>
          </a:p>
          <a:p>
            <a:pPr algn="ctr"/>
            <a:r>
              <a:rPr lang="en-US" b="1" dirty="0" err="1"/>
              <a:t>i</a:t>
            </a:r>
            <a:r>
              <a:rPr lang="en-US" b="1" dirty="0"/>
              <a:t> = 1</a:t>
            </a:r>
          </a:p>
          <a:p>
            <a:pPr algn="ctr"/>
            <a:r>
              <a:rPr lang="en-US" b="1" dirty="0"/>
              <a:t>Inner loop</a:t>
            </a:r>
          </a:p>
        </p:txBody>
      </p:sp>
    </p:spTree>
    <p:extLst>
      <p:ext uri="{BB962C8B-B14F-4D97-AF65-F5344CB8AC3E}">
        <p14:creationId xmlns:p14="http://schemas.microsoft.com/office/powerpoint/2010/main" val="3536333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Bubble Sort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308"/>
            <a:ext cx="10515600" cy="511232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for(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=n-1; </a:t>
            </a:r>
            <a:r>
              <a:rPr lang="en-US" b="1" dirty="0" err="1"/>
              <a:t>i</a:t>
            </a:r>
            <a:r>
              <a:rPr lang="en-US" b="1" dirty="0"/>
              <a:t>&gt;=1; </a:t>
            </a:r>
            <a:r>
              <a:rPr lang="en-US" b="1" dirty="0" err="1"/>
              <a:t>i</a:t>
            </a:r>
            <a:r>
              <a:rPr lang="en-US" b="1" dirty="0"/>
              <a:t>--)			</a:t>
            </a:r>
            <a:r>
              <a:rPr lang="en-US" b="1" dirty="0">
                <a:solidFill>
                  <a:srgbClr val="00B0F0"/>
                </a:solidFill>
              </a:rPr>
              <a:t>n</a:t>
            </a:r>
          </a:p>
          <a:p>
            <a:pPr marL="0" indent="0">
              <a:buNone/>
            </a:pPr>
            <a:r>
              <a:rPr lang="en-US" b="1" dirty="0"/>
              <a:t>{</a:t>
            </a:r>
          </a:p>
          <a:p>
            <a:pPr marL="0" indent="0">
              <a:buNone/>
            </a:pPr>
            <a:r>
              <a:rPr lang="en-US" b="1" dirty="0"/>
              <a:t>	for(</a:t>
            </a:r>
            <a:r>
              <a:rPr lang="en-US" b="1" dirty="0" err="1"/>
              <a:t>int</a:t>
            </a:r>
            <a:r>
              <a:rPr lang="en-US" b="1" dirty="0"/>
              <a:t> j=0; j&lt;</a:t>
            </a:r>
            <a:r>
              <a:rPr lang="en-US" b="1" dirty="0" err="1"/>
              <a:t>i</a:t>
            </a:r>
            <a:r>
              <a:rPr lang="en-US" b="1" dirty="0"/>
              <a:t>; </a:t>
            </a:r>
            <a:r>
              <a:rPr lang="en-US" b="1" dirty="0" err="1"/>
              <a:t>j++</a:t>
            </a:r>
            <a:r>
              <a:rPr lang="en-US" b="1" dirty="0"/>
              <a:t>)		(</a:t>
            </a:r>
            <a:r>
              <a:rPr lang="en-US" b="1" dirty="0">
                <a:solidFill>
                  <a:srgbClr val="00B0F0"/>
                </a:solidFill>
              </a:rPr>
              <a:t>n*(n+1)/2) -1</a:t>
            </a:r>
          </a:p>
          <a:p>
            <a:pPr marL="0" indent="0">
              <a:buNone/>
            </a:pPr>
            <a:r>
              <a:rPr lang="en-US" b="1" dirty="0"/>
              <a:t>	{</a:t>
            </a:r>
          </a:p>
          <a:p>
            <a:pPr marL="0" indent="0">
              <a:buNone/>
            </a:pPr>
            <a:r>
              <a:rPr lang="en-US" b="1" dirty="0"/>
              <a:t>		if(</a:t>
            </a:r>
            <a:r>
              <a:rPr lang="en-US" b="1" dirty="0" err="1"/>
              <a:t>arr</a:t>
            </a:r>
            <a:r>
              <a:rPr lang="en-US" b="1" dirty="0"/>
              <a:t>[j] &gt; </a:t>
            </a:r>
            <a:r>
              <a:rPr lang="en-US" b="1" dirty="0" err="1"/>
              <a:t>arr</a:t>
            </a:r>
            <a:r>
              <a:rPr lang="en-US" b="1" dirty="0"/>
              <a:t>[j+1])		  </a:t>
            </a:r>
            <a:r>
              <a:rPr lang="en-US" b="1" dirty="0">
                <a:solidFill>
                  <a:srgbClr val="00B0F0"/>
                </a:solidFill>
              </a:rPr>
              <a:t>n*(n-1)/2</a:t>
            </a:r>
          </a:p>
          <a:p>
            <a:pPr marL="0" indent="0">
              <a:buNone/>
            </a:pPr>
            <a:r>
              <a:rPr lang="en-US" b="1" dirty="0"/>
              <a:t>		{</a:t>
            </a:r>
          </a:p>
          <a:p>
            <a:pPr marL="0" indent="0">
              <a:buNone/>
            </a:pPr>
            <a:r>
              <a:rPr lang="en-US" b="1" dirty="0"/>
              <a:t>			swap(</a:t>
            </a:r>
            <a:r>
              <a:rPr lang="en-US" b="1" dirty="0" err="1"/>
              <a:t>arr</a:t>
            </a:r>
            <a:r>
              <a:rPr lang="en-US" b="1" dirty="0"/>
              <a:t>[] , </a:t>
            </a:r>
            <a:r>
              <a:rPr lang="en-US" b="1" dirty="0" err="1"/>
              <a:t>arr</a:t>
            </a:r>
            <a:r>
              <a:rPr lang="en-US" b="1" dirty="0"/>
              <a:t>[j+1]);	</a:t>
            </a:r>
            <a:r>
              <a:rPr lang="en-US" b="1" dirty="0">
                <a:solidFill>
                  <a:srgbClr val="00B0F0"/>
                </a:solidFill>
              </a:rPr>
              <a:t>n*(n-1)/2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		}</a:t>
            </a:r>
          </a:p>
          <a:p>
            <a:pPr marL="0" indent="0">
              <a:buNone/>
            </a:pPr>
            <a:r>
              <a:rPr lang="en-US" b="1" dirty="0"/>
              <a:t>	}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  <a:p>
            <a:pPr marL="0" indent="0">
              <a:buNone/>
            </a:pPr>
            <a:r>
              <a:rPr lang="en-US" b="1" dirty="0"/>
              <a:t>1+ 2 +3 + …+n = sum of natural numbers = </a:t>
            </a:r>
            <a:r>
              <a:rPr lang="en-US" b="1" dirty="0">
                <a:solidFill>
                  <a:srgbClr val="7030A0"/>
                </a:solidFill>
              </a:rPr>
              <a:t>n * (n+1)/2</a:t>
            </a:r>
          </a:p>
          <a:p>
            <a:pPr marL="0" indent="0">
              <a:buNone/>
            </a:pPr>
            <a:r>
              <a:rPr lang="en-US" b="1" dirty="0"/>
              <a:t>If n = n-1 put in formula (n-1) * ( n-1+1)/2 = n * (n-1)/2</a:t>
            </a:r>
          </a:p>
          <a:p>
            <a:pPr marL="0" indent="0">
              <a:buNone/>
            </a:pPr>
            <a:r>
              <a:rPr lang="en-US" b="1" dirty="0"/>
              <a:t>f(n) = n + (</a:t>
            </a:r>
            <a:r>
              <a:rPr lang="en-US" b="1" dirty="0">
                <a:solidFill>
                  <a:srgbClr val="00B0F0"/>
                </a:solidFill>
              </a:rPr>
              <a:t>n*(n+1)/2) -1 + n*(n-1)/2 + n*(n-1)/2</a:t>
            </a:r>
          </a:p>
          <a:p>
            <a:pPr marL="0" indent="0">
              <a:buNone/>
            </a:pPr>
            <a:r>
              <a:rPr lang="en-US" b="1" dirty="0"/>
              <a:t>f(n) = ? O (n</a:t>
            </a:r>
            <a:r>
              <a:rPr lang="en-US" b="1" baseline="30000" dirty="0"/>
              <a:t>2</a:t>
            </a:r>
            <a:r>
              <a:rPr lang="en-US" b="1" dirty="0"/>
              <a:t>)</a:t>
            </a:r>
            <a:r>
              <a:rPr lang="en-US" b="1" baseline="30000" dirty="0"/>
              <a:t>  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(here you are required to use the definition of big-o, big-omega, big-theta to find upper bound, lower bound and average bound respectively)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619027"/>
              </p:ext>
            </p:extLst>
          </p:nvPr>
        </p:nvGraphicFramePr>
        <p:xfrm>
          <a:off x="8007926" y="1690688"/>
          <a:ext cx="3468255" cy="2924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6085">
                  <a:extLst>
                    <a:ext uri="{9D8B030D-6E8A-4147-A177-3AD203B41FA5}">
                      <a16:colId xmlns:a16="http://schemas.microsoft.com/office/drawing/2014/main" val="1285422764"/>
                    </a:ext>
                  </a:extLst>
                </a:gridCol>
                <a:gridCol w="1156085">
                  <a:extLst>
                    <a:ext uri="{9D8B030D-6E8A-4147-A177-3AD203B41FA5}">
                      <a16:colId xmlns:a16="http://schemas.microsoft.com/office/drawing/2014/main" val="1710789208"/>
                    </a:ext>
                  </a:extLst>
                </a:gridCol>
                <a:gridCol w="1156085">
                  <a:extLst>
                    <a:ext uri="{9D8B030D-6E8A-4147-A177-3AD203B41FA5}">
                      <a16:colId xmlns:a16="http://schemas.microsoft.com/office/drawing/2014/main" val="2357711262"/>
                    </a:ext>
                  </a:extLst>
                </a:gridCol>
              </a:tblGrid>
              <a:tr h="584816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i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Stmt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200292"/>
                  </a:ext>
                </a:extLst>
              </a:tr>
              <a:tr h="58481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339017"/>
                  </a:ext>
                </a:extLst>
              </a:tr>
              <a:tr h="58481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391921"/>
                  </a:ext>
                </a:extLst>
              </a:tr>
              <a:tr h="58481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845614"/>
                  </a:ext>
                </a:extLst>
              </a:tr>
              <a:tr h="58481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058030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V="1">
            <a:off x="3349337" y="1496724"/>
            <a:ext cx="1316181" cy="277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3910446" y="2161309"/>
            <a:ext cx="647699" cy="207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665518" y="2840182"/>
            <a:ext cx="779318" cy="415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5912427" y="3616036"/>
            <a:ext cx="349828" cy="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947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Helping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i = 1 </a:t>
            </a:r>
          </a:p>
          <a:p>
            <a:pPr marL="0" indent="0">
              <a:buNone/>
            </a:pPr>
            <a:r>
              <a:rPr lang="en-US" dirty="0"/>
              <a:t>inner loop statements </a:t>
            </a:r>
          </a:p>
          <a:p>
            <a:pPr marL="0" indent="0">
              <a:buNone/>
            </a:pPr>
            <a:r>
              <a:rPr lang="en-US" dirty="0"/>
              <a:t>J=0 (1 time)</a:t>
            </a:r>
          </a:p>
          <a:p>
            <a:pPr marL="0" indent="0">
              <a:buNone/>
            </a:pPr>
            <a:r>
              <a:rPr lang="en-US" b="1" dirty="0" err="1"/>
              <a:t>i</a:t>
            </a:r>
            <a:r>
              <a:rPr lang="en-US" b="1" dirty="0"/>
              <a:t> = 2 </a:t>
            </a:r>
          </a:p>
          <a:p>
            <a:pPr marL="0" indent="0">
              <a:buNone/>
            </a:pPr>
            <a:r>
              <a:rPr lang="en-US" dirty="0"/>
              <a:t>inner loop statements </a:t>
            </a:r>
          </a:p>
          <a:p>
            <a:pPr marL="0" indent="0">
              <a:buNone/>
            </a:pPr>
            <a:r>
              <a:rPr lang="en-US" dirty="0"/>
              <a:t>J=0,1 (2 times)</a:t>
            </a:r>
          </a:p>
          <a:p>
            <a:pPr marL="0" indent="0">
              <a:buNone/>
            </a:pPr>
            <a:r>
              <a:rPr lang="en-US" b="1" dirty="0" err="1"/>
              <a:t>i</a:t>
            </a:r>
            <a:r>
              <a:rPr lang="en-US" b="1" dirty="0"/>
              <a:t> = 3 </a:t>
            </a:r>
          </a:p>
          <a:p>
            <a:pPr marL="0" indent="0">
              <a:buNone/>
            </a:pPr>
            <a:r>
              <a:rPr lang="en-US" dirty="0"/>
              <a:t>inner loop statements </a:t>
            </a:r>
          </a:p>
          <a:p>
            <a:pPr marL="0" indent="0">
              <a:buNone/>
            </a:pPr>
            <a:r>
              <a:rPr lang="en-US" dirty="0"/>
              <a:t>J=0,1,2 (3 times)</a:t>
            </a:r>
          </a:p>
          <a:p>
            <a:pPr marL="0" indent="0">
              <a:buNone/>
            </a:pPr>
            <a:r>
              <a:rPr lang="en-US" b="1" dirty="0" err="1"/>
              <a:t>i</a:t>
            </a:r>
            <a:r>
              <a:rPr lang="en-US" b="1" dirty="0"/>
              <a:t> = 4 </a:t>
            </a:r>
          </a:p>
          <a:p>
            <a:pPr marL="0" indent="0">
              <a:buNone/>
            </a:pPr>
            <a:r>
              <a:rPr lang="en-US" dirty="0"/>
              <a:t>inner loop statements </a:t>
            </a:r>
          </a:p>
          <a:p>
            <a:pPr marL="0" indent="0">
              <a:buNone/>
            </a:pPr>
            <a:r>
              <a:rPr lang="en-US" dirty="0"/>
              <a:t>J=0,1,2,3 (4 times)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694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Bubble Sort Analysis another method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for(</a:t>
                </a:r>
                <a:r>
                  <a:rPr lang="en-US" b="1" dirty="0" err="1"/>
                  <a:t>int</a:t>
                </a:r>
                <a:r>
                  <a:rPr lang="en-US" b="1" dirty="0"/>
                  <a:t> </a:t>
                </a:r>
                <a:r>
                  <a:rPr lang="en-US" b="1" dirty="0" err="1"/>
                  <a:t>i</a:t>
                </a:r>
                <a:r>
                  <a:rPr lang="en-US" b="1" dirty="0"/>
                  <a:t>=n-1; </a:t>
                </a:r>
                <a:r>
                  <a:rPr lang="en-US" b="1" dirty="0" err="1"/>
                  <a:t>i</a:t>
                </a:r>
                <a:r>
                  <a:rPr lang="en-US" b="1" dirty="0"/>
                  <a:t>&gt;=1; </a:t>
                </a:r>
                <a:r>
                  <a:rPr lang="en-US" b="1" dirty="0" err="1"/>
                  <a:t>i</a:t>
                </a:r>
                <a:r>
                  <a:rPr lang="en-US" b="1" dirty="0"/>
                  <a:t>--)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  <m:e/>
                    </m:nary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For(</a:t>
                </a:r>
                <a:r>
                  <a:rPr lang="en-US" b="1" dirty="0" err="1"/>
                  <a:t>int</a:t>
                </a:r>
                <a:r>
                  <a:rPr lang="en-US" b="1" dirty="0"/>
                  <a:t> j=0; j&lt;</a:t>
                </a:r>
                <a:r>
                  <a:rPr lang="en-US" b="1" dirty="0" err="1"/>
                  <a:t>i</a:t>
                </a:r>
                <a:r>
                  <a:rPr lang="en-US" b="1" dirty="0"/>
                  <a:t>; </a:t>
                </a:r>
                <a:r>
                  <a:rPr lang="en-US" b="1" dirty="0" err="1"/>
                  <a:t>j++</a:t>
                </a:r>
                <a:r>
                  <a:rPr lang="en-US" b="1" dirty="0"/>
                  <a:t>)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  <m:e/>
                    </m:nary>
                  </m:oMath>
                </a14:m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/>
                      </m:nary>
                      <m:nary>
                        <m:naryPr>
                          <m:chr m:val="∑"/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eqArr>
                            <m:eqArr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/>
                          </m:eqAr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	n(n-2)/2 so it is O(n</a:t>
                </a:r>
                <a:r>
                  <a:rPr lang="en-US" baseline="30000" dirty="0"/>
                  <a:t>2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3916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Worst case for the Sorting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initially all the elements are in descending order and we are required to arrange elements in ascending order or vice versa.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Worst case of bubble sort , selection sort and insertion sort is O(</a:t>
            </a:r>
            <a:r>
              <a:rPr lang="en-US" b="1" dirty="0"/>
              <a:t>n</a:t>
            </a:r>
            <a:r>
              <a:rPr lang="en-US" b="1" baseline="30000" dirty="0"/>
              <a:t>2</a:t>
            </a:r>
            <a:r>
              <a:rPr lang="en-US" dirty="0"/>
              <a:t>)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365513"/>
              </p:ext>
            </p:extLst>
          </p:nvPr>
        </p:nvGraphicFramePr>
        <p:xfrm>
          <a:off x="2854035" y="3268902"/>
          <a:ext cx="6234545" cy="5965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6909">
                  <a:extLst>
                    <a:ext uri="{9D8B030D-6E8A-4147-A177-3AD203B41FA5}">
                      <a16:colId xmlns:a16="http://schemas.microsoft.com/office/drawing/2014/main" val="2836746983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1538174038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2035474471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2452902335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1161174362"/>
                    </a:ext>
                  </a:extLst>
                </a:gridCol>
              </a:tblGrid>
              <a:tr h="59651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442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65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Best case for the Sorting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the given elements already in the sorted order</a:t>
            </a:r>
          </a:p>
          <a:p>
            <a:pPr marL="0" indent="0">
              <a:buNone/>
            </a:pPr>
            <a:r>
              <a:rPr lang="en-US" dirty="0"/>
              <a:t>Best case of bubble and selection sort is O(</a:t>
            </a:r>
            <a:r>
              <a:rPr lang="en-US" b="1" dirty="0"/>
              <a:t>n</a:t>
            </a:r>
            <a:r>
              <a:rPr lang="en-US" b="1" baseline="30000" dirty="0"/>
              <a:t>2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Best case of insertion sort is O(n)</a:t>
            </a:r>
          </a:p>
        </p:txBody>
      </p:sp>
    </p:spTree>
    <p:extLst>
      <p:ext uri="{BB962C8B-B14F-4D97-AF65-F5344CB8AC3E}">
        <p14:creationId xmlns:p14="http://schemas.microsoft.com/office/powerpoint/2010/main" val="3514452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Assignment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Selection sort Running</a:t>
            </a:r>
          </a:p>
          <a:p>
            <a:pPr marL="0" indent="0">
              <a:buNone/>
            </a:pPr>
            <a:r>
              <a:rPr lang="en-US" dirty="0"/>
              <a:t>Selection sort analysis</a:t>
            </a:r>
          </a:p>
          <a:p>
            <a:pPr marL="0" indent="0">
              <a:buNone/>
            </a:pPr>
            <a:r>
              <a:rPr lang="en-US" dirty="0"/>
              <a:t>Selection sort upper bound by using definition of Big-oh</a:t>
            </a:r>
          </a:p>
        </p:txBody>
      </p:sp>
    </p:spTree>
    <p:extLst>
      <p:ext uri="{BB962C8B-B14F-4D97-AF65-F5344CB8AC3E}">
        <p14:creationId xmlns:p14="http://schemas.microsoft.com/office/powerpoint/2010/main" val="4122350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07420"/>
          </a:xfrm>
        </p:spPr>
        <p:txBody>
          <a:bodyPr/>
          <a:lstStyle/>
          <a:p>
            <a:pPr algn="ctr"/>
            <a:r>
              <a:rPr lang="en-US" b="1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556090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667</Words>
  <Application>Microsoft Office PowerPoint</Application>
  <PresentationFormat>Widescreen</PresentationFormat>
  <Paragraphs>170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Bubble Sort Analysis </vt:lpstr>
      <vt:lpstr>Bubble Sort</vt:lpstr>
      <vt:lpstr>Bubble Sort</vt:lpstr>
      <vt:lpstr>Bubble Sort</vt:lpstr>
      <vt:lpstr>Bubble Sort</vt:lpstr>
      <vt:lpstr>Bubble Sort</vt:lpstr>
      <vt:lpstr>Bubble Sort Analysis</vt:lpstr>
      <vt:lpstr>Helping slide</vt:lpstr>
      <vt:lpstr>Bubble Sort Analysis another method</vt:lpstr>
      <vt:lpstr>Worst case for the Sorting Algorithms</vt:lpstr>
      <vt:lpstr>Best case for the Sorting Algorithms</vt:lpstr>
      <vt:lpstr>Assignment 1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Bubble Sort, Selection Sort and Insertion Sort Analysis </dc:title>
  <dc:creator>STD CLASS ROOM</dc:creator>
  <cp:lastModifiedBy>Mariha Asad</cp:lastModifiedBy>
  <cp:revision>49</cp:revision>
  <dcterms:created xsi:type="dcterms:W3CDTF">2020-11-09T05:52:53Z</dcterms:created>
  <dcterms:modified xsi:type="dcterms:W3CDTF">2021-11-09T07:04:16Z</dcterms:modified>
</cp:coreProperties>
</file>